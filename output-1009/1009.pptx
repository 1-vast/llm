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CA48D-EF37-4177-8A30-17106FBE9D6A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1D9F3E-1FF7-45BB-BA08-D71D0E7E09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231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本次汇报分为三个独立部分。第一部分精读</a:t>
            </a:r>
            <a:r>
              <a:rPr lang="en-US" altLang="zh-CN"/>
              <a:t>MAP</a:t>
            </a:r>
            <a:r>
              <a:rPr lang="zh-CN" altLang="en-US"/>
              <a:t>与</a:t>
            </a:r>
            <a:r>
              <a:rPr lang="en-US" altLang="zh-CN"/>
              <a:t>Robin</a:t>
            </a:r>
            <a:r>
              <a:rPr lang="zh-CN" altLang="en-US"/>
              <a:t>，第二部分讨论对一般药物发现智能体的启发，第三部分单独总结</a:t>
            </a:r>
            <a:r>
              <a:rPr lang="en-US" altLang="zh-CN"/>
              <a:t>MAESTRO</a:t>
            </a:r>
            <a:r>
              <a:rPr lang="zh-CN" altLang="en-US"/>
              <a:t>。资料包括两篇论文、</a:t>
            </a:r>
            <a:r>
              <a:rPr lang="en-US" altLang="zh-CN"/>
              <a:t>0927</a:t>
            </a:r>
            <a:r>
              <a:rPr lang="zh-CN" altLang="en-US"/>
              <a:t>汇报和截至</a:t>
            </a:r>
            <a:r>
              <a:rPr lang="en-US" altLang="zh-CN"/>
              <a:t>2026</a:t>
            </a:r>
            <a:r>
              <a:rPr lang="zh-CN" altLang="en-US"/>
              <a:t>年</a:t>
            </a:r>
            <a:r>
              <a:rPr lang="en-US" altLang="zh-CN"/>
              <a:t>10</a:t>
            </a:r>
            <a:r>
              <a:rPr lang="zh-CN" altLang="en-US"/>
              <a:t>月</a:t>
            </a:r>
            <a:r>
              <a:rPr lang="en-US" altLang="zh-CN"/>
              <a:t>10</a:t>
            </a:r>
            <a:r>
              <a:rPr lang="zh-CN" altLang="en-US"/>
              <a:t>日的项目研究记录。附加研究任务文本作为方向参考，不代表本次执行的新实验。
</a:t>
            </a:r>
            <a:r>
              <a:rPr lang="en-US" altLang="zh-CN"/>
              <a:t>Feng et al., Nature Machine Intelligence (2026). DOI: 10.1038/s42256-026-01286-w
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D9F3E-1FF7-45BB-BA08-D71D0E7E09E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667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MAP</a:t>
            </a:r>
            <a:r>
              <a:rPr lang="zh-CN" altLang="en-US"/>
              <a:t>区分两种难度不同的泛化任务。组合外推允许训练集包含该药物在其他背景中的响应；未测药物外推移除该药物的全部响应，以及</a:t>
            </a:r>
            <a:r>
              <a:rPr lang="en-US" altLang="zh-CN"/>
              <a:t>MAP-KG</a:t>
            </a:r>
            <a:r>
              <a:rPr lang="zh-CN" altLang="en-US"/>
              <a:t>预训练中的相关实体、别名和边。推断时仍可使用药物结构与可用属性。模型学习</a:t>
            </a:r>
            <a:r>
              <a:rPr lang="en-US" altLang="zh-CN"/>
              <a:t>f(x,p)</a:t>
            </a:r>
            <a:r>
              <a:rPr lang="zh-CN" altLang="en-US"/>
              <a:t>，药物剂量也是输入。各数据集内部切分分别评测，不能把结果解释为跨数据集迁移。</a:t>
            </a:r>
            <a:r>
              <a:rPr lang="en-US" altLang="zh-CN"/>
              <a:t>Tahoe</a:t>
            </a:r>
            <a:r>
              <a:rPr lang="zh-CN" altLang="en-US"/>
              <a:t>评测使用选定的</a:t>
            </a:r>
            <a:r>
              <a:rPr lang="en-US" altLang="zh-CN"/>
              <a:t>6</a:t>
            </a:r>
            <a:r>
              <a:rPr lang="zh-CN" altLang="en-US"/>
              <a:t>条细胞系，而非全</a:t>
            </a:r>
            <a:r>
              <a:rPr lang="en-US" altLang="zh-CN"/>
              <a:t>50</a:t>
            </a:r>
            <a:r>
              <a:rPr lang="zh-CN" altLang="en-US"/>
              <a:t>条。</a:t>
            </a:r>
            <a:r>
              <a:rPr lang="en-US" altLang="zh-CN"/>
              <a:t>OP3</a:t>
            </a:r>
            <a:r>
              <a:rPr lang="zh-CN" altLang="en-US"/>
              <a:t>含</a:t>
            </a:r>
            <a:r>
              <a:rPr lang="en-US" altLang="zh-CN"/>
              <a:t>6</a:t>
            </a:r>
            <a:r>
              <a:rPr lang="zh-CN" altLang="en-US"/>
              <a:t>种免疫细胞和</a:t>
            </a:r>
            <a:r>
              <a:rPr lang="en-US" altLang="zh-CN"/>
              <a:t>144</a:t>
            </a:r>
            <a:r>
              <a:rPr lang="zh-CN" altLang="en-US"/>
              <a:t>种化合物，</a:t>
            </a:r>
            <a:r>
              <a:rPr lang="en-US" altLang="zh-CN"/>
              <a:t>SciPlex3</a:t>
            </a:r>
            <a:r>
              <a:rPr lang="zh-CN" altLang="en-US"/>
              <a:t>含</a:t>
            </a:r>
            <a:r>
              <a:rPr lang="en-US" altLang="zh-CN"/>
              <a:t>3</a:t>
            </a:r>
            <a:r>
              <a:rPr lang="zh-CN" altLang="en-US"/>
              <a:t>条癌细胞系和</a:t>
            </a:r>
            <a:r>
              <a:rPr lang="en-US" altLang="zh-CN"/>
              <a:t>187</a:t>
            </a:r>
            <a:r>
              <a:rPr lang="zh-CN" altLang="en-US"/>
              <a:t>种化合物。
</a:t>
            </a:r>
            <a:r>
              <a:rPr lang="en-US" altLang="zh-CN"/>
              <a:t>Feng et al., Nature Machine Intelligence (2026). DOI: 10.1038/s42256-026-01286-w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D9F3E-1FF7-45BB-BA08-D71D0E7E09E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1553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MAP-KG</a:t>
            </a:r>
            <a:r>
              <a:rPr lang="zh-CN" altLang="en-US"/>
              <a:t>整合</a:t>
            </a:r>
            <a:r>
              <a:rPr lang="en-US" altLang="zh-CN"/>
              <a:t>13</a:t>
            </a:r>
            <a:r>
              <a:rPr lang="zh-CN" altLang="en-US"/>
              <a:t>个数据库加</a:t>
            </a:r>
            <a:r>
              <a:rPr lang="en-US" altLang="zh-CN"/>
              <a:t>PrimeKG</a:t>
            </a:r>
            <a:r>
              <a:rPr lang="zh-CN" altLang="en-US"/>
              <a:t>，共</a:t>
            </a:r>
            <a:r>
              <a:rPr lang="en-US" altLang="zh-CN"/>
              <a:t>14</a:t>
            </a:r>
            <a:r>
              <a:rPr lang="zh-CN" altLang="en-US"/>
              <a:t>个公共资源。文本编码器是</a:t>
            </a:r>
            <a:r>
              <a:rPr lang="en-US" altLang="zh-CN"/>
              <a:t>BioBERT</a:t>
            </a:r>
            <a:r>
              <a:rPr lang="zh-CN" altLang="en-US"/>
              <a:t>，分子和蛋白编码器分别为</a:t>
            </a:r>
            <a:r>
              <a:rPr lang="en-US" altLang="zh-CN"/>
              <a:t>MoleculeSTM</a:t>
            </a:r>
            <a:r>
              <a:rPr lang="zh-CN" altLang="en-US"/>
              <a:t>与</a:t>
            </a:r>
            <a:r>
              <a:rPr lang="en-US" altLang="zh-CN"/>
              <a:t>ESM-2</a:t>
            </a:r>
            <a:r>
              <a:rPr lang="zh-CN" altLang="en-US"/>
              <a:t>。冻结后两者，并训练</a:t>
            </a:r>
            <a:r>
              <a:rPr lang="en-US" altLang="zh-CN"/>
              <a:t>4</a:t>
            </a:r>
            <a:r>
              <a:rPr lang="zh-CN" altLang="en-US"/>
              <a:t>层</a:t>
            </a:r>
            <a:r>
              <a:rPr lang="en-US" altLang="zh-CN"/>
              <a:t>MLP</a:t>
            </a:r>
            <a:r>
              <a:rPr lang="zh-CN" altLang="en-US"/>
              <a:t>适配器。节点规范表示来自名称文本。节点内对齐使名称嵌入接近结构</a:t>
            </a:r>
            <a:r>
              <a:rPr lang="en-US" altLang="zh-CN"/>
              <a:t>/</a:t>
            </a:r>
            <a:r>
              <a:rPr lang="zh-CN" altLang="en-US"/>
              <a:t>序列</a:t>
            </a:r>
            <a:r>
              <a:rPr lang="en-US" altLang="zh-CN"/>
              <a:t>/</a:t>
            </a:r>
            <a:r>
              <a:rPr lang="zh-CN" altLang="en-US"/>
              <a:t>属性文本。节点间对齐使用</a:t>
            </a:r>
            <a:r>
              <a:rPr lang="en-US" altLang="zh-CN"/>
              <a:t>z_i→j=MLP([z_i,z_relation])</a:t>
            </a:r>
            <a:r>
              <a:rPr lang="zh-CN" altLang="en-US"/>
              <a:t>与</a:t>
            </a:r>
            <a:r>
              <a:rPr lang="en-US" altLang="zh-CN"/>
              <a:t>z_j←i=MLP([z_relation,z_j])</a:t>
            </a:r>
            <a:r>
              <a:rPr lang="zh-CN" altLang="en-US"/>
              <a:t>，输入顺序保留方向和角色，采用对称</a:t>
            </a:r>
            <a:r>
              <a:rPr lang="en-US" altLang="zh-CN"/>
              <a:t>InfoNCE</a:t>
            </a:r>
            <a:r>
              <a:rPr lang="zh-CN" altLang="en-US"/>
              <a:t>，批内其他配对作为负例。这些关系提供机制相关归纳偏置，本身不证明药物因果机制。图来自论文</a:t>
            </a:r>
            <a:r>
              <a:rPr lang="en-US" altLang="zh-CN"/>
              <a:t>Fig.1a–b</a:t>
            </a:r>
            <a:r>
              <a:rPr lang="zh-CN" altLang="en-US"/>
              <a:t>。
</a:t>
            </a:r>
            <a:r>
              <a:rPr lang="en-US" altLang="zh-CN"/>
              <a:t>Feng et al., Nature Machine Intelligence (2026). DOI: 10.1038/s42256-026-01286-w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D9F3E-1FF7-45BB-BA08-D71D0E7E09E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6755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STATE SE-600M</a:t>
            </a:r>
            <a:r>
              <a:rPr lang="zh-CN" altLang="en-US"/>
              <a:t>给出基因级</a:t>
            </a:r>
            <a:r>
              <a:rPr lang="en-US" altLang="zh-CN"/>
              <a:t>token T</a:t>
            </a:r>
            <a:r>
              <a:rPr lang="zh-CN" altLang="en-US"/>
              <a:t>和全局细胞</a:t>
            </a:r>
            <a:r>
              <a:rPr lang="en-US" altLang="zh-CN"/>
              <a:t>token h</a:t>
            </a:r>
            <a:r>
              <a:rPr lang="zh-CN" altLang="en-US"/>
              <a:t>。知识增强的蛋白嵌入与对应基因</a:t>
            </a:r>
            <a:r>
              <a:rPr lang="en-US" altLang="zh-CN"/>
              <a:t>token</a:t>
            </a:r>
            <a:r>
              <a:rPr lang="zh-CN" altLang="en-US"/>
              <a:t>融合。分子嵌入乘以经对数变换的剂量</a:t>
            </a:r>
            <a:r>
              <a:rPr lang="en-US" altLang="zh-CN"/>
              <a:t>δ</a:t>
            </a:r>
            <a:r>
              <a:rPr lang="zh-CN" altLang="en-US"/>
              <a:t>，得到剂量条件化表示。四层</a:t>
            </a:r>
            <a:r>
              <a:rPr lang="en-US" altLang="zh-CN"/>
              <a:t>Transformer</a:t>
            </a:r>
            <a:r>
              <a:rPr lang="zh-CN" altLang="en-US"/>
              <a:t>预测给药后的细胞嵌入，</a:t>
            </a:r>
            <a:r>
              <a:rPr lang="en-US" altLang="zh-CN"/>
              <a:t>MLP</a:t>
            </a:r>
            <a:r>
              <a:rPr lang="zh-CN" altLang="en-US"/>
              <a:t>解码到基因表达。损失分别计算预测</a:t>
            </a:r>
            <a:r>
              <a:rPr lang="en-US" altLang="zh-CN"/>
              <a:t>/</a:t>
            </a:r>
            <a:r>
              <a:rPr lang="zh-CN" altLang="en-US"/>
              <a:t>真实扰动嵌入的均方误差，以及预测</a:t>
            </a:r>
            <a:r>
              <a:rPr lang="en-US" altLang="zh-CN"/>
              <a:t>/</a:t>
            </a:r>
            <a:r>
              <a:rPr lang="zh-CN" altLang="en-US"/>
              <a:t>真实表达的均方误差，第二项有</a:t>
            </a:r>
            <a:r>
              <a:rPr lang="en-US" altLang="zh-CN"/>
              <a:t>λ</a:t>
            </a:r>
            <a:r>
              <a:rPr lang="zh-CN" altLang="en-US"/>
              <a:t>权重。两项监督建立在群体平均上，不能仅凭这些评测推断每个单细胞的完整分布都恢复准确。大量基因</a:t>
            </a:r>
            <a:r>
              <a:rPr lang="en-US" altLang="zh-CN"/>
              <a:t>token</a:t>
            </a:r>
            <a:r>
              <a:rPr lang="zh-CN" altLang="en-US"/>
              <a:t>还带来显存和计算成本。图来自论文</a:t>
            </a:r>
            <a:r>
              <a:rPr lang="en-US" altLang="zh-CN"/>
              <a:t>Fig.1c</a:t>
            </a:r>
            <a:r>
              <a:rPr lang="zh-CN" altLang="en-US"/>
              <a:t>。
</a:t>
            </a:r>
            <a:r>
              <a:rPr lang="en-US" altLang="zh-CN"/>
              <a:t>Feng et al., Nature Machine Intelligence (2026). DOI: 10.1038/s42256-026-01286-w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D9F3E-1FF7-45BB-BA08-D71D0E7E09E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893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所有百分比均为相对提升，不是百分点。实验同时评测</a:t>
            </a:r>
            <a:r>
              <a:rPr lang="en-US" altLang="zh-CN"/>
              <a:t>top-2000</a:t>
            </a:r>
            <a:r>
              <a:rPr lang="zh-CN" altLang="en-US"/>
              <a:t>高变基因、</a:t>
            </a:r>
            <a:r>
              <a:rPr lang="en-US" altLang="zh-CN"/>
              <a:t>top-50</a:t>
            </a:r>
            <a:r>
              <a:rPr lang="zh-CN" altLang="en-US"/>
              <a:t>差异表达基因、方向准确率、</a:t>
            </a:r>
            <a:r>
              <a:rPr lang="en-US" altLang="zh-CN"/>
              <a:t>PDCorr</a:t>
            </a:r>
            <a:r>
              <a:rPr lang="zh-CN" altLang="en-US"/>
              <a:t>、药物区分能力、</a:t>
            </a:r>
            <a:r>
              <a:rPr lang="en-US" altLang="zh-CN"/>
              <a:t>MSE</a:t>
            </a:r>
            <a:r>
              <a:rPr lang="zh-CN" altLang="en-US"/>
              <a:t>和</a:t>
            </a:r>
            <a:r>
              <a:rPr lang="en-US" altLang="zh-CN"/>
              <a:t>Wasserstein</a:t>
            </a:r>
            <a:r>
              <a:rPr lang="zh-CN" altLang="en-US"/>
              <a:t>。比较包括</a:t>
            </a:r>
            <a:r>
              <a:rPr lang="en-US" altLang="zh-CN"/>
              <a:t>trainMean</a:t>
            </a:r>
            <a:r>
              <a:rPr lang="zh-CN" altLang="en-US"/>
              <a:t>、</a:t>
            </a:r>
            <a:r>
              <a:rPr lang="en-US" altLang="zh-CN"/>
              <a:t>chemCPA</a:t>
            </a:r>
            <a:r>
              <a:rPr lang="zh-CN" altLang="en-US"/>
              <a:t>、</a:t>
            </a:r>
            <a:r>
              <a:rPr lang="en-US" altLang="zh-CN"/>
              <a:t>CRISP</a:t>
            </a:r>
            <a:r>
              <a:rPr lang="zh-CN" altLang="en-US"/>
              <a:t>、</a:t>
            </a:r>
            <a:r>
              <a:rPr lang="en-US" altLang="zh-CN"/>
              <a:t>PRnet</a:t>
            </a:r>
            <a:r>
              <a:rPr lang="zh-CN" altLang="en-US"/>
              <a:t>和</a:t>
            </a:r>
            <a:r>
              <a:rPr lang="en-US" altLang="zh-CN"/>
              <a:t>XPert</a:t>
            </a:r>
            <a:r>
              <a:rPr lang="zh-CN" altLang="en-US"/>
              <a:t>；</a:t>
            </a:r>
            <a:r>
              <a:rPr lang="en-US" altLang="zh-CN"/>
              <a:t>STATE</a:t>
            </a:r>
            <a:r>
              <a:rPr lang="zh-CN" altLang="en-US"/>
              <a:t>以药物类别</a:t>
            </a:r>
            <a:r>
              <a:rPr lang="en-US" altLang="zh-CN"/>
              <a:t>ID</a:t>
            </a:r>
            <a:r>
              <a:rPr lang="zh-CN" altLang="en-US"/>
              <a:t>表示，因而未纳入未测药物比较。</a:t>
            </a:r>
            <a:r>
              <a:rPr lang="en-US" altLang="zh-CN"/>
              <a:t>MAP-KG</a:t>
            </a:r>
            <a:r>
              <a:rPr lang="zh-CN" altLang="en-US"/>
              <a:t>相对</a:t>
            </a:r>
            <a:r>
              <a:rPr lang="en-US" altLang="zh-CN"/>
              <a:t>PrimeKG</a:t>
            </a:r>
            <a:r>
              <a:rPr lang="zh-CN" altLang="en-US"/>
              <a:t>带来</a:t>
            </a:r>
            <a:r>
              <a:rPr lang="en-US" altLang="zh-CN"/>
              <a:t>PDCorr+11.4%</a:t>
            </a:r>
            <a:r>
              <a:rPr lang="zh-CN" altLang="en-US"/>
              <a:t>、方向准确率</a:t>
            </a:r>
            <a:r>
              <a:rPr lang="en-US" altLang="zh-CN"/>
              <a:t>+7.2%</a:t>
            </a:r>
            <a:r>
              <a:rPr lang="zh-CN" altLang="en-US"/>
              <a:t>、区分能力</a:t>
            </a:r>
            <a:r>
              <a:rPr lang="en-US" altLang="zh-CN"/>
              <a:t>+4.3%</a:t>
            </a:r>
            <a:r>
              <a:rPr lang="zh-CN" altLang="en-US"/>
              <a:t>的报告收益。消融中药物</a:t>
            </a:r>
            <a:r>
              <a:rPr lang="en-US" altLang="zh-CN"/>
              <a:t>–</a:t>
            </a:r>
            <a:r>
              <a:rPr lang="zh-CN" altLang="en-US"/>
              <a:t>基因边最关键。</a:t>
            </a:r>
            <a:r>
              <a:rPr lang="en-US" altLang="zh-CN"/>
              <a:t>A549</a:t>
            </a:r>
            <a:r>
              <a:rPr lang="zh-CN" altLang="en-US"/>
              <a:t>分析基于预测转录谱、</a:t>
            </a:r>
            <a:r>
              <a:rPr lang="en-US" altLang="zh-CN"/>
              <a:t>GSEA</a:t>
            </a:r>
            <a:r>
              <a:rPr lang="zh-CN" altLang="en-US"/>
              <a:t>和文献作计算排序，</a:t>
            </a:r>
            <a:r>
              <a:rPr lang="en-US" altLang="zh-CN"/>
              <a:t>58</a:t>
            </a:r>
            <a:r>
              <a:rPr lang="zh-CN" altLang="en-US"/>
              <a:t>个留出候选中</a:t>
            </a:r>
            <a:r>
              <a:rPr lang="en-US" altLang="zh-CN"/>
              <a:t>4/5</a:t>
            </a:r>
            <a:r>
              <a:rPr lang="zh-CN" altLang="en-US"/>
              <a:t>个已批准</a:t>
            </a:r>
            <a:r>
              <a:rPr lang="en-US" altLang="zh-CN"/>
              <a:t>NSCLC</a:t>
            </a:r>
            <a:r>
              <a:rPr lang="zh-CN" altLang="en-US"/>
              <a:t>药物在前</a:t>
            </a:r>
            <a:r>
              <a:rPr lang="en-US" altLang="zh-CN"/>
              <a:t>15</a:t>
            </a:r>
            <a:r>
              <a:rPr lang="zh-CN" altLang="en-US"/>
              <a:t>，</a:t>
            </a:r>
            <a:r>
              <a:rPr lang="en-US" altLang="zh-CN"/>
              <a:t>adagrasib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afatinib</a:t>
            </a:r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。这不是新湿实验验证。结果支持转录</a:t>
            </a:r>
            <a:r>
              <a:rPr lang="en-US" altLang="zh-CN"/>
              <a:t>/</a:t>
            </a:r>
            <a:r>
              <a:rPr lang="zh-CN" altLang="en-US"/>
              <a:t>通路候选筛选，不等价于靶点结合、因果机制或临床药效。
</a:t>
            </a:r>
            <a:r>
              <a:rPr lang="en-US" altLang="zh-CN"/>
              <a:t>Feng et al., Nature Machine Intelligence (2026). DOI: 10.1038/s42256-026-01286-w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D9F3E-1FF7-45BB-BA08-D71D0E7E09E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8915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Robin</a:t>
            </a:r>
            <a:r>
              <a:rPr lang="zh-CN" altLang="en-US"/>
              <a:t>论文针对科学发现中假设生成、实验设计、执行后数据解读和后续假设更新的断点。干性</a:t>
            </a:r>
            <a:r>
              <a:rPr lang="en-US" altLang="zh-CN"/>
              <a:t>AMD</a:t>
            </a:r>
            <a:r>
              <a:rPr lang="zh-CN" altLang="en-US"/>
              <a:t>病例以</a:t>
            </a:r>
            <a:r>
              <a:rPr lang="en-US" altLang="zh-CN"/>
              <a:t>RPE</a:t>
            </a:r>
            <a:r>
              <a:rPr lang="zh-CN" altLang="en-US"/>
              <a:t>吞噬功能为干预策略：</a:t>
            </a:r>
            <a:r>
              <a:rPr lang="en-US" altLang="zh-CN"/>
              <a:t>RPE</a:t>
            </a:r>
            <a:r>
              <a:rPr lang="zh-CN" altLang="en-US"/>
              <a:t>清理光感受器外节与视网膜健康相关。选择这个读数使疾病目标转化为可检验的实验任务，但细胞吞噬增强并不证明改善患者疾病。</a:t>
            </a:r>
            <a:r>
              <a:rPr lang="en-US" altLang="zh-CN"/>
              <a:t>Robin</a:t>
            </a:r>
            <a:r>
              <a:rPr lang="zh-CN" altLang="en-US"/>
              <a:t>探索药物再利用，已知分子作用和跨领域文献为新候选提供根据。系统仍依赖专家提示、人类实验设计与执行，属于半自主发现流程。
</a:t>
            </a:r>
            <a:r>
              <a:rPr lang="en-US" altLang="zh-CN"/>
              <a:t>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D9F3E-1FF7-45BB-BA08-D71D0E7E09E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011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Robin</a:t>
            </a:r>
            <a:r>
              <a:rPr lang="zh-CN" altLang="en-US"/>
              <a:t>协调</a:t>
            </a:r>
            <a:r>
              <a:rPr lang="en-US" altLang="zh-CN"/>
              <a:t>Crow</a:t>
            </a:r>
            <a:r>
              <a:rPr lang="zh-CN" altLang="en-US"/>
              <a:t>、</a:t>
            </a:r>
            <a:r>
              <a:rPr lang="en-US" altLang="zh-CN"/>
              <a:t>Falcon</a:t>
            </a:r>
            <a:r>
              <a:rPr lang="zh-CN" altLang="en-US"/>
              <a:t>、</a:t>
            </a:r>
            <a:r>
              <a:rPr lang="en-US" altLang="zh-CN"/>
              <a:t>Finch</a:t>
            </a:r>
            <a:r>
              <a:rPr lang="zh-CN" altLang="en-US"/>
              <a:t>。</a:t>
            </a:r>
            <a:r>
              <a:rPr lang="en-US" altLang="zh-CN"/>
              <a:t>Crow/Falcon</a:t>
            </a:r>
            <a:r>
              <a:rPr lang="zh-CN" altLang="en-US"/>
              <a:t>基于</a:t>
            </a:r>
            <a:r>
              <a:rPr lang="en-US" altLang="zh-CN"/>
              <a:t>PaperQA2</a:t>
            </a:r>
            <a:r>
              <a:rPr lang="zh-CN" altLang="en-US"/>
              <a:t>，访问文献、临床试验和</a:t>
            </a:r>
            <a:r>
              <a:rPr lang="en-US" altLang="zh-CN"/>
              <a:t>OpenTargets</a:t>
            </a:r>
            <a:r>
              <a:rPr lang="zh-CN" altLang="en-US"/>
              <a:t>等资源。最初形成</a:t>
            </a:r>
            <a:r>
              <a:rPr lang="en-US" altLang="zh-CN"/>
              <a:t>10</a:t>
            </a:r>
            <a:r>
              <a:rPr lang="zh-CN" altLang="en-US"/>
              <a:t>个机制</a:t>
            </a:r>
            <a:r>
              <a:rPr lang="en-US" altLang="zh-CN"/>
              <a:t>/</a:t>
            </a:r>
            <a:r>
              <a:rPr lang="zh-CN" altLang="en-US"/>
              <a:t>实验报告，通过两两</a:t>
            </a:r>
            <a:r>
              <a:rPr lang="en-US" altLang="zh-CN"/>
              <a:t>LLM</a:t>
            </a:r>
            <a:r>
              <a:rPr lang="zh-CN" altLang="en-US"/>
              <a:t>比较选择实验，生成</a:t>
            </a:r>
            <a:r>
              <a:rPr lang="en-US" altLang="zh-CN"/>
              <a:t>30</a:t>
            </a:r>
            <a:r>
              <a:rPr lang="zh-CN" altLang="en-US"/>
              <a:t>个候选假设，再由</a:t>
            </a:r>
            <a:r>
              <a:rPr lang="en-US" altLang="zh-CN"/>
              <a:t>Falcon</a:t>
            </a:r>
            <a:r>
              <a:rPr lang="zh-CN" altLang="en-US"/>
              <a:t>评价并进行锦标赛式排序，人类选择并执行实验。</a:t>
            </a:r>
            <a:r>
              <a:rPr lang="en-US" altLang="zh-CN"/>
              <a:t>Finch</a:t>
            </a:r>
            <a:r>
              <a:rPr lang="zh-CN" altLang="en-US"/>
              <a:t>处理</a:t>
            </a:r>
            <a:r>
              <a:rPr lang="en-US" altLang="zh-CN"/>
              <a:t>FCS</a:t>
            </a:r>
            <a:r>
              <a:rPr lang="zh-CN" altLang="en-US"/>
              <a:t>与</a:t>
            </a:r>
            <a:r>
              <a:rPr lang="en-US" altLang="zh-CN"/>
              <a:t>RNA</a:t>
            </a:r>
            <a:r>
              <a:rPr lang="zh-CN" altLang="en-US"/>
              <a:t>计数，执行过滤、流式门控、统计、富集等操作。</a:t>
            </a:r>
            <a:r>
              <a:rPr lang="en-US" altLang="zh-CN"/>
              <a:t>8</a:t>
            </a:r>
            <a:r>
              <a:rPr lang="zh-CN" altLang="en-US"/>
              <a:t>条独立分析轨迹产生</a:t>
            </a:r>
            <a:r>
              <a:rPr lang="en-US" altLang="zh-CN"/>
              <a:t>notebook</a:t>
            </a:r>
            <a:r>
              <a:rPr lang="zh-CN" altLang="en-US"/>
              <a:t>并形成共识，属于对分析路径的重复，不是</a:t>
            </a:r>
            <a:r>
              <a:rPr lang="en-US" altLang="zh-CN"/>
              <a:t>8</a:t>
            </a:r>
            <a:r>
              <a:rPr lang="zh-CN" altLang="en-US"/>
              <a:t>个独立生物学重复。原始数据</a:t>
            </a:r>
            <a:r>
              <a:rPr lang="en-US" altLang="zh-CN"/>
              <a:t>QC</a:t>
            </a:r>
            <a:r>
              <a:rPr lang="zh-CN" altLang="en-US"/>
              <a:t>、门控和模型选择仍影响结论，共识降低路径波动但不能保证正确。图来自论文</a:t>
            </a:r>
            <a:r>
              <a:rPr lang="en-US" altLang="zh-CN"/>
              <a:t>Fig.1</a:t>
            </a:r>
            <a:r>
              <a:rPr lang="zh-CN" altLang="en-US"/>
              <a:t>。
</a:t>
            </a:r>
            <a:r>
              <a:rPr lang="en-US" altLang="zh-CN"/>
              <a:t>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D9F3E-1FF7-45BB-BA08-D71D0E7E09E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8834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第一轮</a:t>
            </a:r>
            <a:r>
              <a:rPr lang="en-US" altLang="zh-CN"/>
              <a:t>ARPE-19</a:t>
            </a:r>
            <a:r>
              <a:rPr lang="zh-CN" altLang="en-US"/>
              <a:t>以</a:t>
            </a:r>
            <a:r>
              <a:rPr lang="en-US" altLang="zh-CN"/>
              <a:t>pHrodo</a:t>
            </a:r>
            <a:r>
              <a:rPr lang="zh-CN" altLang="en-US"/>
              <a:t>微球作底物，给药</a:t>
            </a:r>
            <a:r>
              <a:rPr lang="en-US" altLang="zh-CN"/>
              <a:t>1h</a:t>
            </a:r>
            <a:r>
              <a:rPr lang="zh-CN" altLang="en-US"/>
              <a:t>再吞噬</a:t>
            </a:r>
            <a:r>
              <a:rPr lang="en-US" altLang="zh-CN"/>
              <a:t>3h</a:t>
            </a:r>
            <a:r>
              <a:rPr lang="zh-CN" altLang="en-US"/>
              <a:t>，</a:t>
            </a:r>
            <a:r>
              <a:rPr lang="en-US" altLang="zh-CN"/>
              <a:t>FCS</a:t>
            </a:r>
            <a:r>
              <a:rPr lang="zh-CN" altLang="en-US"/>
              <a:t>分析排除碎片、双细胞、死细胞和背景。</a:t>
            </a:r>
            <a:r>
              <a:rPr lang="en-US" altLang="zh-CN"/>
              <a:t>Y-27632</a:t>
            </a:r>
            <a:r>
              <a:rPr lang="zh-CN" altLang="en-US"/>
              <a:t>为</a:t>
            </a:r>
            <a:r>
              <a:rPr lang="en-US" altLang="zh-CN"/>
              <a:t>ROCK</a:t>
            </a:r>
            <a:r>
              <a:rPr lang="zh-CN" altLang="en-US"/>
              <a:t>抑制剂命中。</a:t>
            </a:r>
            <a:r>
              <a:rPr lang="en-US" altLang="zh-CN"/>
              <a:t>RNAseq</a:t>
            </a:r>
            <a:r>
              <a:rPr lang="zh-CN" altLang="en-US"/>
              <a:t>中</a:t>
            </a:r>
            <a:r>
              <a:rPr lang="en-US" altLang="zh-CN"/>
              <a:t>ABCA1</a:t>
            </a:r>
            <a:r>
              <a:rPr lang="zh-CN" altLang="en-US"/>
              <a:t>约</a:t>
            </a:r>
            <a:r>
              <a:rPr lang="en-US" altLang="zh-CN"/>
              <a:t>3</a:t>
            </a:r>
            <a:r>
              <a:rPr lang="zh-CN" altLang="en-US"/>
              <a:t>倍上调，调整</a:t>
            </a:r>
            <a:r>
              <a:rPr lang="en-US" altLang="zh-CN"/>
              <a:t>P=2.13e-83</a:t>
            </a:r>
            <a:r>
              <a:rPr lang="zh-CN" altLang="en-US"/>
              <a:t>。反馈后提出已批准用于青光眼的</a:t>
            </a:r>
            <a:r>
              <a:rPr lang="en-US" altLang="zh-CN"/>
              <a:t>ripasudil</a:t>
            </a:r>
            <a:r>
              <a:rPr lang="zh-CN" altLang="en-US"/>
              <a:t>，</a:t>
            </a:r>
            <a:r>
              <a:rPr lang="en-US" altLang="zh-CN"/>
              <a:t>ARPE-19</a:t>
            </a:r>
            <a:r>
              <a:rPr lang="zh-CN" altLang="en-US"/>
              <a:t>吞噬读数</a:t>
            </a:r>
            <a:r>
              <a:rPr lang="en-US" altLang="zh-CN"/>
              <a:t>1.89×vehicle</a:t>
            </a:r>
            <a:r>
              <a:rPr lang="zh-CN" altLang="en-US"/>
              <a:t>，人类复分析为</a:t>
            </a:r>
            <a:r>
              <a:rPr lang="en-US" altLang="zh-CN"/>
              <a:t>1.75×</a:t>
            </a:r>
            <a:r>
              <a:rPr lang="zh-CN" altLang="en-US"/>
              <a:t>，均为相对对照的倍数。原代</a:t>
            </a:r>
            <a:r>
              <a:rPr lang="en-US" altLang="zh-CN"/>
              <a:t>RPE-SC</a:t>
            </a:r>
            <a:r>
              <a:rPr lang="zh-CN" altLang="en-US"/>
              <a:t>来自一位</a:t>
            </a:r>
            <a:r>
              <a:rPr lang="en-US" altLang="zh-CN"/>
              <a:t>60</a:t>
            </a:r>
            <a:r>
              <a:rPr lang="zh-CN" altLang="en-US"/>
              <a:t>岁以上供者，以牛光感受器外节（</a:t>
            </a:r>
            <a:r>
              <a:rPr lang="en-US" altLang="zh-CN"/>
              <a:t>ROS</a:t>
            </a:r>
            <a:r>
              <a:rPr lang="zh-CN" altLang="en-US"/>
              <a:t>）作更生理相关底物，</a:t>
            </a:r>
            <a:r>
              <a:rPr lang="en-US" altLang="zh-CN"/>
              <a:t>n=4</a:t>
            </a:r>
            <a:r>
              <a:rPr lang="zh-CN" altLang="en-US"/>
              <a:t>孔及剂量响应验证。</a:t>
            </a:r>
            <a:r>
              <a:rPr lang="en-US" altLang="zh-CN"/>
              <a:t>KL001</a:t>
            </a:r>
            <a:r>
              <a:rPr lang="zh-CN" altLang="en-US"/>
              <a:t>通过抑制</a:t>
            </a:r>
            <a:r>
              <a:rPr lang="en-US" altLang="zh-CN"/>
              <a:t>CRY</a:t>
            </a:r>
            <a:r>
              <a:rPr lang="zh-CN" altLang="en-US"/>
              <a:t>的泛素依赖降解稳定其蛋白，体现昼夜节律跨领域线索。</a:t>
            </a:r>
            <a:r>
              <a:rPr lang="en-US" altLang="zh-CN"/>
              <a:t>ripasudil</a:t>
            </a:r>
            <a:r>
              <a:rPr lang="zh-CN" altLang="en-US"/>
              <a:t>在</a:t>
            </a:r>
            <a:r>
              <a:rPr lang="en-US" altLang="zh-CN"/>
              <a:t>RPE-SC</a:t>
            </a:r>
            <a:r>
              <a:rPr lang="zh-CN" altLang="en-US"/>
              <a:t>有</a:t>
            </a:r>
            <a:r>
              <a:rPr lang="en-US" altLang="zh-CN"/>
              <a:t>/</a:t>
            </a:r>
            <a:r>
              <a:rPr lang="zh-CN" altLang="en-US"/>
              <a:t>无</a:t>
            </a:r>
            <a:r>
              <a:rPr lang="en-US" altLang="zh-CN"/>
              <a:t>ROS</a:t>
            </a:r>
            <a:r>
              <a:rPr lang="zh-CN" altLang="en-US"/>
              <a:t>条件下复制</a:t>
            </a:r>
            <a:r>
              <a:rPr lang="en-US" altLang="zh-CN"/>
              <a:t>ABCA1</a:t>
            </a:r>
            <a:r>
              <a:rPr lang="zh-CN" altLang="en-US"/>
              <a:t>变化，但尚未证明</a:t>
            </a:r>
            <a:r>
              <a:rPr lang="en-US" altLang="zh-CN"/>
              <a:t>ABCA1</a:t>
            </a:r>
            <a:r>
              <a:rPr lang="zh-CN" altLang="en-US"/>
              <a:t>对吞噬的必要性或充分性。图来自</a:t>
            </a:r>
            <a:r>
              <a:rPr lang="en-US" altLang="zh-CN"/>
              <a:t>Fig.4b–c</a:t>
            </a:r>
            <a:r>
              <a:rPr lang="zh-CN" altLang="en-US"/>
              <a:t>。
</a:t>
            </a:r>
            <a:r>
              <a:rPr lang="en-US" altLang="zh-CN"/>
              <a:t>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D9F3E-1FF7-45BB-BA08-D71D0E7E09E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197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o4-mini</a:t>
            </a:r>
            <a:r>
              <a:rPr lang="zh-CN" altLang="en-US"/>
              <a:t>替代检索代理时，实验方案的虚构引用率</a:t>
            </a:r>
            <a:r>
              <a:rPr lang="en-US" altLang="zh-CN"/>
              <a:t>44.5±6.37%</a:t>
            </a:r>
            <a:r>
              <a:rPr lang="zh-CN" altLang="en-US"/>
              <a:t>；</a:t>
            </a:r>
            <a:r>
              <a:rPr lang="en-US" altLang="zh-CN"/>
              <a:t>Crow</a:t>
            </a:r>
            <a:r>
              <a:rPr lang="zh-CN" altLang="en-US"/>
              <a:t>在检查的</a:t>
            </a:r>
            <a:r>
              <a:rPr lang="en-US" altLang="zh-CN"/>
              <a:t>15</a:t>
            </a:r>
            <a:r>
              <a:rPr lang="zh-CN" altLang="en-US"/>
              <a:t>份方案中未见虚构引用。该结果限于检查样本。</a:t>
            </a:r>
            <a:r>
              <a:rPr lang="en-US" altLang="zh-CN"/>
              <a:t>Finch</a:t>
            </a:r>
            <a:r>
              <a:rPr lang="zh-CN" altLang="en-US"/>
              <a:t>在</a:t>
            </a:r>
            <a:r>
              <a:rPr lang="en-US" altLang="zh-CN"/>
              <a:t>BixBench</a:t>
            </a:r>
            <a:r>
              <a:rPr lang="zh-CN" altLang="en-US"/>
              <a:t>选定</a:t>
            </a:r>
            <a:r>
              <a:rPr lang="en-US" altLang="zh-CN"/>
              <a:t>170</a:t>
            </a:r>
            <a:r>
              <a:rPr lang="zh-CN" altLang="en-US"/>
              <a:t>个相关问题、</a:t>
            </a:r>
            <a:r>
              <a:rPr lang="en-US" altLang="zh-CN"/>
              <a:t>3</a:t>
            </a:r>
            <a:r>
              <a:rPr lang="zh-CN" altLang="en-US"/>
              <a:t>次运行上为</a:t>
            </a:r>
            <a:r>
              <a:rPr lang="en-US" altLang="zh-CN"/>
              <a:t>22.8±1.7%</a:t>
            </a:r>
            <a:r>
              <a:rPr lang="zh-CN" altLang="en-US"/>
              <a:t>，无工具</a:t>
            </a:r>
            <a:r>
              <a:rPr lang="en-US" altLang="zh-CN"/>
              <a:t>Sonnet3.7</a:t>
            </a:r>
            <a:r>
              <a:rPr lang="zh-CN" altLang="en-US"/>
              <a:t>为</a:t>
            </a:r>
            <a:r>
              <a:rPr lang="en-US" altLang="zh-CN"/>
              <a:t>1.6±1.2%</a:t>
            </a:r>
            <a:r>
              <a:rPr lang="zh-CN" altLang="en-US"/>
              <a:t>；生物信息子任务</a:t>
            </a:r>
            <a:r>
              <a:rPr lang="en-US" altLang="zh-CN"/>
              <a:t>15.3%</a:t>
            </a:r>
            <a:r>
              <a:rPr lang="zh-CN" altLang="en-US"/>
              <a:t>、生物统计</a:t>
            </a:r>
            <a:r>
              <a:rPr lang="en-US" altLang="zh-CN"/>
              <a:t>47.9%</a:t>
            </a:r>
            <a:r>
              <a:rPr lang="zh-CN" altLang="en-US"/>
              <a:t>，绝对水平仍有限。论文自定义</a:t>
            </a:r>
            <a:r>
              <a:rPr lang="en-US" altLang="zh-CN"/>
              <a:t>RNAseq/</a:t>
            </a:r>
            <a:r>
              <a:rPr lang="zh-CN" altLang="en-US"/>
              <a:t>流式</a:t>
            </a:r>
            <a:r>
              <a:rPr lang="en-US" altLang="zh-CN"/>
              <a:t>rubric</a:t>
            </a:r>
            <a:r>
              <a:rPr lang="zh-CN" altLang="en-US"/>
              <a:t>为</a:t>
            </a:r>
            <a:r>
              <a:rPr lang="en-US" altLang="zh-CN"/>
              <a:t>86%</a:t>
            </a:r>
            <a:r>
              <a:rPr lang="zh-CN" altLang="en-US"/>
              <a:t>和</a:t>
            </a:r>
            <a:r>
              <a:rPr lang="en-US" altLang="zh-CN"/>
              <a:t>100%</a:t>
            </a:r>
            <a:r>
              <a:rPr lang="zh-CN" altLang="en-US"/>
              <a:t>，</a:t>
            </a:r>
            <a:r>
              <a:rPr lang="en-US" altLang="zh-CN"/>
              <a:t>n=3</a:t>
            </a:r>
            <a:r>
              <a:rPr lang="zh-CN" altLang="en-US"/>
              <a:t>，并不代表所有数据分析准确率。</a:t>
            </a:r>
            <a:r>
              <a:rPr lang="en-US" altLang="zh-CN"/>
              <a:t>551</a:t>
            </a:r>
            <a:r>
              <a:rPr lang="zh-CN" altLang="en-US"/>
              <a:t>篇文献约</a:t>
            </a:r>
            <a:r>
              <a:rPr lang="en-US" altLang="zh-CN"/>
              <a:t>30</a:t>
            </a:r>
            <a:r>
              <a:rPr lang="zh-CN" altLang="en-US"/>
              <a:t>分钟、人工</a:t>
            </a:r>
            <a:r>
              <a:rPr lang="en-US" altLang="zh-CN"/>
              <a:t>359–424</a:t>
            </a:r>
            <a:r>
              <a:rPr lang="zh-CN" altLang="en-US"/>
              <a:t>小时与智能体认知工作小于</a:t>
            </a:r>
            <a:r>
              <a:rPr lang="en-US" altLang="zh-CN"/>
              <a:t>2</a:t>
            </a:r>
            <a:r>
              <a:rPr lang="zh-CN" altLang="en-US"/>
              <a:t>小时属于作者估计，未进行受控时间基准。系统仍欠缺完整可执行实验协议，专家输入、人类湿实验和后续因果</a:t>
            </a:r>
            <a:r>
              <a:rPr lang="en-US" altLang="zh-CN"/>
              <a:t>/</a:t>
            </a:r>
            <a:r>
              <a:rPr lang="zh-CN" altLang="en-US"/>
              <a:t>临床验证不可缺。
</a:t>
            </a:r>
            <a:r>
              <a:rPr lang="en-US" altLang="zh-CN"/>
              <a:t>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D9F3E-1FF7-45BB-BA08-D71D0E7E09E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3150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本页为面向一般药物发现智能体的设计建议，与任何特定项目实现无关。</a:t>
            </a:r>
            <a:r>
              <a:rPr lang="en-US" altLang="zh-CN"/>
              <a:t>MAP</a:t>
            </a:r>
            <a:r>
              <a:rPr lang="zh-CN" altLang="en-US"/>
              <a:t>启发在于机制知识可进入表征学习，也可供智能体查询，但不能把知识嵌入的训练收益直接当作</a:t>
            </a:r>
            <a:r>
              <a:rPr lang="en-US" altLang="zh-CN"/>
              <a:t>LLM</a:t>
            </a:r>
            <a:r>
              <a:rPr lang="zh-CN" altLang="en-US"/>
              <a:t>推理收益。可采用带实体、关系方向、物种</a:t>
            </a:r>
            <a:r>
              <a:rPr lang="en-US" altLang="zh-CN"/>
              <a:t>/</a:t>
            </a:r>
            <a:r>
              <a:rPr lang="zh-CN" altLang="en-US"/>
              <a:t>细胞背景、剂量时间、证据等级及原始引用的记录，避免把‘与某疾病相关’直接升级成药物机制。候选输出同时包含预测效应、支持证据和可能反例。检索到已知靶点只证明信息检索能力；新药物外推需从图谱与响应数据中同时留出候选及相关信息，验证避免泄漏。
</a:t>
            </a:r>
            <a:r>
              <a:rPr lang="en-US" altLang="zh-CN"/>
              <a:t>Feng et al., Nature Machine Intelligence (2026). DOI: 10.1038/s42256-026-01286-w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D9F3E-1FF7-45BB-BA08-D71D0E7E09E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2785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本页是一般系统方案。</a:t>
            </a:r>
            <a:r>
              <a:rPr lang="en-US" altLang="zh-CN"/>
              <a:t>Robin</a:t>
            </a:r>
            <a:r>
              <a:rPr lang="zh-CN" altLang="en-US"/>
              <a:t>提示不能以文献报告作为闭环终点。先把疾病目标操作化为适当的功能读数，再以检索、候选评价、实验执行和可复现分析相接。分析角色需要代码执行、版本化原始数据和明确</a:t>
            </a:r>
            <a:r>
              <a:rPr lang="en-US" altLang="zh-CN"/>
              <a:t>QC</a:t>
            </a:r>
            <a:r>
              <a:rPr lang="zh-CN" altLang="en-US"/>
              <a:t>，而非单纯对结果表进行语言总结。流式吞噬例子需排除存活、背景荧光等混杂，生物学重复以独立培养</a:t>
            </a:r>
            <a:r>
              <a:rPr lang="en-US" altLang="zh-CN"/>
              <a:t>/</a:t>
            </a:r>
            <a:r>
              <a:rPr lang="zh-CN" altLang="en-US"/>
              <a:t>供者为单位。可重复运行不同分析路径以发现敏感性，但共识不能替代外部验证。下一轮每次更新都应指明导致更新的新观察和竞争假设。
</a:t>
            </a:r>
            <a:r>
              <a:rPr lang="en-US" altLang="zh-CN"/>
              <a:t>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D9F3E-1FF7-45BB-BA08-D71D0E7E09E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1859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本页是独立的通用药物发现智能体评测建议。完整链路可以以</a:t>
            </a:r>
            <a:r>
              <a:rPr lang="en-US" altLang="zh-CN"/>
              <a:t>MAP</a:t>
            </a:r>
            <a:r>
              <a:rPr lang="zh-CN" altLang="en-US"/>
              <a:t>类型表征产生响应与不确定性，以</a:t>
            </a:r>
            <a:r>
              <a:rPr lang="en-US" altLang="zh-CN"/>
              <a:t>Robin</a:t>
            </a:r>
            <a:r>
              <a:rPr lang="zh-CN" altLang="en-US"/>
              <a:t>类型代理生成可检验实验并分析反馈。评测需分离：知识是否提供超出结构</a:t>
            </a:r>
            <a:r>
              <a:rPr lang="en-US" altLang="zh-CN"/>
              <a:t>/</a:t>
            </a:r>
            <a:r>
              <a:rPr lang="zh-CN" altLang="en-US"/>
              <a:t>近邻的信号，转录预测是否提供超出廉价先验的功能读数收益，</a:t>
            </a:r>
            <a:r>
              <a:rPr lang="en-US" altLang="zh-CN"/>
              <a:t>LLM</a:t>
            </a:r>
            <a:r>
              <a:rPr lang="zh-CN" altLang="en-US"/>
              <a:t>策略是否超出确定性同工具策略。首先用真实响应作为预测上限，判断在该端点下转录信息是否存在足够收益，再投入复杂模型。使用相同数据、工具权限和预算，计入无效实验、错误筛选、工具失败、延迟与成本。实验重复与独立生物学单位需分清，停止规则提前约定。
</a:t>
            </a:r>
            <a:r>
              <a:rPr lang="en-US" altLang="zh-CN"/>
              <a:t>Feng et al., Nature Machine Intelligence (2026). DOI: 10.1038/s42256-026-01286-w
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D9F3E-1FF7-45BB-BA08-D71D0E7E09E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2115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独立</a:t>
            </a:r>
            <a:r>
              <a:rPr lang="en-US" altLang="zh-CN"/>
              <a:t>MAESTRO</a:t>
            </a:r>
            <a:r>
              <a:rPr lang="zh-CN" altLang="en-US"/>
              <a:t>部分从</a:t>
            </a:r>
            <a:r>
              <a:rPr lang="en-US" altLang="zh-CN"/>
              <a:t>0927</a:t>
            </a:r>
            <a:r>
              <a:rPr lang="zh-CN" altLang="en-US"/>
              <a:t>进度出发。</a:t>
            </a:r>
            <a:r>
              <a:rPr lang="en-US" altLang="zh-CN"/>
              <a:t>0927</a:t>
            </a:r>
            <a:r>
              <a:rPr lang="zh-CN" altLang="en-US"/>
              <a:t>中</a:t>
            </a:r>
            <a:r>
              <a:rPr lang="en-US" altLang="zh-CN"/>
              <a:t>76–82%</a:t>
            </a:r>
            <a:r>
              <a:rPr lang="zh-CN" altLang="en-US"/>
              <a:t>的</a:t>
            </a:r>
            <a:r>
              <a:rPr lang="en-US" altLang="zh-CN"/>
              <a:t>L1000</a:t>
            </a:r>
            <a:r>
              <a:rPr lang="zh-CN" altLang="en-US"/>
              <a:t>案例在动作菜单下难以区分，</a:t>
            </a:r>
            <a:r>
              <a:rPr lang="en-US" altLang="zh-CN"/>
              <a:t>+2</a:t>
            </a:r>
            <a:r>
              <a:rPr lang="zh-CN" altLang="en-US"/>
              <a:t>百分点检出所需独立单位</a:t>
            </a:r>
            <a:r>
              <a:rPr lang="en-US" altLang="zh-CN"/>
              <a:t>345–813</a:t>
            </a:r>
            <a:r>
              <a:rPr lang="zh-CN" altLang="en-US"/>
              <a:t>，现有</a:t>
            </a:r>
            <a:r>
              <a:rPr lang="en-US" altLang="zh-CN"/>
              <a:t>42–256</a:t>
            </a:r>
            <a:r>
              <a:rPr lang="zh-CN" altLang="en-US"/>
              <a:t>或外部</a:t>
            </a:r>
            <a:r>
              <a:rPr lang="en-US" altLang="zh-CN"/>
              <a:t>38</a:t>
            </a:r>
            <a:r>
              <a:rPr lang="zh-CN" altLang="en-US"/>
              <a:t>，未形成稳定决策优势。当前运行合同覆盖</a:t>
            </a:r>
            <a:r>
              <a:rPr lang="en-US" altLang="zh-CN"/>
              <a:t>agent–decision–virtual-cell</a:t>
            </a:r>
            <a:r>
              <a:rPr lang="zh-CN" altLang="en-US"/>
              <a:t>实际路由、两轮测量反馈、持久化、预算、重试、幂等与重启，证明工程能力。</a:t>
            </a:r>
            <a:r>
              <a:rPr lang="en-US" altLang="zh-CN"/>
              <a:t>P0.5R</a:t>
            </a:r>
            <a:r>
              <a:rPr lang="zh-CN" altLang="en-US"/>
              <a:t>扩展在</a:t>
            </a:r>
            <a:r>
              <a:rPr lang="en-US" altLang="zh-CN"/>
              <a:t>c44/c45</a:t>
            </a:r>
            <a:r>
              <a:rPr lang="zh-CN" altLang="en-US"/>
              <a:t>对全部</a:t>
            </a:r>
            <a:r>
              <a:rPr lang="en-US" altLang="zh-CN"/>
              <a:t>62,710</a:t>
            </a:r>
            <a:r>
              <a:rPr lang="zh-CN" altLang="en-US"/>
              <a:t>源基因完成</a:t>
            </a:r>
            <a:r>
              <a:rPr lang="en-US" altLang="zh-CN"/>
              <a:t>39/39</a:t>
            </a:r>
            <a:r>
              <a:rPr lang="zh-CN" altLang="en-US"/>
              <a:t>唯一坐标匹配，容差</a:t>
            </a:r>
            <a:r>
              <a:rPr lang="en-US" altLang="zh-CN"/>
              <a:t>1e-5</a:t>
            </a:r>
            <a:r>
              <a:rPr lang="zh-CN" altLang="en-US"/>
              <a:t>，最大差</a:t>
            </a:r>
            <a:r>
              <a:rPr lang="en-US" altLang="zh-CN"/>
              <a:t>1.4416e-7/1.4611e-7</a:t>
            </a:r>
            <a:r>
              <a:rPr lang="zh-CN" altLang="en-US"/>
              <a:t>。</a:t>
            </a:r>
            <a:r>
              <a:rPr lang="en-US" altLang="zh-CN"/>
              <a:t>c44</a:t>
            </a:r>
            <a:r>
              <a:rPr lang="zh-CN" altLang="en-US"/>
              <a:t>复用</a:t>
            </a:r>
            <a:r>
              <a:rPr lang="en-US" altLang="zh-CN"/>
              <a:t>252</a:t>
            </a:r>
            <a:r>
              <a:rPr lang="zh-CN" altLang="en-US"/>
              <a:t>已暴露细胞，新增</a:t>
            </a:r>
            <a:r>
              <a:rPr lang="en-US" altLang="zh-CN"/>
              <a:t>RNA</a:t>
            </a:r>
            <a:r>
              <a:rPr lang="zh-CN" altLang="en-US"/>
              <a:t>字节为</a:t>
            </a:r>
            <a:r>
              <a:rPr lang="en-US" altLang="zh-CN"/>
              <a:t>0</a:t>
            </a:r>
            <a:r>
              <a:rPr lang="zh-CN" altLang="en-US"/>
              <a:t>；</a:t>
            </a:r>
            <a:r>
              <a:rPr lang="en-US" altLang="zh-CN"/>
              <a:t>c45</a:t>
            </a:r>
            <a:r>
              <a:rPr lang="zh-CN" altLang="en-US"/>
              <a:t>获取</a:t>
            </a:r>
            <a:r>
              <a:rPr lang="en-US" altLang="zh-CN"/>
              <a:t>11</a:t>
            </a:r>
            <a:r>
              <a:rPr lang="zh-CN" altLang="en-US"/>
              <a:t>个区分细胞、</a:t>
            </a:r>
            <a:r>
              <a:rPr lang="en-US" altLang="zh-CN"/>
              <a:t>133,564</a:t>
            </a:r>
            <a:r>
              <a:rPr lang="zh-CN" altLang="en-US"/>
              <a:t>新表达字节，相对旧</a:t>
            </a:r>
            <a:r>
              <a:rPr lang="en-US" altLang="zh-CN"/>
              <a:t>340,068</a:t>
            </a:r>
            <a:r>
              <a:rPr lang="zh-CN" altLang="en-US"/>
              <a:t>字节方案减少</a:t>
            </a:r>
            <a:r>
              <a:rPr lang="en-US" altLang="zh-CN"/>
              <a:t>60.7%</a:t>
            </a:r>
            <a:r>
              <a:rPr lang="zh-CN" altLang="en-US"/>
              <a:t>。独立逻辑切片</a:t>
            </a:r>
            <a:r>
              <a:rPr lang="en-US" altLang="zh-CN"/>
              <a:t>/</a:t>
            </a:r>
            <a:r>
              <a:rPr lang="zh-CN" altLang="en-US"/>
              <a:t>块状算术复核一致。这不认证完整</a:t>
            </a:r>
            <a:r>
              <a:rPr lang="en-US" altLang="zh-CN"/>
              <a:t>2000</a:t>
            </a:r>
            <a:r>
              <a:rPr lang="zh-CN" altLang="en-US"/>
              <a:t>基因轴或模型解码轴。</a:t>
            </a:r>
            <a:r>
              <a:rPr lang="en-US" altLang="zh-CN"/>
              <a:t>V3</a:t>
            </a:r>
            <a:r>
              <a:rPr lang="zh-CN" altLang="en-US"/>
              <a:t>预采购停止把</a:t>
            </a:r>
            <a:r>
              <a:rPr lang="en-US" altLang="zh-CN"/>
              <a:t>A</a:t>
            </a:r>
            <a:r>
              <a:rPr lang="zh-CN" altLang="en-US"/>
              <a:t>购买</a:t>
            </a:r>
            <a:r>
              <a:rPr lang="en-US" altLang="zh-CN"/>
              <a:t>129</a:t>
            </a:r>
            <a:r>
              <a:rPr lang="zh-CN" altLang="en-US"/>
              <a:t>降到</a:t>
            </a:r>
            <a:r>
              <a:rPr lang="en-US" altLang="zh-CN"/>
              <a:t>35</a:t>
            </a:r>
            <a:r>
              <a:rPr lang="zh-CN" altLang="en-US"/>
              <a:t>，减少</a:t>
            </a:r>
            <a:r>
              <a:rPr lang="en-US" altLang="zh-CN"/>
              <a:t>94</a:t>
            </a:r>
            <a:r>
              <a:rPr lang="zh-CN" altLang="en-US"/>
              <a:t>次即</a:t>
            </a:r>
            <a:r>
              <a:rPr lang="en-US" altLang="zh-CN"/>
              <a:t>72.9%</a:t>
            </a:r>
            <a:r>
              <a:rPr lang="zh-CN" altLang="en-US"/>
              <a:t>，匹配动作不变；总模拟</a:t>
            </a:r>
            <a:r>
              <a:rPr lang="en-US" altLang="zh-CN"/>
              <a:t>profiles774</a:t>
            </a:r>
            <a:r>
              <a:rPr lang="zh-CN" altLang="en-US"/>
              <a:t>降到</a:t>
            </a:r>
            <a:r>
              <a:rPr lang="en-US" altLang="zh-CN"/>
              <a:t>680</a:t>
            </a:r>
            <a:r>
              <a:rPr lang="zh-CN" altLang="en-US"/>
              <a:t>，无更新为</a:t>
            </a:r>
            <a:r>
              <a:rPr lang="en-US" altLang="zh-CN"/>
              <a:t>645</a:t>
            </a:r>
            <a:r>
              <a:rPr lang="zh-CN" altLang="en-US"/>
              <a:t>，不能据此声称净决策优势。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D9F3E-1FF7-45BB-BA08-D71D0E7E09E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70621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10</a:t>
            </a:r>
            <a:r>
              <a:rPr lang="zh-CN" altLang="en-US"/>
              <a:t>月</a:t>
            </a:r>
            <a:r>
              <a:rPr lang="en-US" altLang="zh-CN"/>
              <a:t>10</a:t>
            </a:r>
            <a:r>
              <a:rPr lang="zh-CN" altLang="en-US"/>
              <a:t>日研究在</a:t>
            </a:r>
            <a:r>
              <a:rPr lang="en-US" altLang="zh-CN"/>
              <a:t>Tahoe</a:t>
            </a:r>
            <a:r>
              <a:rPr lang="zh-CN" altLang="en-US"/>
              <a:t>相同球状培养单元中连接</a:t>
            </a:r>
            <a:r>
              <a:rPr lang="en-US" altLang="zh-CN"/>
              <a:t>24h RNA</a:t>
            </a:r>
            <a:r>
              <a:rPr lang="zh-CN" altLang="en-US"/>
              <a:t>与</a:t>
            </a:r>
            <a:r>
              <a:rPr lang="en-US" altLang="zh-CN"/>
              <a:t>obs</a:t>
            </a:r>
            <a:r>
              <a:rPr lang="zh-CN" altLang="en-US"/>
              <a:t>推导相对细胞系份额</a:t>
            </a:r>
            <a:r>
              <a:rPr lang="en-US" altLang="zh-CN"/>
              <a:t>/</a:t>
            </a:r>
            <a:r>
              <a:rPr lang="zh-CN" altLang="en-US"/>
              <a:t>相位。</a:t>
            </a:r>
            <a:r>
              <a:rPr lang="en-US" altLang="zh-CN"/>
              <a:t>40</a:t>
            </a:r>
            <a:r>
              <a:rPr lang="zh-CN" altLang="en-US"/>
              <a:t>个合格参考背景，</a:t>
            </a:r>
            <a:r>
              <a:rPr lang="en-US" altLang="zh-CN"/>
              <a:t>5</a:t>
            </a:r>
            <a:r>
              <a:rPr lang="zh-CN" altLang="en-US"/>
              <a:t>个</a:t>
            </a:r>
            <a:r>
              <a:rPr lang="en-US" altLang="zh-CN"/>
              <a:t>checkpoint</a:t>
            </a:r>
            <a:r>
              <a:rPr lang="zh-CN" altLang="en-US"/>
              <a:t>留出背景</a:t>
            </a:r>
            <a:r>
              <a:rPr lang="en-US" altLang="zh-CN"/>
              <a:t>Hs766T</a:t>
            </a:r>
            <a:r>
              <a:rPr lang="zh-CN" altLang="en-US"/>
              <a:t>、</a:t>
            </a:r>
            <a:r>
              <a:rPr lang="en-US" altLang="zh-CN"/>
              <a:t>PANC1</a:t>
            </a:r>
            <a:r>
              <a:rPr lang="zh-CN" altLang="en-US"/>
              <a:t>、</a:t>
            </a:r>
            <a:r>
              <a:rPr lang="en-US" altLang="zh-CN"/>
              <a:t>C32</a:t>
            </a:r>
            <a:r>
              <a:rPr lang="zh-CN" altLang="en-US"/>
              <a:t>、</a:t>
            </a:r>
            <a:r>
              <a:rPr lang="en-US" altLang="zh-CN"/>
              <a:t>HepG2/C3A</a:t>
            </a:r>
            <a:r>
              <a:rPr lang="zh-CN" altLang="en-US"/>
              <a:t>、</a:t>
            </a:r>
            <a:r>
              <a:rPr lang="en-US" altLang="zh-CN"/>
              <a:t>HOP62</a:t>
            </a:r>
            <a:r>
              <a:rPr lang="zh-CN" altLang="en-US"/>
              <a:t>，药物菜单</a:t>
            </a:r>
            <a:r>
              <a:rPr lang="en-US" altLang="zh-CN"/>
              <a:t>379</a:t>
            </a:r>
            <a:r>
              <a:rPr lang="zh-CN" altLang="en-US"/>
              <a:t>。</a:t>
            </a:r>
            <a:r>
              <a:rPr lang="en-US" altLang="zh-CN"/>
              <a:t>E2</a:t>
            </a:r>
            <a:r>
              <a:rPr lang="zh-CN" altLang="en-US"/>
              <a:t>中</a:t>
            </a:r>
            <a:r>
              <a:rPr lang="en-US" altLang="zh-CN"/>
              <a:t>S_cells</a:t>
            </a:r>
            <a:r>
              <a:rPr lang="zh-CN" altLang="en-US"/>
              <a:t>（预测细胞的</a:t>
            </a:r>
            <a:r>
              <a:rPr lang="en-US" altLang="zh-CN"/>
              <a:t>G1</a:t>
            </a:r>
            <a:r>
              <a:rPr lang="zh-CN" altLang="en-US"/>
              <a:t>组成）平均</a:t>
            </a:r>
            <a:r>
              <a:rPr lang="en-US" altLang="zh-CN"/>
              <a:t>r=0.3495417</a:t>
            </a:r>
            <a:r>
              <a:rPr lang="zh-CN" altLang="en-US"/>
              <a:t>，基础相似性</a:t>
            </a:r>
            <a:r>
              <a:rPr lang="en-US" altLang="zh-CN"/>
              <a:t>B</a:t>
            </a:r>
            <a:r>
              <a:rPr lang="zh-CN" altLang="en-US"/>
              <a:t>为</a:t>
            </a:r>
            <a:r>
              <a:rPr lang="en-US" altLang="zh-CN"/>
              <a:t>0.0959951</a:t>
            </a:r>
            <a:r>
              <a:rPr lang="zh-CN" altLang="en-US"/>
              <a:t>，差</a:t>
            </a:r>
            <a:r>
              <a:rPr lang="en-US" altLang="zh-CN"/>
              <a:t>0.2535466</a:t>
            </a:r>
            <a:r>
              <a:rPr lang="zh-CN" altLang="en-US"/>
              <a:t>，</a:t>
            </a:r>
            <a:r>
              <a:rPr lang="en-US" altLang="zh-CN"/>
              <a:t>CI[0.1564786,0.3672753]</a:t>
            </a:r>
            <a:r>
              <a:rPr lang="zh-CN" altLang="en-US"/>
              <a:t>，</a:t>
            </a:r>
            <a:r>
              <a:rPr lang="en-US" altLang="zh-CN"/>
              <a:t>4/5</a:t>
            </a:r>
            <a:r>
              <a:rPr lang="zh-CN" altLang="en-US"/>
              <a:t>更好。它是</a:t>
            </a:r>
            <a:r>
              <a:rPr lang="en-US" altLang="zh-CN"/>
              <a:t>RNA</a:t>
            </a:r>
            <a:r>
              <a:rPr lang="zh-CN" altLang="en-US"/>
              <a:t>推导的周期组成，与独立存活率或凋亡确认不同。</a:t>
            </a:r>
            <a:r>
              <a:rPr lang="en-US" altLang="zh-CN"/>
              <a:t>E1</a:t>
            </a:r>
            <a:r>
              <a:rPr lang="zh-CN" altLang="en-US"/>
              <a:t>中基础相似性迁移的</a:t>
            </a:r>
            <a:r>
              <a:rPr lang="en-US" altLang="zh-CN"/>
              <a:t>top10</a:t>
            </a:r>
            <a:r>
              <a:rPr lang="zh-CN" altLang="en-US"/>
              <a:t>平均效用相对通用强度排序</a:t>
            </a:r>
            <a:r>
              <a:rPr lang="en-US" altLang="zh-CN"/>
              <a:t>+0.5580816 log2</a:t>
            </a:r>
            <a:r>
              <a:rPr lang="zh-CN" altLang="en-US"/>
              <a:t>，</a:t>
            </a:r>
            <a:r>
              <a:rPr lang="en-US" altLang="zh-CN"/>
              <a:t>CI[0.235,0.819]</a:t>
            </a:r>
            <a:r>
              <a:rPr lang="zh-CN" altLang="en-US"/>
              <a:t>，</a:t>
            </a:r>
            <a:r>
              <a:rPr lang="en-US" altLang="zh-CN"/>
              <a:t>5/5</a:t>
            </a:r>
            <a:r>
              <a:rPr lang="zh-CN" altLang="en-US"/>
              <a:t>更好。主要</a:t>
            </a:r>
            <a:r>
              <a:rPr lang="en-US" altLang="zh-CN"/>
              <a:t>STATE</a:t>
            </a:r>
            <a:r>
              <a:rPr lang="zh-CN" altLang="en-US"/>
              <a:t>核读数平均</a:t>
            </a:r>
            <a:r>
              <a:rPr lang="en-US" altLang="zh-CN"/>
              <a:t>r=0.0722125</a:t>
            </a:r>
            <a:r>
              <a:rPr lang="zh-CN" altLang="en-US"/>
              <a:t>，</a:t>
            </a:r>
            <a:r>
              <a:rPr lang="en-US" altLang="zh-CN"/>
              <a:t>B</a:t>
            </a:r>
            <a:r>
              <a:rPr lang="zh-CN" altLang="en-US"/>
              <a:t>为</a:t>
            </a:r>
            <a:r>
              <a:rPr lang="en-US" altLang="zh-CN"/>
              <a:t>0.2984267</a:t>
            </a:r>
            <a:r>
              <a:rPr lang="zh-CN" altLang="en-US"/>
              <a:t>，差−</a:t>
            </a:r>
            <a:r>
              <a:rPr lang="en-US" altLang="zh-CN"/>
              <a:t>0.2262142</a:t>
            </a:r>
            <a:r>
              <a:rPr lang="zh-CN" altLang="en-US"/>
              <a:t>，</a:t>
            </a:r>
            <a:r>
              <a:rPr lang="en-US" altLang="zh-CN"/>
              <a:t>0/5</a:t>
            </a:r>
            <a:r>
              <a:rPr lang="zh-CN" altLang="en-US"/>
              <a:t>更好。参考真实</a:t>
            </a:r>
            <a:r>
              <a:rPr lang="en-US" altLang="zh-CN"/>
              <a:t>RNA</a:t>
            </a:r>
            <a:r>
              <a:rPr lang="zh-CN" altLang="en-US"/>
              <a:t>上限相对基础方法仅</a:t>
            </a:r>
            <a:r>
              <a:rPr lang="en-US" altLang="zh-CN"/>
              <a:t>+0.0029597 r</a:t>
            </a:r>
            <a:r>
              <a:rPr lang="zh-CN" altLang="en-US"/>
              <a:t>，低于预定</a:t>
            </a:r>
            <a:r>
              <a:rPr lang="en-US" altLang="zh-CN"/>
              <a:t>0.05</a:t>
            </a:r>
            <a:r>
              <a:rPr lang="zh-CN" altLang="en-US"/>
              <a:t>最小有用收益，因此门控拒绝</a:t>
            </a:r>
            <a:r>
              <a:rPr lang="en-US" altLang="zh-CN"/>
              <a:t>STATE</a:t>
            </a:r>
            <a:r>
              <a:rPr lang="zh-CN" altLang="en-US"/>
              <a:t>进入该端点。目标背景先前已暴露，参考背景与预训练重叠。本研究提升了端点桥接和模型准入规则的清晰度，未确立知识反馈或</a:t>
            </a:r>
            <a:r>
              <a:rPr lang="en-US" altLang="zh-CN"/>
              <a:t>LLM</a:t>
            </a:r>
            <a:r>
              <a:rPr lang="zh-CN" altLang="en-US"/>
              <a:t>决策优势。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D9F3E-1FF7-45BB-BA08-D71D0E7E09E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1069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未来可以在</a:t>
            </a:r>
            <a:r>
              <a:rPr lang="en-US" altLang="zh-CN"/>
              <a:t>MAESTRO</a:t>
            </a:r>
            <a:r>
              <a:rPr lang="zh-CN" altLang="en-US"/>
              <a:t>中选择性借鉴论文，但这是待实施</a:t>
            </a:r>
            <a:r>
              <a:rPr lang="en-US" altLang="zh-CN"/>
              <a:t>/</a:t>
            </a:r>
            <a:r>
              <a:rPr lang="zh-CN" altLang="en-US"/>
              <a:t>待评测方向。当前合格任务是重新冻结</a:t>
            </a:r>
            <a:r>
              <a:rPr lang="en-US" altLang="zh-CN"/>
              <a:t>P0.6</a:t>
            </a:r>
            <a:r>
              <a:rPr lang="zh-CN" altLang="en-US"/>
              <a:t>观测可靠性协议：绑定精确源修订、端点坐标、排除、处理</a:t>
            </a:r>
            <a:r>
              <a:rPr lang="en-US" altLang="zh-CN"/>
              <a:t>/</a:t>
            </a:r>
            <a:r>
              <a:rPr lang="zh-CN" altLang="en-US"/>
              <a:t>对照行、实际组大小、参考权重、共享对照的不确定性、来源重复估计对象与确切采集成本，之后才读取表达。</a:t>
            </a:r>
            <a:r>
              <a:rPr lang="en-US" altLang="zh-CN"/>
              <a:t>24</a:t>
            </a:r>
            <a:r>
              <a:rPr lang="zh-CN" altLang="en-US"/>
              <a:t>个细胞系</a:t>
            </a:r>
            <a:r>
              <a:rPr lang="en-US" altLang="zh-CN"/>
              <a:t>/</a:t>
            </a:r>
            <a:r>
              <a:rPr lang="zh-CN" altLang="en-US"/>
              <a:t>板分层实际是</a:t>
            </a:r>
            <a:r>
              <a:rPr lang="en-US" altLang="zh-CN"/>
              <a:t>12</a:t>
            </a:r>
            <a:r>
              <a:rPr lang="zh-CN" altLang="en-US"/>
              <a:t>个</a:t>
            </a:r>
            <a:r>
              <a:rPr lang="en-US" altLang="zh-CN"/>
              <a:t>pooled</a:t>
            </a:r>
            <a:r>
              <a:rPr lang="zh-CN" altLang="en-US"/>
              <a:t>样本，不能当</a:t>
            </a:r>
            <a:r>
              <a:rPr lang="en-US" altLang="zh-CN"/>
              <a:t>24</a:t>
            </a:r>
            <a:r>
              <a:rPr lang="zh-CN" altLang="en-US"/>
              <a:t>个独立培养。全局</a:t>
            </a:r>
            <a:r>
              <a:rPr lang="en-US" altLang="zh-CN"/>
              <a:t>24h</a:t>
            </a:r>
            <a:r>
              <a:rPr lang="zh-CN" altLang="en-US"/>
              <a:t>暴露有记录，但逐样本时间与第三确认源缺失。</a:t>
            </a:r>
            <a:r>
              <a:rPr lang="en-US" altLang="zh-CN"/>
              <a:t>c44/c45</a:t>
            </a:r>
            <a:r>
              <a:rPr lang="zh-CN" altLang="en-US"/>
              <a:t>身份认证不解锁旧</a:t>
            </a:r>
            <a:r>
              <a:rPr lang="en-US" altLang="zh-CN"/>
              <a:t>c40/c44</a:t>
            </a:r>
            <a:r>
              <a:rPr lang="zh-CN" altLang="en-US"/>
              <a:t>计划，不认证完整</a:t>
            </a:r>
            <a:r>
              <a:rPr lang="en-US" altLang="zh-CN"/>
              <a:t>2000</a:t>
            </a:r>
            <a:r>
              <a:rPr lang="zh-CN" altLang="en-US"/>
              <a:t>基因轴，</a:t>
            </a:r>
            <a:r>
              <a:rPr lang="en-US" altLang="zh-CN"/>
              <a:t>P0.6</a:t>
            </a:r>
            <a:r>
              <a:rPr lang="zh-CN" altLang="en-US"/>
              <a:t>执行未放行、</a:t>
            </a:r>
            <a:r>
              <a:rPr lang="en-US" altLang="zh-CN"/>
              <a:t>P2</a:t>
            </a:r>
            <a:r>
              <a:rPr lang="zh-CN" altLang="en-US"/>
              <a:t>仍关闭。</a:t>
            </a:r>
            <a:r>
              <a:rPr lang="en-US" altLang="zh-CN"/>
              <a:t>MAP</a:t>
            </a:r>
            <a:r>
              <a:rPr lang="zh-CN" altLang="en-US"/>
              <a:t>方向宜先考察特定关系类型和端点是否有效，当前泛化融合</a:t>
            </a:r>
            <a:r>
              <a:rPr lang="en-US" altLang="zh-CN"/>
              <a:t>/</a:t>
            </a:r>
            <a:r>
              <a:rPr lang="zh-CN" altLang="en-US"/>
              <a:t>反馈比较未证明稳定优势。</a:t>
            </a:r>
            <a:r>
              <a:rPr lang="en-US" altLang="zh-CN"/>
              <a:t>Robin</a:t>
            </a:r>
            <a:r>
              <a:rPr lang="zh-CN" altLang="en-US"/>
              <a:t>方向宜保留引用、可执行分析和负结果，以同信息、同工具、同预算确定性策略为比较，未来在未触碰合格生物单位上评测终局选择、损害和成本。当前证据支持工程和测量基础推进，独立知识反馈与</a:t>
            </a:r>
            <a:r>
              <a:rPr lang="en-US" altLang="zh-CN"/>
              <a:t>LLM</a:t>
            </a:r>
            <a:r>
              <a:rPr lang="zh-CN" altLang="en-US"/>
              <a:t>科学决策收益尚未建立。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D9F3E-1FF7-45BB-BA08-D71D0E7E09E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736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9B59A0-BEB0-3EAA-33E8-431E342DF5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FA7BAEB-C633-EDC0-E20E-B507F03BDB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483A31-CD6A-131B-E277-0159D2C44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D1B8C-41CD-4602-8737-FD7F0746AE1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69CCCA-2D10-01BD-8C4D-1A6E0A844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1CB87C-7E9A-9BE6-0A84-240B4C85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75991-CD57-41FF-960B-9AEF51055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913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68F899-5D5C-9F42-0CA4-EAAE159C2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B27ECE-F16C-6CF3-CA7D-0813D332D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53A8EA-0676-92B4-2AA6-ACD80FEE2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D1B8C-41CD-4602-8737-FD7F0746AE1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40211C-576A-BC35-C607-98966704E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0EF4C8-88A8-B8A1-529C-CA2CE3D64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75991-CD57-41FF-960B-9AEF51055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562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14176A-0391-7F0C-25B9-7BBFDB521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243B46-924C-C752-FC12-9B932DF28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B0CD67-7F56-4B0A-C667-D3AACCBE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D1B8C-41CD-4602-8737-FD7F0746AE1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F49496-386D-0B7B-66C6-998D4A3BF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E54289-19ED-3F3F-2888-28558628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75991-CD57-41FF-960B-9AEF51055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230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D1F199-8FB0-7C12-CB25-AB04DD3A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DFD294-4A65-FE8E-852D-EF62CB4F9B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4BF00C-8B6C-DFCE-8F56-5DFDD2815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4A7228-5023-F4BA-2784-099A58FA5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D1B8C-41CD-4602-8737-FD7F0746AE1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356555-DDC1-0DF7-A248-F9568B2E3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85C9B0-28B9-24C3-A10E-BB659601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75991-CD57-41FF-960B-9AEF51055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501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4D5D3-7DD1-469F-2AB4-D8F632E83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46F963-3B63-3B6C-CFAB-B95580A8F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E80FE2-9C52-F543-5820-1B2CE144E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A480E8C-99F9-DBA8-DB38-6929DF166B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37814C9-2289-CE8B-EBA9-1D46E49CD9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BFE5CE1-7C5C-E6BA-F6C6-C618548F0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D1B8C-41CD-4602-8737-FD7F0746AE1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49EC003-4523-A9E0-53AC-EA2F714DE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06D84DE-4B6B-0209-3DD6-2D3443435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75991-CD57-41FF-960B-9AEF51055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07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570CF0-2CF3-C640-724A-09331335F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326537-AFF7-4FAD-7C06-ED068A217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D1B8C-41CD-4602-8737-FD7F0746AE1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A5A4416-8301-3FE2-8EA0-4D0346011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4B4CFC-4D4F-1778-A306-DEF0CCA85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75991-CD57-41FF-960B-9AEF51055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024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D846525-3B7F-4596-5DE3-161A2C580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D1B8C-41CD-4602-8737-FD7F0746AE1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7A1826-B78D-7E2E-3FED-47B6973D2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0D97EC-BE97-979D-0544-9CE5A4DC8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75991-CD57-41FF-960B-9AEF51055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51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09F1DA-60D5-8A48-C466-380DFC20C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6C0070-5497-7547-9AAC-FF81C8CE7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C7E1A2-5EE4-EAF5-11DF-AD6F2B4BF5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2621AF-DBA3-FCAA-07E9-E571069C3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D1B8C-41CD-4602-8737-FD7F0746AE1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13E822-38F5-5240-E950-E5AD1B79D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2DF41C-6FAD-55B0-D74F-D12E4BC58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75991-CD57-41FF-960B-9AEF51055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654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049D80-80EE-2C2B-4029-3CD9A77FD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D03160D-A446-DC99-DD2C-8658A5F2173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00E9AF-EB67-1208-D411-8CE241745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28D923-9B8D-B14D-A95B-460FFC114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D1B8C-41CD-4602-8737-FD7F0746AE1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2A6305-5496-78E6-5546-F7D43A2EC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BEB995-6A20-AAE3-5E93-0A4F5C5E6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75991-CD57-41FF-960B-9AEF51055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500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21598C-C9FE-0E57-13EE-F2D5E947C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D422D8C-2E6F-6E1B-19AE-F293B68242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E95B03-1FC1-ACBC-71B3-514E13BB4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D1B8C-41CD-4602-8737-FD7F0746AE1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9C0BFF-62FC-BDE4-38A6-F231B90F3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DC6C8B-4561-60CB-17C1-5E1AB3C14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75991-CD57-41FF-960B-9AEF51055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019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DD17627-D984-515F-4ACD-048007A96E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0010CD-FC6D-821E-2CFB-DF5227CD7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ECD19A-7FDB-62D0-83FA-4B3C61851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D1B8C-41CD-4602-8737-FD7F0746AE1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BD891E-9F6C-6406-8F6A-1ABAAFCC1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8C9DC6-D42B-6D2B-FBF2-247CF8A43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75991-CD57-41FF-960B-9AEF51055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11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9699227-8410-9580-B6D0-8818D6458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C68661-F883-852D-BD0D-84CE6B5E3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0136D4-2364-6710-DA87-FB47FB18E8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D1B8C-41CD-4602-8737-FD7F0746AE1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23DF5B-8CD5-1448-DCFB-DEC5D0C3E4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5EB114-FAC0-23F8-E4A4-B0E5F474A0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175991-CD57-41FF-960B-9AEF51055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060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112F93E-0E03-DCAC-D792-DAD2DF316F7D}"/>
              </a:ext>
            </a:extLst>
          </p:cNvPr>
          <p:cNvSpPr txBox="1"/>
          <p:nvPr/>
        </p:nvSpPr>
        <p:spPr>
          <a:xfrm>
            <a:off x="787400" y="698499"/>
            <a:ext cx="7620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4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1009   </a:t>
            </a:r>
            <a:r>
              <a:rPr lang="zh-CN" altLang="en-US" sz="14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研究组会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FA41B0-3B82-FE1F-DBF4-402D895CB46B}"/>
              </a:ext>
            </a:extLst>
          </p:cNvPr>
          <p:cNvSpPr txBox="1"/>
          <p:nvPr/>
        </p:nvSpPr>
        <p:spPr>
          <a:xfrm>
            <a:off x="787400" y="1993899"/>
            <a:ext cx="10604500" cy="165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42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知识驱动的药物发现
与科学发现智能体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BABE21-26C8-4A1F-BAB5-A748D98D9FDA}"/>
              </a:ext>
            </a:extLst>
          </p:cNvPr>
          <p:cNvSpPr txBox="1"/>
          <p:nvPr/>
        </p:nvSpPr>
        <p:spPr>
          <a:xfrm>
            <a:off x="812800" y="3936999"/>
            <a:ext cx="106045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3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两篇论文精读、方法启发与阶段进展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9A5707B-0D67-0818-F5A3-7E430FF34425}"/>
              </a:ext>
            </a:extLst>
          </p:cNvPr>
          <p:cNvCxnSpPr/>
          <p:nvPr/>
        </p:nvCxnSpPr>
        <p:spPr>
          <a:xfrm>
            <a:off x="812800" y="5003800"/>
            <a:ext cx="105410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5F4C8F6-BB47-29E6-BE06-CDA65FEA37E1}"/>
              </a:ext>
            </a:extLst>
          </p:cNvPr>
          <p:cNvSpPr txBox="1"/>
          <p:nvPr/>
        </p:nvSpPr>
        <p:spPr>
          <a:xfrm>
            <a:off x="812800" y="5257799"/>
            <a:ext cx="85725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 MAP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论文解读
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药物发现智能体的设计思路
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 MAESTRO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最新进展与后续工作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4DD9FA8-43A5-0798-48B3-5D8F6F554AB9}"/>
              </a:ext>
            </a:extLst>
          </p:cNvPr>
          <p:cNvSpPr txBox="1"/>
          <p:nvPr/>
        </p:nvSpPr>
        <p:spPr>
          <a:xfrm>
            <a:off x="9461500" y="5587999"/>
            <a:ext cx="21590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2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2026.10.09
</a:t>
            </a:r>
            <a:r>
              <a:rPr lang="zh-CN" altLang="en-US" sz="12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修订资料截至 </a:t>
            </a:r>
            <a:r>
              <a:rPr lang="en-US" altLang="zh-CN" sz="12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10.10</a:t>
            </a:r>
            <a:endParaRPr lang="zh-CN" altLang="en-US" sz="120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3651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2D61899-BCF4-A6BA-4239-704730E20BCB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论文一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研究问题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45D722-3E72-0ACB-4665-5AB0C1F30048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未测药物的单细胞响应预测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745E75-83EC-0C21-6752-7F2A3884E475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核心问题：没有药物扰动谱时，如何预测它在目标细胞中的转录变化？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E5A44EB-0128-5D0E-9EA4-4870006CCA6B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60318478-5B4E-8F26-0DE8-9655BF67603E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nb-NO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Feng et al., 2026, Fig. 1–3 / Methods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D0FF92A-893E-94BB-FCBB-35B9ED68A7D6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C3D0A60-96C3-EB58-5A26-D30475B5EC64}"/>
              </a:ext>
            </a:extLst>
          </p:cNvPr>
          <p:cNvSpPr txBox="1"/>
          <p:nvPr/>
        </p:nvSpPr>
        <p:spPr>
          <a:xfrm>
            <a:off x="609600" y="1993899"/>
            <a:ext cx="50673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现有表示的不足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95C58DD-9128-6644-5171-CC6C8C03CC27}"/>
              </a:ext>
            </a:extLst>
          </p:cNvPr>
          <p:cNvSpPr txBox="1"/>
          <p:nvPr/>
        </p:nvSpPr>
        <p:spPr>
          <a:xfrm>
            <a:off x="609600" y="2463799"/>
            <a:ext cx="5067300" cy="146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药物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ID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只能记住已测分子。单独使用化学结构，也难以表达靶点、作用方向和细胞背景之间的关系。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E45DFC8-6A54-7B88-C333-9CCD99D829FF}"/>
              </a:ext>
            </a:extLst>
          </p:cNvPr>
          <p:cNvSpPr txBox="1"/>
          <p:nvPr/>
        </p:nvSpPr>
        <p:spPr>
          <a:xfrm>
            <a:off x="6388100" y="1993899"/>
            <a:ext cx="51943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研究任务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AC04215-7BF1-EE2D-F065-54273C36BED2}"/>
              </a:ext>
            </a:extLst>
          </p:cNvPr>
          <p:cNvSpPr txBox="1"/>
          <p:nvPr/>
        </p:nvSpPr>
        <p:spPr>
          <a:xfrm>
            <a:off x="6388100" y="2463799"/>
            <a:ext cx="5194300" cy="146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输入：基础细胞状态、药物结构和剂量。
输出：给药后的基因表达，以及相对基础状态的变化。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BEE12A44-3929-B0CA-46EA-BE5706B48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664470"/>
              </p:ext>
            </p:extLst>
          </p:nvPr>
        </p:nvGraphicFramePr>
        <p:xfrm>
          <a:off x="609600" y="4076700"/>
          <a:ext cx="109728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500">
                  <a:extLst>
                    <a:ext uri="{9D8B030D-6E8A-4147-A177-3AD203B41FA5}">
                      <a16:colId xmlns:a16="http://schemas.microsoft.com/office/drawing/2014/main" val="2927388359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2131455828"/>
                    </a:ext>
                  </a:extLst>
                </a:gridCol>
                <a:gridCol w="4914900">
                  <a:extLst>
                    <a:ext uri="{9D8B030D-6E8A-4147-A177-3AD203B41FA5}">
                      <a16:colId xmlns:a16="http://schemas.microsoft.com/office/drawing/2014/main" val="2044686142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评测任务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测试时缺少什么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留出与防泄漏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868698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未见细胞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–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药物组合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目标背景中的响应谱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每个背景留出 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5%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配对，药物在其他背景出现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436863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未测药物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该药物的全部扰动谱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留出 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5%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药物，同时移除图谱内实体、别名及相关边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28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757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BF0F40E-648B-F016-468F-89A36CBFF035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论文一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创新与知识预训练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2D153B-39F7-3AEB-FA3D-FCDCC8B13555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把机制关系写入药物和蛋白表示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84B4BB5-45E0-964A-6ECD-880AFD68D07E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文本提供共同语义空间，对齐结构、蛋白序列、功能注释和有向关系。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B32E95E-0D7D-5089-4F9D-E7B4EFF678E7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24EFA57-BDC9-F95F-3E8C-A28FB701DC92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nb-NO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Feng et al., 2026, Fig. 1a–b / Methods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62D0BB8-733C-C89F-8DD7-181B01E00780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3AC3059-0B51-D217-28AC-EBFCEA28065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961067"/>
            <a:ext cx="6604000" cy="358356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4F75095-E936-B942-63B5-96DF2F698AC6}"/>
              </a:ext>
            </a:extLst>
          </p:cNvPr>
          <p:cNvSpPr txBox="1"/>
          <p:nvPr/>
        </p:nvSpPr>
        <p:spPr>
          <a:xfrm>
            <a:off x="7493000" y="1981199"/>
            <a:ext cx="40894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节点内部对齐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DDFCE34-D6F3-A782-7D5B-3DB5A66AA7A5}"/>
              </a:ext>
            </a:extLst>
          </p:cNvPr>
          <p:cNvSpPr txBox="1"/>
          <p:nvPr/>
        </p:nvSpPr>
        <p:spPr>
          <a:xfrm>
            <a:off x="7493000" y="2451099"/>
            <a:ext cx="4089400" cy="1104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以名称文本为基准，拉近分子结构、蛋白序列与功能描述，形成跨模态实体表示。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54B56A3-2C8F-74EA-C491-C7C293E2C8EB}"/>
              </a:ext>
            </a:extLst>
          </p:cNvPr>
          <p:cNvSpPr txBox="1"/>
          <p:nvPr/>
        </p:nvSpPr>
        <p:spPr>
          <a:xfrm>
            <a:off x="7493000" y="3797299"/>
            <a:ext cx="40894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节点之间对齐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E4A93DD-7006-DBBC-A1D5-0AB4035B6820}"/>
              </a:ext>
            </a:extLst>
          </p:cNvPr>
          <p:cNvSpPr txBox="1"/>
          <p:nvPr/>
        </p:nvSpPr>
        <p:spPr>
          <a:xfrm>
            <a:off x="7493000" y="4267199"/>
            <a:ext cx="4089400" cy="1104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将头实体、关系与尾实体按方向编码，用对比学习区分正确配对与批内负例。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DB74BA5-08BA-67A0-A95B-3D0840A28B53}"/>
              </a:ext>
            </a:extLst>
          </p:cNvPr>
          <p:cNvSpPr txBox="1"/>
          <p:nvPr/>
        </p:nvSpPr>
        <p:spPr>
          <a:xfrm>
            <a:off x="609600" y="5791199"/>
            <a:ext cx="10972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 </a:t>
            </a:r>
            <a:r>
              <a:rPr lang="zh-CN" altLang="en-US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个公共资源     </a:t>
            </a:r>
            <a:r>
              <a:rPr lang="en-US" altLang="zh-CN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187,089 </a:t>
            </a:r>
            <a:r>
              <a:rPr lang="zh-CN" altLang="en-US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个药物     </a:t>
            </a:r>
            <a:r>
              <a:rPr lang="en-US" altLang="zh-CN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22,924 </a:t>
            </a:r>
            <a:r>
              <a:rPr lang="zh-CN" altLang="en-US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个基因     </a:t>
            </a:r>
            <a:r>
              <a:rPr lang="en-US" altLang="zh-CN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694,246 </a:t>
            </a:r>
            <a:r>
              <a:rPr lang="zh-CN" altLang="en-US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条关系</a:t>
            </a:r>
          </a:p>
        </p:txBody>
      </p:sp>
    </p:spTree>
    <p:extLst>
      <p:ext uri="{BB962C8B-B14F-4D97-AF65-F5344CB8AC3E}">
        <p14:creationId xmlns:p14="http://schemas.microsoft.com/office/powerpoint/2010/main" val="503416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A9C0BB0-8025-2708-FA39-2568C159E5AD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论文一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响应预测器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17EC13A-BFB5-1CFB-A348-CBA5576A7483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知识表示与细胞状态共同预测转录响应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28A464-9500-CBD4-8AAA-730AC80D9F63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知识预训练先提供分子与基因先验，监督训练再学习剂量和细胞背景下的响应。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E44F96D-BFDD-1055-8F5B-AA936346FFB3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D798432E-CA1D-7281-372C-146789DD08BA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nb-NO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Feng et al., 2026, Fig. 1c / Methods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FA908B-E1D3-6BC3-321D-507DFFBC685A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6B50032-284F-5D3D-7D10-B7EB608418F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028190"/>
            <a:ext cx="3695700" cy="344932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203D068-A53A-1478-6E82-2F93A18E47A8}"/>
              </a:ext>
            </a:extLst>
          </p:cNvPr>
          <p:cNvSpPr txBox="1"/>
          <p:nvPr/>
        </p:nvSpPr>
        <p:spPr>
          <a:xfrm>
            <a:off x="4914900" y="1981199"/>
            <a:ext cx="6667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输入融合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9198B1A-40B0-21C8-C597-273F3315D642}"/>
              </a:ext>
            </a:extLst>
          </p:cNvPr>
          <p:cNvSpPr txBox="1"/>
          <p:nvPr/>
        </p:nvSpPr>
        <p:spPr>
          <a:xfrm>
            <a:off x="4914900" y="2451099"/>
            <a:ext cx="6667500" cy="1028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STATE SE-600M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提供细胞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与基因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。基因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融合蛋白知识，药物嵌入按对数剂量缩放。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D69197E-2EC6-C7D8-B829-46EC8AA1FBA8}"/>
              </a:ext>
            </a:extLst>
          </p:cNvPr>
          <p:cNvSpPr txBox="1"/>
          <p:nvPr/>
        </p:nvSpPr>
        <p:spPr>
          <a:xfrm>
            <a:off x="4914900" y="3454399"/>
            <a:ext cx="6667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条件响应建模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A3C06E8-D10A-7805-730A-6ADC6AE89F82}"/>
              </a:ext>
            </a:extLst>
          </p:cNvPr>
          <p:cNvSpPr txBox="1"/>
          <p:nvPr/>
        </p:nvSpPr>
        <p:spPr>
          <a:xfrm>
            <a:off x="4914900" y="3924299"/>
            <a:ext cx="66675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层自注意力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Transformer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联合处理药物、细胞和基因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，再由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MLP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解码基因表达。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779FF3B-AED2-B20E-3C68-4A52BA7D2EC7}"/>
              </a:ext>
            </a:extLst>
          </p:cNvPr>
          <p:cNvSpPr txBox="1"/>
          <p:nvPr/>
        </p:nvSpPr>
        <p:spPr>
          <a:xfrm>
            <a:off x="4914900" y="4800599"/>
            <a:ext cx="6667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两层监督信号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EF1ACEA-B30F-0D9C-62B8-15DF859E10B3}"/>
              </a:ext>
            </a:extLst>
          </p:cNvPr>
          <p:cNvSpPr txBox="1"/>
          <p:nvPr/>
        </p:nvSpPr>
        <p:spPr>
          <a:xfrm>
            <a:off x="4914900" y="5270499"/>
            <a:ext cx="66675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同时约束群体平均的扰动细胞嵌入与基因表达，减少“表示接近但表达错误”的情况。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F0C42A2-8181-E949-B7A6-2638ABA7C487}"/>
              </a:ext>
            </a:extLst>
          </p:cNvPr>
          <p:cNvSpPr txBox="1"/>
          <p:nvPr/>
        </p:nvSpPr>
        <p:spPr>
          <a:xfrm>
            <a:off x="609600" y="5854699"/>
            <a:ext cx="109728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 = MSE(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扰动嵌入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 + </a:t>
            </a:r>
            <a:r>
              <a:rPr lang="el-GR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λ ·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MSE(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基因表达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CN" altLang="en-US" b="1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8734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87305F8-E5C0-50CB-3D6B-F8F291D64692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论文一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效果与证据边界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5D5B5BE-F58B-E624-4762-EA7B26BE195C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未测药物预测的收益来自机制知识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E07FFB9-71B6-DFF0-2671-61661AFDE8DF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主要数字为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top-50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差异表达基因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Pearson </a:t>
            </a:r>
            <a:r>
              <a:rPr lang="el-GR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Δ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correlation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，相对最强基线的提升。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C9E97F5-A56D-98D3-FD2C-DC18A5C81D99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200F4E9D-1AA8-0EC6-BBE8-AF889D4B0B59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nb-NO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Feng et al., 2026, Fig. 2–3, 5 / A549 ranking analysis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20E322F-EAED-1B77-2948-3D9EF2F83842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67D00B0-ABE7-61C0-6D42-55FFC87DE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844076"/>
              </p:ext>
            </p:extLst>
          </p:nvPr>
        </p:nvGraphicFramePr>
        <p:xfrm>
          <a:off x="609600" y="2070100"/>
          <a:ext cx="6604000" cy="248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7700">
                  <a:extLst>
                    <a:ext uri="{9D8B030D-6E8A-4147-A177-3AD203B41FA5}">
                      <a16:colId xmlns:a16="http://schemas.microsoft.com/office/drawing/2014/main" val="351478714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254273562"/>
                    </a:ext>
                  </a:extLst>
                </a:gridCol>
                <a:gridCol w="1816100">
                  <a:extLst>
                    <a:ext uri="{9D8B030D-6E8A-4147-A177-3AD203B41FA5}">
                      <a16:colId xmlns:a16="http://schemas.microsoft.com/office/drawing/2014/main" val="164622426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数据集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未见组合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未测药物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84098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Tahoe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条细胞系）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+12.3%</a:t>
                      </a:r>
                      <a:endParaRPr lang="zh-CN" altLang="en-US" sz="1700" b="0">
                        <a:solidFill>
                          <a:srgbClr val="26383D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+11.8%</a:t>
                      </a:r>
                      <a:endParaRPr lang="zh-CN" altLang="en-US" sz="1700" b="0">
                        <a:solidFill>
                          <a:srgbClr val="26383D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06932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SciPlex3</a:t>
                      </a:r>
                      <a:endParaRPr lang="zh-CN" altLang="en-US" sz="1700" b="0">
                        <a:solidFill>
                          <a:srgbClr val="26383D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+6.6%</a:t>
                      </a:r>
                      <a:endParaRPr lang="zh-CN" altLang="en-US" sz="1700" b="0">
                        <a:solidFill>
                          <a:srgbClr val="26383D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+10.4%</a:t>
                      </a:r>
                      <a:endParaRPr lang="zh-CN" altLang="en-US" sz="1700" b="0">
                        <a:solidFill>
                          <a:srgbClr val="26383D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73539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OP3</a:t>
                      </a:r>
                      <a:endParaRPr lang="zh-CN" altLang="en-US" sz="1700" b="0">
                        <a:solidFill>
                          <a:srgbClr val="26383D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—</a:t>
                      </a:r>
                      <a:endParaRPr lang="zh-CN" altLang="en-US" sz="1700" b="0">
                        <a:solidFill>
                          <a:srgbClr val="26383D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+19.8%</a:t>
                      </a:r>
                      <a:endParaRPr lang="zh-CN" altLang="en-US" sz="1700" b="0">
                        <a:solidFill>
                          <a:srgbClr val="26383D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067138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EDDA2DE7-199B-C627-0C37-7E536FDC8520}"/>
              </a:ext>
            </a:extLst>
          </p:cNvPr>
          <p:cNvSpPr txBox="1"/>
          <p:nvPr/>
        </p:nvSpPr>
        <p:spPr>
          <a:xfrm>
            <a:off x="7670800" y="2095499"/>
            <a:ext cx="3911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消融支持知识贡献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919AA1B-D439-A9E2-7688-62D0D92E9550}"/>
              </a:ext>
            </a:extLst>
          </p:cNvPr>
          <p:cNvSpPr txBox="1"/>
          <p:nvPr/>
        </p:nvSpPr>
        <p:spPr>
          <a:xfrm>
            <a:off x="7670800" y="2565399"/>
            <a:ext cx="3911600" cy="1092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MAP-KG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相对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PrimeKG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PDCorr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提高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11.4%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。移除药物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–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基因关系造成最大下降。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1BBD12-9408-FE64-7926-25F5CB424419}"/>
              </a:ext>
            </a:extLst>
          </p:cNvPr>
          <p:cNvSpPr txBox="1"/>
          <p:nvPr/>
        </p:nvSpPr>
        <p:spPr>
          <a:xfrm>
            <a:off x="7670800" y="3873499"/>
            <a:ext cx="3911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计算筛选的可用性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B9273B4-80A8-FAB1-C5FC-521140A3E1CA}"/>
              </a:ext>
            </a:extLst>
          </p:cNvPr>
          <p:cNvSpPr txBox="1"/>
          <p:nvPr/>
        </p:nvSpPr>
        <p:spPr>
          <a:xfrm>
            <a:off x="7670800" y="4343399"/>
            <a:ext cx="3911600" cy="990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A549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58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个留出候选中，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个已批准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NSCLC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药物有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个进入前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54E5EF3-7E69-6A06-1860-62F316685534}"/>
              </a:ext>
            </a:extLst>
          </p:cNvPr>
          <p:cNvCxnSpPr/>
          <p:nvPr/>
        </p:nvCxnSpPr>
        <p:spPr>
          <a:xfrm>
            <a:off x="609600" y="52578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A847F87B-037D-18FC-487C-EFAF3CEA71BE}"/>
              </a:ext>
            </a:extLst>
          </p:cNvPr>
          <p:cNvSpPr txBox="1"/>
          <p:nvPr/>
        </p:nvSpPr>
        <p:spPr>
          <a:xfrm>
            <a:off x="609600" y="5537199"/>
            <a:ext cx="109728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转录响应与通路排序支持候选优先级。该 </a:t>
            </a:r>
            <a:r>
              <a:rPr lang="en-US" altLang="zh-CN" sz="17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A549 </a:t>
            </a:r>
            <a:r>
              <a:rPr lang="zh-CN" altLang="en-US" sz="17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分析属于计算筛选，后续仍需功能与药效实验。</a:t>
            </a:r>
          </a:p>
        </p:txBody>
      </p:sp>
    </p:spTree>
    <p:extLst>
      <p:ext uri="{BB962C8B-B14F-4D97-AF65-F5344CB8AC3E}">
        <p14:creationId xmlns:p14="http://schemas.microsoft.com/office/powerpoint/2010/main" val="3636229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EB050C8-0102-1ECA-1DE0-87AE6232E5B9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研究问题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2DB8C75-3EF2-3C4B-E0CB-801636D1C195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科学发现需要连接假设、实验和新数据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2449A64-1DD7-F78C-18C1-E9D36481C6A3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核心问题：智能体能否依据文献提出可检验假设，并用真实实验结果修正下一轮候选？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0EAFBC6-518A-F62F-2EC2-F5F101A58889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987E791F-B912-53BB-0597-7608C806CEA8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Ghareeb et al., 2026, Introduction / dAMD case study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7567B5C-7A29-9E19-1967-91F66FECAEDD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A1434D3-E34C-E414-7A6D-0A83F864F552}"/>
              </a:ext>
            </a:extLst>
          </p:cNvPr>
          <p:cNvSpPr txBox="1"/>
          <p:nvPr/>
        </p:nvSpPr>
        <p:spPr>
          <a:xfrm>
            <a:off x="609600" y="2158999"/>
            <a:ext cx="5143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已有系统的缺口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B1DD89C-D4F5-CF0C-C903-91FABD4FB54B}"/>
              </a:ext>
            </a:extLst>
          </p:cNvPr>
          <p:cNvSpPr txBox="1"/>
          <p:nvPr/>
        </p:nvSpPr>
        <p:spPr>
          <a:xfrm>
            <a:off x="609600" y="2628899"/>
            <a:ext cx="5143500" cy="151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文献问答和假设生成已有进展，但从原始数据分析到假设更新的衔接较弱。药物再利用还需要跨领域整合证据。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50A50E0-6AB0-EBF6-36B3-7CB2791D90FD}"/>
              </a:ext>
            </a:extLst>
          </p:cNvPr>
          <p:cNvSpPr txBox="1"/>
          <p:nvPr/>
        </p:nvSpPr>
        <p:spPr>
          <a:xfrm>
            <a:off x="6438900" y="2158999"/>
            <a:ext cx="5143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论文选择的疾病场景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AE1185E-3C84-A00C-8547-A4A719D23DA6}"/>
              </a:ext>
            </a:extLst>
          </p:cNvPr>
          <p:cNvSpPr txBox="1"/>
          <p:nvPr/>
        </p:nvSpPr>
        <p:spPr>
          <a:xfrm>
            <a:off x="6438900" y="2628899"/>
            <a:ext cx="5143500" cy="151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干性年龄相关性黄斑变性（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dAMD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）。视网膜色素上皮（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RPE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）功能下降，研究以增强吞噬功能为可测的干预方向。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2FD8AD1-1847-EED9-0260-8657A029233E}"/>
              </a:ext>
            </a:extLst>
          </p:cNvPr>
          <p:cNvCxnSpPr/>
          <p:nvPr/>
        </p:nvCxnSpPr>
        <p:spPr>
          <a:xfrm>
            <a:off x="609600" y="41656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B0AFD75F-6A5F-BDEF-A034-C01E45701D9A}"/>
              </a:ext>
            </a:extLst>
          </p:cNvPr>
          <p:cNvSpPr txBox="1"/>
          <p:nvPr/>
        </p:nvSpPr>
        <p:spPr>
          <a:xfrm>
            <a:off x="609600" y="4457699"/>
            <a:ext cx="109728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3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疾病目标需要先转换成一个实验可以回答的问题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5C3BED4-2B7F-6465-BF56-EE9DA81B5D2F}"/>
              </a:ext>
            </a:extLst>
          </p:cNvPr>
          <p:cNvSpPr txBox="1"/>
          <p:nvPr/>
        </p:nvSpPr>
        <p:spPr>
          <a:xfrm>
            <a:off x="609600" y="5206999"/>
            <a:ext cx="109728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采用什么细胞模型和吞噬底物？怎样区分有效候选与测量背景？新数据支持保留还是修改机制假设？</a:t>
            </a:r>
          </a:p>
        </p:txBody>
      </p:sp>
    </p:spTree>
    <p:extLst>
      <p:ext uri="{BB962C8B-B14F-4D97-AF65-F5344CB8AC3E}">
        <p14:creationId xmlns:p14="http://schemas.microsoft.com/office/powerpoint/2010/main" val="68325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1A97A28-7AAE-A3CB-9E0B-3DD600EBDDEA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多智能体分工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5327ACB-3509-171A-7951-34A3C031510C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检索智能体提出假设，分析智能体处理原始数据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33F6C1-F888-03A0-5D52-B92B4DFCB446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协调器管理任务，工具执行和可追溯证据承担关键工作。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333933F-E7E1-D254-D29C-C6FD519FD23B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7373414A-8C98-5935-FA92-C4C86E4B7783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Ghareeb et al., 2026, Fig. 1 / Agent architecture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01947BB-28D6-549B-C6DB-6615EB12812D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07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F8C27CD-5CAA-E278-D97D-974435A5503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678" y="1917700"/>
            <a:ext cx="4583044" cy="42164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857AB00-C2C3-28A6-5A07-95BF90BA17E3}"/>
              </a:ext>
            </a:extLst>
          </p:cNvPr>
          <p:cNvSpPr txBox="1"/>
          <p:nvPr/>
        </p:nvSpPr>
        <p:spPr>
          <a:xfrm>
            <a:off x="6019800" y="1993899"/>
            <a:ext cx="5562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Crow 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Falcon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：证据到候选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50DB19-2C97-A747-8809-CD9514504955}"/>
              </a:ext>
            </a:extLst>
          </p:cNvPr>
          <p:cNvSpPr txBox="1"/>
          <p:nvPr/>
        </p:nvSpPr>
        <p:spPr>
          <a:xfrm>
            <a:off x="6019800" y="2463799"/>
            <a:ext cx="5562600" cy="1092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Crow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快速总结机制与实验读数。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Falcon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深入分析候选、证据和局限，排序后交由研究者选择。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FFFD8E3-949B-3D71-2B89-B37427C08108}"/>
              </a:ext>
            </a:extLst>
          </p:cNvPr>
          <p:cNvSpPr txBox="1"/>
          <p:nvPr/>
        </p:nvSpPr>
        <p:spPr>
          <a:xfrm>
            <a:off x="6019800" y="3555999"/>
            <a:ext cx="5562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Finch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：原始数据到结论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84EF5BC-C215-D47D-8EDC-1D88CB52B1E5}"/>
              </a:ext>
            </a:extLst>
          </p:cNvPr>
          <p:cNvSpPr txBox="1"/>
          <p:nvPr/>
        </p:nvSpPr>
        <p:spPr>
          <a:xfrm>
            <a:off x="6019800" y="4025899"/>
            <a:ext cx="5562600" cy="1028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Jupyter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中执行流式和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RNA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分析。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条独立分析轨迹保留代码与结果，再形成共识。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60B011D-3043-2773-95AD-C335CFC23A40}"/>
              </a:ext>
            </a:extLst>
          </p:cNvPr>
          <p:cNvSpPr txBox="1"/>
          <p:nvPr/>
        </p:nvSpPr>
        <p:spPr>
          <a:xfrm>
            <a:off x="6019800" y="5118099"/>
            <a:ext cx="5562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实验反馈推动下一轮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396F817-7F5B-5599-7B07-4D1D4239043B}"/>
              </a:ext>
            </a:extLst>
          </p:cNvPr>
          <p:cNvSpPr txBox="1"/>
          <p:nvPr/>
        </p:nvSpPr>
        <p:spPr>
          <a:xfrm>
            <a:off x="6019800" y="5587999"/>
            <a:ext cx="5562600" cy="838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研究者执行湿实验，系统据结果重审机制并提出下一批药物。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条轨迹属于分析重复。</a:t>
            </a:r>
          </a:p>
        </p:txBody>
      </p:sp>
    </p:spTree>
    <p:extLst>
      <p:ext uri="{BB962C8B-B14F-4D97-AF65-F5344CB8AC3E}">
        <p14:creationId xmlns:p14="http://schemas.microsoft.com/office/powerpoint/2010/main" val="3120752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CE232C3-C620-9432-D1A9-0780B5A0ECF8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生物学验证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C97439D-0F9C-9D92-0449-6F632745A081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 </a:t>
            </a:r>
            <a:r>
              <a:rPr lang="en-US" altLang="zh-CN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ROCK </a:t>
            </a: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抑制命中到 </a:t>
            </a:r>
            <a:r>
              <a:rPr lang="en-US" altLang="zh-CN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ripasudil </a:t>
            </a: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再利用假设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C6F5BCA-2DB1-94FB-E94C-2C51A62E3B86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第一轮实验结果和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RNA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分析共同推动第二轮候选更新。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3015AAE-387C-B4D7-6A69-38441B50D80F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2D935111-2475-B84C-1A3B-C65D9D770AEC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Ghareeb et al., 2026, Fig. 3–4 / Human wet-lab validation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E78873F-0C8F-C716-4288-5D760BE6C5A6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08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CE48259-14CE-B7EB-891B-B71F3A7A5A08}"/>
              </a:ext>
            </a:extLst>
          </p:cNvPr>
          <p:cNvSpPr txBox="1"/>
          <p:nvPr/>
        </p:nvSpPr>
        <p:spPr>
          <a:xfrm>
            <a:off x="609600" y="1943099"/>
            <a:ext cx="5308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第一轮：建立实验和机制线索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62E44C4-88EC-6087-8399-831C82427984}"/>
              </a:ext>
            </a:extLst>
          </p:cNvPr>
          <p:cNvSpPr txBox="1"/>
          <p:nvPr/>
        </p:nvSpPr>
        <p:spPr>
          <a:xfrm>
            <a:off x="609600" y="2412999"/>
            <a:ext cx="53086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ARPE-19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吞噬筛选命中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Y-27632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RNA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分析发现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ABCA1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约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倍上调，提示进一步考察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ROCK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相关机制。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664780-135C-71A6-0083-A576B6225374}"/>
              </a:ext>
            </a:extLst>
          </p:cNvPr>
          <p:cNvSpPr txBox="1"/>
          <p:nvPr/>
        </p:nvSpPr>
        <p:spPr>
          <a:xfrm>
            <a:off x="6477000" y="1943099"/>
            <a:ext cx="51054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第二轮：检验新候选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461DCA-EC2B-93B0-7E4F-71F313A53ABA}"/>
              </a:ext>
            </a:extLst>
          </p:cNvPr>
          <p:cNvSpPr txBox="1"/>
          <p:nvPr/>
        </p:nvSpPr>
        <p:spPr>
          <a:xfrm>
            <a:off x="6477000" y="2412999"/>
            <a:ext cx="51054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ripasudil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的吞噬读数为对照的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1.89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倍。原代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RPE-SC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配合牛视网膜外节验证，另有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KL001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命中。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DD6F8B3-AB6D-066E-2887-F1963BB8217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201" y="3594100"/>
            <a:ext cx="6392199" cy="23368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0244E9E-3ED5-5630-C514-FF07A5C9B54C}"/>
              </a:ext>
            </a:extLst>
          </p:cNvPr>
          <p:cNvSpPr txBox="1"/>
          <p:nvPr/>
        </p:nvSpPr>
        <p:spPr>
          <a:xfrm>
            <a:off x="8877300" y="3657599"/>
            <a:ext cx="2705100" cy="162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验证层级
细胞系筛选
原代细胞复核
剂量响应分析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318990A-5B75-6697-7253-1409F199373C}"/>
              </a:ext>
            </a:extLst>
          </p:cNvPr>
          <p:cNvSpPr txBox="1"/>
          <p:nvPr/>
        </p:nvSpPr>
        <p:spPr>
          <a:xfrm>
            <a:off x="8877300" y="5283199"/>
            <a:ext cx="27051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原代样本来自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位供者，孔重复不能代替供者重复。机制因果与临床效益仍待验证。</a:t>
            </a:r>
          </a:p>
        </p:txBody>
      </p:sp>
    </p:spTree>
    <p:extLst>
      <p:ext uri="{BB962C8B-B14F-4D97-AF65-F5344CB8AC3E}">
        <p14:creationId xmlns:p14="http://schemas.microsoft.com/office/powerpoint/2010/main" val="2919891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685650F-80F7-D361-C495-E749BD92C13A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系统效果与局限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3194F7-6628-707F-02A3-FC38E1B6F1DE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证据检索与代码执行带来可测的改进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419E337-D259-12EE-EC5F-251B8ECDB62D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生物学案例之外，论文还对智能体组件进行消融和任务评测。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D5F1EEF-7BB3-CA9B-8AD0-B40800837513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B2D6B512-2689-E1B3-8EA8-02ED2819D826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Ghareeb et al., 2026, Fig. 5 / Extended Data / BixBench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D74BBCD-0E20-7368-0B5F-0C31C04F2DA3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F46CC0AC-200E-D69F-712B-E47D634E24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682739"/>
              </p:ext>
            </p:extLst>
          </p:nvPr>
        </p:nvGraphicFramePr>
        <p:xfrm>
          <a:off x="609600" y="1993900"/>
          <a:ext cx="10972800" cy="3238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4300">
                  <a:extLst>
                    <a:ext uri="{9D8B030D-6E8A-4147-A177-3AD203B41FA5}">
                      <a16:colId xmlns:a16="http://schemas.microsoft.com/office/drawing/2014/main" val="841079424"/>
                    </a:ext>
                  </a:extLst>
                </a:gridCol>
                <a:gridCol w="3924300">
                  <a:extLst>
                    <a:ext uri="{9D8B030D-6E8A-4147-A177-3AD203B41FA5}">
                      <a16:colId xmlns:a16="http://schemas.microsoft.com/office/drawing/2014/main" val="4198329164"/>
                    </a:ext>
                  </a:extLst>
                </a:gridCol>
                <a:gridCol w="4394200">
                  <a:extLst>
                    <a:ext uri="{9D8B030D-6E8A-4147-A177-3AD203B41FA5}">
                      <a16:colId xmlns:a16="http://schemas.microsoft.com/office/drawing/2014/main" val="1430821837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评测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报告结果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能够支持的结论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741387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文献引用消融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o4-mini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虚构引用 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44.5%
Crow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检查样本未见虚构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检索和溯源提高引用可靠性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14974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BixBench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170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题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Finch 22.8%
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无工具 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Sonnet 3.7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为 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1.6%</a:t>
                      </a:r>
                      <a:endParaRPr lang="zh-CN" altLang="en-US" sz="1700" b="0">
                        <a:solidFill>
                          <a:srgbClr val="26383D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代码工具和分析流程有增益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482329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发现过程时间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551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篇论文，约 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30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分钟
认知工作 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&lt;2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小时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作者估计节省人力时间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65590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C33680C4-03CD-B5A1-70D4-7091247832D0}"/>
              </a:ext>
            </a:extLst>
          </p:cNvPr>
          <p:cNvSpPr txBox="1"/>
          <p:nvPr/>
        </p:nvSpPr>
        <p:spPr>
          <a:xfrm>
            <a:off x="609600" y="5499099"/>
            <a:ext cx="10972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0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可复用贡献：把引用、</a:t>
            </a:r>
            <a:r>
              <a:rPr lang="en-US" altLang="zh-CN" sz="20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notebook </a:t>
            </a:r>
            <a:r>
              <a:rPr lang="zh-CN" altLang="en-US" sz="20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和实验反馈留在证据链中。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9570F58-8D3B-EE34-7961-094E97C25D56}"/>
              </a:ext>
            </a:extLst>
          </p:cNvPr>
          <p:cNvSpPr txBox="1"/>
          <p:nvPr/>
        </p:nvSpPr>
        <p:spPr>
          <a:xfrm>
            <a:off x="609600" y="5994399"/>
            <a:ext cx="109728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主要局限：专家提示与人工实验仍必要。单一疾病案例和任务子集，不能证明通用自主发现能力。</a:t>
            </a:r>
          </a:p>
        </p:txBody>
      </p:sp>
    </p:spTree>
    <p:extLst>
      <p:ext uri="{BB962C8B-B14F-4D97-AF65-F5344CB8AC3E}">
        <p14:creationId xmlns:p14="http://schemas.microsoft.com/office/powerpoint/2010/main" val="3639522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1EE8BA3-EAA0-832A-5339-02A4FEC003BC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方法启发   药物发现智能体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知识表示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4DD1FA-1676-5870-1677-D1CC8C394B67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机制知识可以约束候选生成与模型外推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2C8D00E-072B-942D-1B34-A1D51D07C7B2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可采纳的设计思路：让每个候选携带结构化机制证据，再进入预测和筛选。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F2004F4-3F6D-BE09-2C9A-8EC7DC53D568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0346DFDB-E389-C7E7-FF9F-F77AEA00DBC4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设计建议，依据 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；尚需独立评测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1CED82-BA9C-004E-F017-A48910C894A9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099E971-77EC-F5D1-9002-CE76FCD94E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958811"/>
              </p:ext>
            </p:extLst>
          </p:nvPr>
        </p:nvGraphicFramePr>
        <p:xfrm>
          <a:off x="609600" y="2019300"/>
          <a:ext cx="10972800" cy="3162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1594085794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486897758"/>
                    </a:ext>
                  </a:extLst>
                </a:gridCol>
                <a:gridCol w="3797300">
                  <a:extLst>
                    <a:ext uri="{9D8B030D-6E8A-4147-A177-3AD203B41FA5}">
                      <a16:colId xmlns:a16="http://schemas.microsoft.com/office/drawing/2014/main" val="3877930226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知识对象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智能体如何使用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进入系统的条件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682767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分子结构与已知作用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检索近邻、补充候选解释
支持新分子的响应预测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统一实体与别名，记录来源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652964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有方向的药物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–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靶点关系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区分抑制和激活
形成可反驳的机制假设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保留作用方向、条件与证据等级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67044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基因功能与细胞背景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判断靶点是否在目标背景有效
选择预期变化的通路或读数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绑定细胞、剂量、时间和测量类型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120388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5C5FC0D5-0A9F-81A1-08A7-CBF4A457EB76}"/>
              </a:ext>
            </a:extLst>
          </p:cNvPr>
          <p:cNvSpPr txBox="1"/>
          <p:nvPr/>
        </p:nvSpPr>
        <p:spPr>
          <a:xfrm>
            <a:off x="609600" y="5562599"/>
            <a:ext cx="109728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知识表示解决“如何外推”，检索证据支持“为何提出该候选”。两者可共用来源，但需要分别评测。</a:t>
            </a:r>
          </a:p>
        </p:txBody>
      </p:sp>
    </p:spTree>
    <p:extLst>
      <p:ext uri="{BB962C8B-B14F-4D97-AF65-F5344CB8AC3E}">
        <p14:creationId xmlns:p14="http://schemas.microsoft.com/office/powerpoint/2010/main" val="4237952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B95B6C5-4CF8-F282-18B8-425484AEA488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方法启发   药物发现智能体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实验闭环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25E7C8E-87D6-C718-5BBC-98C0DB168935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功能读数驱动的候选更新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00036AA-73A4-FC00-C943-887F2E2A7181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可采纳的设计思路：沿用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的角色分工，用可执行工具把假设接到实验。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2E40F85-6CE8-3DEF-5B06-5FAED6F50C5B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972905BE-EDE3-86F5-5729-52F6EB22C7FF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设计建议，依据 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；实验执行与审核仍需研究者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8C5460C-1FAD-9E85-A255-AC4E4FC988D8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DAED177-67D7-7DCF-6C72-7D8E74B61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748643"/>
              </p:ext>
            </p:extLst>
          </p:nvPr>
        </p:nvGraphicFramePr>
        <p:xfrm>
          <a:off x="609600" y="2032000"/>
          <a:ext cx="109728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5900">
                  <a:extLst>
                    <a:ext uri="{9D8B030D-6E8A-4147-A177-3AD203B41FA5}">
                      <a16:colId xmlns:a16="http://schemas.microsoft.com/office/drawing/2014/main" val="327865693"/>
                    </a:ext>
                  </a:extLst>
                </a:gridCol>
                <a:gridCol w="4279900">
                  <a:extLst>
                    <a:ext uri="{9D8B030D-6E8A-4147-A177-3AD203B41FA5}">
                      <a16:colId xmlns:a16="http://schemas.microsoft.com/office/drawing/2014/main" val="2820271041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3959859598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阶段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交付内容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接受或退回的标准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888895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疾病与读数检索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疾病机制证据，适用的实验模型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读数与疾病目标相关，条件明确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918125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候选与实验设计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有引用的机制假设、阳性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阴性对照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候选可检验，区分竞争解释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240909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实验数据分析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原始数据、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QC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、代码、效应与区间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分析可复现，实验单位统计正确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47235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下一轮候选更新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保留、淘汰或修改的具体理由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更新来自新证据，记录失败结果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554942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1C52AD66-BD46-DBD2-3A88-850A00949B95}"/>
              </a:ext>
            </a:extLst>
          </p:cNvPr>
          <p:cNvSpPr txBox="1"/>
          <p:nvPr/>
        </p:nvSpPr>
        <p:spPr>
          <a:xfrm>
            <a:off x="609600" y="5702299"/>
            <a:ext cx="109728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例：预测某药提高吞噬功能，同时检验细胞死亡、荧光背景与独立供者，排除“读数升高”的替代解释。</a:t>
            </a:r>
          </a:p>
        </p:txBody>
      </p:sp>
    </p:spTree>
    <p:extLst>
      <p:ext uri="{BB962C8B-B14F-4D97-AF65-F5344CB8AC3E}">
        <p14:creationId xmlns:p14="http://schemas.microsoft.com/office/powerpoint/2010/main" val="3020327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05F32A2-9AD4-7BCF-3AFD-FECB71ABA6D1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方法启发   药物发现智能体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联合评测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67BC4D8-9DFD-8879-A6B8-BE0DA1C5D339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预测收益、知识收益与决策收益分别验证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81A98DD-6F07-E40D-8EAB-AA83EB72CC56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两篇论文可组合成“知识预测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实验反馈”方案，效果需要通过有归因的比较建立。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DE8FE01-F9F1-3AD2-5761-535F242EDE62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2DC4E9F7-5750-D92C-E031-C3ABD38C693A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拟议评测方案；方法依据 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768FCC4-CFE5-01A6-C6B9-DDA16E9ED7D1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0865DDB-64D3-B867-7E94-AEAF50A49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576285"/>
              </p:ext>
            </p:extLst>
          </p:nvPr>
        </p:nvGraphicFramePr>
        <p:xfrm>
          <a:off x="609600" y="2057400"/>
          <a:ext cx="10972800" cy="3314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9100">
                  <a:extLst>
                    <a:ext uri="{9D8B030D-6E8A-4147-A177-3AD203B41FA5}">
                      <a16:colId xmlns:a16="http://schemas.microsoft.com/office/drawing/2014/main" val="2568176283"/>
                    </a:ext>
                  </a:extLst>
                </a:gridCol>
                <a:gridCol w="4737100">
                  <a:extLst>
                    <a:ext uri="{9D8B030D-6E8A-4147-A177-3AD203B41FA5}">
                      <a16:colId xmlns:a16="http://schemas.microsoft.com/office/drawing/2014/main" val="1312831433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4212725099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需要回答的问题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比较设计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主要读数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731151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机制知识是否帮助外推？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结构模型、完整知识、打乱关系
严格留出药物与关联图谱信息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响应误差与方向准确率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988208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转录预测是否帮助选药？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实测响应上限、廉价先验、预测响应
在匹配的功能实验中比较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候选命中率、效应与区间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327215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智能体是否值得引入？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同数据、工具、候选菜单和预算
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LLM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与确定性策略比较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有效命中、错误行动及总成本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187399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1AFB358B-4307-2A09-97B6-73CF18137C74}"/>
              </a:ext>
            </a:extLst>
          </p:cNvPr>
          <p:cNvSpPr txBox="1"/>
          <p:nvPr/>
        </p:nvSpPr>
        <p:spPr>
          <a:xfrm>
            <a:off x="609600" y="5702299"/>
            <a:ext cx="109728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进入实验前的输出：候选、预期效应、证据来源、反证条件、成本和停止规则。</a:t>
            </a:r>
          </a:p>
        </p:txBody>
      </p:sp>
    </p:spTree>
    <p:extLst>
      <p:ext uri="{BB962C8B-B14F-4D97-AF65-F5344CB8AC3E}">
        <p14:creationId xmlns:p14="http://schemas.microsoft.com/office/powerpoint/2010/main" val="3133630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37E7A2-8FAF-0092-CB5B-1877ED62DA4A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阶段总结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MAESTRO / 0927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之后的进展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6F3C19-F02F-883A-253A-3FD42501AC3C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运行闭环、数据坐标和采购效率已有实质推进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FDFD9ED-9230-5EAF-7B05-EC3C123B7C72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0927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的主要限制是选择优势与有效独立样本不足。后续先补齐可执行和可复核的基础。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5D916D8-70A0-F158-E4CF-F34666BF684D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9C0761A3-70D9-54FC-CAEF-F4942AC49612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项目记录：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research/REPORT.md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EVIDENCE.md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log/20261010/P05R_EXTENSION.json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19D6B8-C677-9516-0E50-D88271A8E25C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A48C8C4-C5E4-B3A5-9EA9-12F21CAD77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814517"/>
              </p:ext>
            </p:extLst>
          </p:nvPr>
        </p:nvGraphicFramePr>
        <p:xfrm>
          <a:off x="609600" y="2032000"/>
          <a:ext cx="10972800" cy="336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400">
                  <a:extLst>
                    <a:ext uri="{9D8B030D-6E8A-4147-A177-3AD203B41FA5}">
                      <a16:colId xmlns:a16="http://schemas.microsoft.com/office/drawing/2014/main" val="1372024008"/>
                    </a:ext>
                  </a:extLst>
                </a:gridCol>
                <a:gridCol w="5397500">
                  <a:extLst>
                    <a:ext uri="{9D8B030D-6E8A-4147-A177-3AD203B41FA5}">
                      <a16:colId xmlns:a16="http://schemas.microsoft.com/office/drawing/2014/main" val="87100662"/>
                    </a:ext>
                  </a:extLst>
                </a:gridCol>
                <a:gridCol w="3263900">
                  <a:extLst>
                    <a:ext uri="{9D8B030D-6E8A-4147-A177-3AD203B41FA5}">
                      <a16:colId xmlns:a16="http://schemas.microsoft.com/office/drawing/2014/main" val="1277866304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推进方向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截至 </a:t>
                      </a:r>
                      <a:r>
                        <a:rPr lang="en-US" altLang="zh-CN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10.10 </a:t>
                      </a:r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的结果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形成的能力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798130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运行闭环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验证两轮工具与测量反馈
支持持久化、预算、重试和重启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真实调用链可追踪和复现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0293511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端点坐标认证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c44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c45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均唯一匹配 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39/39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基因
对照全部 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62,710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个源基因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指定文件中的端点身份明确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267617"/>
                  </a:ext>
                </a:extLst>
              </a:tr>
              <a:tr h="1092200"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采集与采购效率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c45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新增 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133,564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表达字节，减少 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60.7%
V3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预采购停止：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129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次减少至 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35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次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更少数据完成认证
减少不会使用的购买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846973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171119EF-8CA9-FBFD-52F7-8A2F7C0AF365}"/>
              </a:ext>
            </a:extLst>
          </p:cNvPr>
          <p:cNvSpPr txBox="1"/>
          <p:nvPr/>
        </p:nvSpPr>
        <p:spPr>
          <a:xfrm>
            <a:off x="609600" y="5765799"/>
            <a:ext cx="10972800" cy="520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6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坐标结果属于文件内身份认证，采购节省来自匹配动作保持一致的模拟。二者为后续评测降低成本。</a:t>
            </a:r>
          </a:p>
        </p:txBody>
      </p:sp>
    </p:spTree>
    <p:extLst>
      <p:ext uri="{BB962C8B-B14F-4D97-AF65-F5344CB8AC3E}">
        <p14:creationId xmlns:p14="http://schemas.microsoft.com/office/powerpoint/2010/main" val="1132227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79336E4-92AB-F296-134E-966AC3C5511B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阶段总结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MAESTRO / 10.10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表型读数研究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2E08EC-2213-88B8-D0D6-691FF93B7FF2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G1 </a:t>
            </a: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组成读数出现可量化的预测信号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56E9CE6-7556-3485-9E5B-B14915845903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同一球状培养单元的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24 h RNA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与表型读数，覆盖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checkpoint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留出背景、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379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种药物。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97865EA-E306-4286-93E0-BDFF51F5ADDE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30F556F8-A406-5E21-482A-89D6BA41C8A7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项目记录：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research/astra/phenotype_anchor_20261010/RESULTS.json 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PROTOCOL.md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B5AC13E-D1FE-9AAA-0A22-1BC2FBAC9F2F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9BCC99-C9BC-5924-34D2-8DFA12892178}"/>
              </a:ext>
            </a:extLst>
          </p:cNvPr>
          <p:cNvSpPr txBox="1"/>
          <p:nvPr/>
        </p:nvSpPr>
        <p:spPr>
          <a:xfrm>
            <a:off x="609600" y="2031999"/>
            <a:ext cx="49276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42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+0.254 r</a:t>
            </a:r>
            <a:endParaRPr lang="zh-CN" altLang="en-US" sz="4200" b="1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05022B3-9817-82D1-BFDA-95FFB223F149}"/>
              </a:ext>
            </a:extLst>
          </p:cNvPr>
          <p:cNvSpPr txBox="1"/>
          <p:nvPr/>
        </p:nvSpPr>
        <p:spPr>
          <a:xfrm>
            <a:off x="609600" y="2984499"/>
            <a:ext cx="53594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预测细胞 </a:t>
            </a:r>
            <a:r>
              <a:rPr lang="en-US" altLang="zh-CN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G1 </a:t>
            </a:r>
            <a:r>
              <a:rPr lang="zh-CN" altLang="en-US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组成 </a:t>
            </a:r>
            <a:r>
              <a:rPr lang="en-US" altLang="zh-CN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vs </a:t>
            </a:r>
            <a:r>
              <a:rPr lang="zh-CN" altLang="en-US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基础相似性方法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5A0CC1C-E1F3-2D78-18D5-E2DE84A96C73}"/>
              </a:ext>
            </a:extLst>
          </p:cNvPr>
          <p:cNvSpPr txBox="1"/>
          <p:nvPr/>
        </p:nvSpPr>
        <p:spPr>
          <a:xfrm>
            <a:off x="609600" y="3581399"/>
            <a:ext cx="5359400" cy="1308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平均相关系数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0.350 vs 0.096
95% CI [0.156, 0.367]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4/5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背景更好
这是由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RNA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推导的细胞周期组成。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C32D3B-C1D4-8A87-401D-2AA04D1706E2}"/>
              </a:ext>
            </a:extLst>
          </p:cNvPr>
          <p:cNvSpPr txBox="1"/>
          <p:nvPr/>
        </p:nvSpPr>
        <p:spPr>
          <a:xfrm>
            <a:off x="6540500" y="2031999"/>
            <a:ext cx="50419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42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+0.558 log₂</a:t>
            </a:r>
            <a:endParaRPr lang="zh-CN" altLang="en-US" sz="4200" b="1">
              <a:solidFill>
                <a:srgbClr val="637F9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8E273CF-EAAE-3E8E-4D6E-FB3C90A0CAAE}"/>
              </a:ext>
            </a:extLst>
          </p:cNvPr>
          <p:cNvSpPr txBox="1"/>
          <p:nvPr/>
        </p:nvSpPr>
        <p:spPr>
          <a:xfrm>
            <a:off x="6540500" y="2984499"/>
            <a:ext cx="50419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基础相似性迁移的生存选择效用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3510F49-C91F-BAFA-D5DF-D8B43B6E5E04}"/>
              </a:ext>
            </a:extLst>
          </p:cNvPr>
          <p:cNvSpPr txBox="1"/>
          <p:nvPr/>
        </p:nvSpPr>
        <p:spPr>
          <a:xfrm>
            <a:off x="6540500" y="3581399"/>
            <a:ext cx="5041900" cy="1308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top-10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相对通用药物强度排序的提升
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95% CI [0.235, 0.819]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5/5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背景更好
支持利用廉价先验改善该任务的排序。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12642EF-4066-56B2-B7F5-8135AAF68061}"/>
              </a:ext>
            </a:extLst>
          </p:cNvPr>
          <p:cNvCxnSpPr/>
          <p:nvPr/>
        </p:nvCxnSpPr>
        <p:spPr>
          <a:xfrm>
            <a:off x="609600" y="52832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4594AE94-58AA-E302-7AA4-5582C65B9BAB}"/>
              </a:ext>
            </a:extLst>
          </p:cNvPr>
          <p:cNvSpPr txBox="1"/>
          <p:nvPr/>
        </p:nvSpPr>
        <p:spPr>
          <a:xfrm>
            <a:off x="609600" y="5511799"/>
            <a:ext cx="10972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按端点决定模型准入：生存选择性主分析中 </a:t>
            </a:r>
            <a:r>
              <a:rPr lang="en-US" altLang="zh-CN" sz="17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STATE </a:t>
            </a:r>
            <a:r>
              <a:rPr lang="zh-CN" altLang="en-US" sz="17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较基础方法 </a:t>
            </a:r>
            <a:r>
              <a:rPr lang="en-US" altLang="zh-CN" sz="17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Δr = −0.226</a:t>
            </a:r>
            <a:r>
              <a:rPr lang="zh-CN" altLang="en-US" sz="17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，当前未准入。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8619896-12C6-1DB2-FACB-8DB74837BE82}"/>
              </a:ext>
            </a:extLst>
          </p:cNvPr>
          <p:cNvSpPr txBox="1"/>
          <p:nvPr/>
        </p:nvSpPr>
        <p:spPr>
          <a:xfrm>
            <a:off x="609600" y="5968999"/>
            <a:ext cx="109728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4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已有背景暴露与先验重叠，当前结果仍属于开发研究；</a:t>
            </a:r>
            <a:r>
              <a:rPr lang="en-US" altLang="zh-CN" sz="14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G1 </a:t>
            </a:r>
            <a:r>
              <a:rPr lang="zh-CN" altLang="en-US" sz="14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信号尚未建立独立生物确认或总体决策收益。</a:t>
            </a:r>
          </a:p>
        </p:txBody>
      </p:sp>
    </p:spTree>
    <p:extLst>
      <p:ext uri="{BB962C8B-B14F-4D97-AF65-F5344CB8AC3E}">
        <p14:creationId xmlns:p14="http://schemas.microsoft.com/office/powerpoint/2010/main" val="4174963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6F6BC52-1FF8-2090-A955-D537271EED7D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阶段总结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MAESTRO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后续工作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E5B993B-D1E9-A69A-45CA-DF8426A654C5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观测可靠性与知识反馈的下一阶段评测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B4F5731-A8E9-D0EE-7966-0042D6A28B4F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39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个端点坐标的认证，为下一阶段观测可靠性研究补齐了指定文件的前置条件。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A7FBE73-7C44-D77F-504C-F482143CACBE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44774766-ED82-88E1-12C7-9D00D3347EBA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下一阶段为拟议工作；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P0.6 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尚未放行执行，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P2 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仍关闭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C449862-004E-4DB9-060C-799FCD41E62E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78CA74D4-F917-4B9E-4D49-556D272890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858108"/>
              </p:ext>
            </p:extLst>
          </p:nvPr>
        </p:nvGraphicFramePr>
        <p:xfrm>
          <a:off x="609600" y="2044700"/>
          <a:ext cx="109728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800">
                  <a:extLst>
                    <a:ext uri="{9D8B030D-6E8A-4147-A177-3AD203B41FA5}">
                      <a16:colId xmlns:a16="http://schemas.microsoft.com/office/drawing/2014/main" val="2119817435"/>
                    </a:ext>
                  </a:extLst>
                </a:gridCol>
                <a:gridCol w="4635500">
                  <a:extLst>
                    <a:ext uri="{9D8B030D-6E8A-4147-A177-3AD203B41FA5}">
                      <a16:colId xmlns:a16="http://schemas.microsoft.com/office/drawing/2014/main" val="2736982367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1001148645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后续任务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具体工作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验收依据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079623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新冻结 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P0.6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协议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固定源版本、端点、排除规则
处理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对照、真实样本数与共享对照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重复来源的误差估计与精确采集成本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63346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借鉴 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MAP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的知识先验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按关系类型选择有效知识
比较结构、完整知识和打乱知识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在同条件留出任务上有增益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143096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借鉴 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Robin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的证据反馈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检索保留引用，分析保留代码
从功能读数生成可反驳的下一轮假设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相同工具和预算下减少错误选择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268329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2F7BB67A-B3DC-AA9C-F175-E98FC023F555}"/>
              </a:ext>
            </a:extLst>
          </p:cNvPr>
          <p:cNvSpPr txBox="1"/>
          <p:nvPr/>
        </p:nvSpPr>
        <p:spPr>
          <a:xfrm>
            <a:off x="609600" y="57022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优先级：可靠观测与端点资格在前，预测和策略评测随后。论文方法的实际收益仍需分别验证。</a:t>
            </a:r>
          </a:p>
        </p:txBody>
      </p:sp>
    </p:spTree>
    <p:extLst>
      <p:ext uri="{BB962C8B-B14F-4D97-AF65-F5344CB8AC3E}">
        <p14:creationId xmlns:p14="http://schemas.microsoft.com/office/powerpoint/2010/main" val="1549195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7115</Words>
  <Application>Microsoft Office PowerPoint</Application>
  <PresentationFormat>自定义</PresentationFormat>
  <Paragraphs>255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淼 郑</dc:creator>
  <cp:lastModifiedBy>淼 郑</cp:lastModifiedBy>
  <cp:revision>1</cp:revision>
  <dcterms:created xsi:type="dcterms:W3CDTF">2026-10-10T06:46:34Z</dcterms:created>
  <dcterms:modified xsi:type="dcterms:W3CDTF">2026-10-10T06:46:34Z</dcterms:modified>
</cp:coreProperties>
</file>