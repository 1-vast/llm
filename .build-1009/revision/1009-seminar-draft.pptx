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27055-CAD5-4BE7-8374-461AB145348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C5322-3113-412A-BEC0-184B8F7282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910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汇报日期沿用</a:t>
            </a:r>
            <a:r>
              <a:rPr lang="en-US" altLang="zh-CN"/>
              <a:t>1009</a:t>
            </a:r>
            <a:r>
              <a:rPr lang="zh-CN" altLang="en-US"/>
              <a:t>，项目资料截至</a:t>
            </a:r>
            <a:r>
              <a:rPr lang="en-US" altLang="zh-CN"/>
              <a:t>2026-10-10</a:t>
            </a:r>
            <a:r>
              <a:rPr lang="zh-CN" altLang="en-US"/>
              <a:t>。两篇论文各用</a:t>
            </a:r>
            <a:r>
              <a:rPr lang="en-US" altLang="zh-CN"/>
              <a:t>5</a:t>
            </a:r>
            <a:r>
              <a:rPr lang="zh-CN" altLang="en-US"/>
              <a:t>页解释问题、方法、实验、结果与边界。方法启发</a:t>
            </a:r>
            <a:r>
              <a:rPr lang="en-US" altLang="zh-CN"/>
              <a:t>2</a:t>
            </a:r>
            <a:r>
              <a:rPr lang="zh-CN" altLang="en-US"/>
              <a:t>页与</a:t>
            </a:r>
            <a:r>
              <a:rPr lang="en-US" altLang="zh-CN"/>
              <a:t>MAESTRO2</a:t>
            </a:r>
            <a:r>
              <a:rPr lang="zh-CN" altLang="en-US"/>
              <a:t>页相互独立。所有应用设计标注为建议。
</a:t>
            </a:r>
            <a:r>
              <a:rPr lang="en-US" altLang="zh-CN"/>
              <a:t>Feng et al., Nature Machine Intelligence (2026). DOI: 10.1038/s42256-026-01286-w
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C5322-3113-412A-BEC0-184B8F72824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313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药物发现中大量候选没有目标背景下的响应谱。</a:t>
            </a:r>
            <a:r>
              <a:rPr lang="en-US" altLang="zh-CN"/>
              <a:t>scRNAseq</a:t>
            </a:r>
            <a:r>
              <a:rPr lang="zh-CN" altLang="en-US"/>
              <a:t>以破坏性测量得到细胞群体，给药前后通常不是同一细胞的配对。</a:t>
            </a:r>
            <a:r>
              <a:rPr lang="en-US" altLang="zh-CN"/>
              <a:t>MAP</a:t>
            </a:r>
            <a:r>
              <a:rPr lang="zh-CN" altLang="en-US"/>
              <a:t>从对照细胞状态及药物结构</a:t>
            </a:r>
            <a:r>
              <a:rPr lang="en-US" altLang="zh-CN"/>
              <a:t>/</a:t>
            </a:r>
            <a:r>
              <a:rPr lang="zh-CN" altLang="en-US"/>
              <a:t>剂量预测给药后的表达。以群体平均与真实处理群体比较，两种外推任务要分开。组合外推允许药物在其他背景被测过，各背景</a:t>
            </a:r>
            <a:r>
              <a:rPr lang="en-US" altLang="zh-CN"/>
              <a:t>5%</a:t>
            </a:r>
            <a:r>
              <a:rPr lang="zh-CN" altLang="en-US"/>
              <a:t>留出集合不重叠。未测药物移除其全部响应与</a:t>
            </a:r>
            <a:r>
              <a:rPr lang="en-US" altLang="zh-CN"/>
              <a:t>MAP-KG</a:t>
            </a:r>
            <a:r>
              <a:rPr lang="zh-CN" altLang="en-US"/>
              <a:t>中的实体、别名、关联边，推断时只使用可用结构与属性。药物</a:t>
            </a:r>
            <a:r>
              <a:rPr lang="en-US" altLang="zh-CN"/>
              <a:t>ID</a:t>
            </a:r>
            <a:r>
              <a:rPr lang="zh-CN" altLang="en-US"/>
              <a:t>不能自然生成新分子表示，结构编码可外推但缺乏机制约束。</a:t>
            </a:r>
            <a:r>
              <a:rPr lang="en-US" altLang="zh-CN"/>
              <a:t>MAP</a:t>
            </a:r>
            <a:r>
              <a:rPr lang="zh-CN" altLang="en-US"/>
              <a:t>的核心创新是让机制知识先参与表示训练，再用于响应预测。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C5322-3113-412A-BEC0-184B8F72824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048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第一阶段知识预训练不需要细胞扰动响应。</a:t>
            </a:r>
            <a:r>
              <a:rPr lang="en-US" altLang="zh-CN"/>
              <a:t>MAP-KG</a:t>
            </a:r>
            <a:r>
              <a:rPr lang="zh-CN" altLang="en-US"/>
              <a:t>有</a:t>
            </a:r>
            <a:r>
              <a:rPr lang="en-US" altLang="zh-CN"/>
              <a:t>428,192</a:t>
            </a:r>
            <a:r>
              <a:rPr lang="zh-CN" altLang="en-US"/>
              <a:t>条药物</a:t>
            </a:r>
            <a:r>
              <a:rPr lang="en-US" altLang="zh-CN"/>
              <a:t>–</a:t>
            </a:r>
            <a:r>
              <a:rPr lang="zh-CN" altLang="en-US"/>
              <a:t>基因边与</a:t>
            </a:r>
            <a:r>
              <a:rPr lang="en-US" altLang="zh-CN"/>
              <a:t>266,054</a:t>
            </a:r>
            <a:r>
              <a:rPr lang="zh-CN" altLang="en-US"/>
              <a:t>条基因</a:t>
            </a:r>
            <a:r>
              <a:rPr lang="en-US" altLang="zh-CN"/>
              <a:t>–</a:t>
            </a:r>
            <a:r>
              <a:rPr lang="zh-CN" altLang="en-US"/>
              <a:t>基因边。节点规范嵌入来自实体名称文本</a:t>
            </a:r>
            <a:r>
              <a:rPr lang="en-US" altLang="zh-CN"/>
              <a:t>BioBERT</a:t>
            </a:r>
            <a:r>
              <a:rPr lang="zh-CN" altLang="en-US"/>
              <a:t>。</a:t>
            </a:r>
            <a:r>
              <a:rPr lang="en-US" altLang="zh-CN"/>
              <a:t>MoleculeSTM</a:t>
            </a:r>
            <a:r>
              <a:rPr lang="zh-CN" altLang="en-US"/>
              <a:t>与</a:t>
            </a:r>
            <a:r>
              <a:rPr lang="en-US" altLang="zh-CN"/>
              <a:t>ESM-2</a:t>
            </a:r>
            <a:r>
              <a:rPr lang="zh-CN" altLang="en-US"/>
              <a:t>冻结，</a:t>
            </a:r>
            <a:r>
              <a:rPr lang="en-US" altLang="zh-CN"/>
              <a:t>4</a:t>
            </a:r>
            <a:r>
              <a:rPr lang="zh-CN" altLang="en-US"/>
              <a:t>层</a:t>
            </a:r>
            <a:r>
              <a:rPr lang="en-US" altLang="zh-CN"/>
              <a:t>MLP</a:t>
            </a:r>
            <a:r>
              <a:rPr lang="zh-CN" altLang="en-US"/>
              <a:t>适配。节点内正例为该实体结构、序列或描述，节点间正例为其关系条件化邻居表示。关系编码</a:t>
            </a:r>
            <a:r>
              <a:rPr lang="en-US" altLang="zh-CN"/>
              <a:t>z_r=BioBERT(r)</a:t>
            </a:r>
            <a:r>
              <a:rPr lang="zh-CN" altLang="en-US"/>
              <a:t>，</a:t>
            </a:r>
            <a:r>
              <a:rPr lang="en-US" altLang="zh-CN"/>
              <a:t>MLP</a:t>
            </a:r>
            <a:r>
              <a:rPr lang="zh-CN" altLang="en-US"/>
              <a:t>的拼接顺序保留头</a:t>
            </a:r>
            <a:r>
              <a:rPr lang="en-US" altLang="zh-CN"/>
              <a:t>/</a:t>
            </a:r>
            <a:r>
              <a:rPr lang="zh-CN" altLang="en-US"/>
              <a:t>尾角色。双向</a:t>
            </a:r>
            <a:r>
              <a:rPr lang="en-US" altLang="zh-CN"/>
              <a:t>InfoNCE</a:t>
            </a:r>
            <a:r>
              <a:rPr lang="zh-CN" altLang="en-US"/>
              <a:t>对一批配对</a:t>
            </a:r>
            <a:r>
              <a:rPr lang="en-US" altLang="zh-CN"/>
              <a:t>(z_i,z'_i)</a:t>
            </a:r>
            <a:r>
              <a:rPr lang="zh-CN" altLang="en-US"/>
              <a:t>优化：</a:t>
            </a:r>
            <a:r>
              <a:rPr lang="en-US" altLang="zh-CN"/>
              <a:t>L=-mean_i{log[exp(sim(z_i,z'_i)/tau)/sum_k exp(sim(z_i,z'_k)/tau)] + log[exp(sim(z_i,z'_i)/tau)/sum_k exp(sim(z_k,z'_i)/tau)]}</a:t>
            </a:r>
            <a:r>
              <a:rPr lang="zh-CN" altLang="en-US"/>
              <a:t>。直观解释是识别正确的实体属性</a:t>
            </a:r>
            <a:r>
              <a:rPr lang="en-US" altLang="zh-CN"/>
              <a:t>/</a:t>
            </a:r>
            <a:r>
              <a:rPr lang="zh-CN" altLang="en-US"/>
              <a:t>关系配对，形成跨模态且机制相关的几何邻域。关系角色的编码构成归纳偏置，不能把图谱中的关联自动升级为因果证据。图来自论文</a:t>
            </a:r>
            <a:r>
              <a:rPr lang="en-US" altLang="zh-CN"/>
              <a:t>Fig.1a–b</a:t>
            </a:r>
            <a:r>
              <a:rPr lang="zh-CN" altLang="en-US"/>
              <a:t>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C5322-3113-412A-BEC0-184B8F72824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662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T,h=STATE(x)</a:t>
            </a:r>
            <a:r>
              <a:rPr lang="zh-CN" altLang="en-US"/>
              <a:t>，</a:t>
            </a:r>
            <a:r>
              <a:rPr lang="en-US" altLang="zh-CN"/>
              <a:t>h</a:t>
            </a:r>
            <a:r>
              <a:rPr lang="zh-CN" altLang="en-US"/>
              <a:t>来自</a:t>
            </a:r>
            <a:r>
              <a:rPr lang="en-US" altLang="zh-CN"/>
              <a:t>SPECIAL token</a:t>
            </a:r>
            <a:r>
              <a:rPr lang="zh-CN" altLang="en-US"/>
              <a:t>。</a:t>
            </a:r>
            <a:r>
              <a:rPr lang="en-US" altLang="zh-CN"/>
              <a:t>T_fuse=MLP([T,Z_seq])</a:t>
            </a:r>
            <a:r>
              <a:rPr lang="zh-CN" altLang="en-US"/>
              <a:t>，对应基因序列</a:t>
            </a:r>
            <a:r>
              <a:rPr lang="en-US" altLang="zh-CN"/>
              <a:t>/</a:t>
            </a:r>
            <a:r>
              <a:rPr lang="zh-CN" altLang="en-US"/>
              <a:t>知识按身份对齐。药物结构</a:t>
            </a:r>
            <a:r>
              <a:rPr lang="en-US" altLang="zh-CN"/>
              <a:t>z_mol</a:t>
            </a:r>
            <a:r>
              <a:rPr lang="zh-CN" altLang="en-US"/>
              <a:t>乘以施加剂量的</a:t>
            </a:r>
            <a:r>
              <a:rPr lang="en-US" altLang="zh-CN"/>
              <a:t>log</a:t>
            </a:r>
            <a:r>
              <a:rPr lang="zh-CN" altLang="en-US"/>
              <a:t>变换</a:t>
            </a:r>
            <a:r>
              <a:rPr lang="en-US" altLang="zh-CN"/>
              <a:t>δ</a:t>
            </a:r>
            <a:r>
              <a:rPr lang="zh-CN" altLang="en-US"/>
              <a:t>，</a:t>
            </a:r>
            <a:r>
              <a:rPr lang="en-US" altLang="zh-CN"/>
              <a:t>Transformer</a:t>
            </a:r>
            <a:r>
              <a:rPr lang="zh-CN" altLang="en-US"/>
              <a:t>输入</a:t>
            </a:r>
            <a:r>
              <a:rPr lang="en-US" altLang="zh-CN"/>
              <a:t>[δ z_mol,h,T_fuse]</a:t>
            </a:r>
            <a:r>
              <a:rPr lang="zh-CN" altLang="en-US"/>
              <a:t>，取细胞位置输出</a:t>
            </a:r>
            <a:r>
              <a:rPr lang="en-US" altLang="zh-CN"/>
              <a:t>h_hat</a:t>
            </a:r>
            <a:r>
              <a:rPr lang="zh-CN" altLang="en-US"/>
              <a:t>，再由</a:t>
            </a:r>
            <a:r>
              <a:rPr lang="en-US" altLang="zh-CN"/>
              <a:t>MLP</a:t>
            </a:r>
            <a:r>
              <a:rPr lang="zh-CN" altLang="en-US"/>
              <a:t>解码表达</a:t>
            </a:r>
            <a:r>
              <a:rPr lang="en-US" altLang="zh-CN"/>
              <a:t>x_hat</a:t>
            </a:r>
            <a:r>
              <a:rPr lang="zh-CN" altLang="en-US"/>
              <a:t>。表达预处理限定</a:t>
            </a:r>
            <a:r>
              <a:rPr lang="en-US" altLang="zh-CN"/>
              <a:t>19,790</a:t>
            </a:r>
            <a:r>
              <a:rPr lang="zh-CN" altLang="en-US"/>
              <a:t>人类蛋白编码基因、总</a:t>
            </a:r>
            <a:r>
              <a:rPr lang="en-US" altLang="zh-CN"/>
              <a:t>UMI</a:t>
            </a:r>
            <a:r>
              <a:rPr lang="zh-CN" altLang="en-US"/>
              <a:t>归一化到</a:t>
            </a:r>
            <a:r>
              <a:rPr lang="en-US" altLang="zh-CN"/>
              <a:t>10,000</a:t>
            </a:r>
            <a:r>
              <a:rPr lang="zh-CN" altLang="en-US"/>
              <a:t>再</a:t>
            </a:r>
            <a:r>
              <a:rPr lang="en-US" altLang="zh-CN"/>
              <a:t>log1p</a:t>
            </a:r>
            <a:r>
              <a:rPr lang="zh-CN" altLang="en-US"/>
              <a:t>，</a:t>
            </a:r>
            <a:r>
              <a:rPr lang="en-US" altLang="zh-CN"/>
              <a:t>STATE</a:t>
            </a:r>
            <a:r>
              <a:rPr lang="zh-CN" altLang="en-US"/>
              <a:t>输入为每细胞高表达的</a:t>
            </a:r>
            <a:r>
              <a:rPr lang="en-US" altLang="zh-CN"/>
              <a:t>2,048</a:t>
            </a:r>
            <a:r>
              <a:rPr lang="zh-CN" altLang="en-US"/>
              <a:t>基因</a:t>
            </a:r>
            <a:r>
              <a:rPr lang="en-US" altLang="zh-CN"/>
              <a:t>token</a:t>
            </a:r>
            <a:r>
              <a:rPr lang="zh-CN" altLang="en-US"/>
              <a:t>，并采用软分箱。双损失匹配真实处理群体均值：嵌入误差除以</a:t>
            </a:r>
            <a:r>
              <a:rPr lang="en-US" altLang="zh-CN"/>
              <a:t>d</a:t>
            </a:r>
            <a:r>
              <a:rPr lang="zh-CN" altLang="en-US"/>
              <a:t>，表达误差除以</a:t>
            </a:r>
            <a:r>
              <a:rPr lang="en-US" altLang="zh-CN"/>
              <a:t>G</a:t>
            </a:r>
            <a:r>
              <a:rPr lang="zh-CN" altLang="en-US"/>
              <a:t>，</a:t>
            </a:r>
            <a:r>
              <a:rPr lang="en-US" altLang="zh-CN"/>
              <a:t>λ</a:t>
            </a:r>
            <a:r>
              <a:rPr lang="zh-CN" altLang="en-US"/>
              <a:t>权衡。真实扰动群体先由</a:t>
            </a:r>
            <a:r>
              <a:rPr lang="en-US" altLang="zh-CN"/>
              <a:t>STATE</a:t>
            </a:r>
            <a:r>
              <a:rPr lang="zh-CN" altLang="en-US"/>
              <a:t>编码形成嵌入监督。群体均值损失可减少噪声，却不保证完整单细胞分布或每个细胞的真实轨迹。模型输入药物是</a:t>
            </a:r>
            <a:r>
              <a:rPr lang="en-US" altLang="zh-CN"/>
              <a:t>SMILES</a:t>
            </a:r>
            <a:r>
              <a:rPr lang="zh-CN" altLang="en-US"/>
              <a:t>，因而对新分子可以计算嵌入，无须药物类别</a:t>
            </a:r>
            <a:r>
              <a:rPr lang="en-US" altLang="zh-CN"/>
              <a:t>ID</a:t>
            </a:r>
            <a:r>
              <a:rPr lang="zh-CN" altLang="en-US"/>
              <a:t>。图来自</a:t>
            </a:r>
            <a:r>
              <a:rPr lang="en-US" altLang="zh-CN"/>
              <a:t>Fig.1c</a:t>
            </a:r>
            <a:r>
              <a:rPr lang="zh-CN" altLang="en-US"/>
              <a:t>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C5322-3113-412A-BEC0-184B8F72824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33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Tahoe</a:t>
            </a:r>
            <a:r>
              <a:rPr lang="zh-CN" altLang="en-US"/>
              <a:t>原始图谱含</a:t>
            </a:r>
            <a:r>
              <a:rPr lang="en-US" altLang="zh-CN"/>
              <a:t>50</a:t>
            </a:r>
            <a:r>
              <a:rPr lang="zh-CN" altLang="en-US"/>
              <a:t>细胞系</a:t>
            </a:r>
            <a:r>
              <a:rPr lang="en-US" altLang="zh-CN"/>
              <a:t>379</a:t>
            </a:r>
            <a:r>
              <a:rPr lang="zh-CN" altLang="en-US"/>
              <a:t>药物，论文概念验证仅用</a:t>
            </a:r>
            <a:r>
              <a:rPr lang="en-US" altLang="zh-CN"/>
              <a:t>A172</a:t>
            </a:r>
            <a:r>
              <a:rPr lang="zh-CN" altLang="en-US"/>
              <a:t>、</a:t>
            </a:r>
            <a:r>
              <a:rPr lang="en-US" altLang="zh-CN"/>
              <a:t>A498</a:t>
            </a:r>
            <a:r>
              <a:rPr lang="zh-CN" altLang="en-US"/>
              <a:t>、</a:t>
            </a:r>
            <a:r>
              <a:rPr lang="en-US" altLang="zh-CN"/>
              <a:t>A549</a:t>
            </a:r>
            <a:r>
              <a:rPr lang="zh-CN" altLang="en-US"/>
              <a:t>、</a:t>
            </a:r>
            <a:r>
              <a:rPr lang="en-US" altLang="zh-CN"/>
              <a:t>HepG2/C3A</a:t>
            </a:r>
            <a:r>
              <a:rPr lang="zh-CN" altLang="en-US"/>
              <a:t>、</a:t>
            </a:r>
            <a:r>
              <a:rPr lang="en-US" altLang="zh-CN"/>
              <a:t>PANC1</a:t>
            </a:r>
            <a:r>
              <a:rPr lang="zh-CN" altLang="en-US"/>
              <a:t>、</a:t>
            </a:r>
            <a:r>
              <a:rPr lang="en-US" altLang="zh-CN"/>
              <a:t>SKMEL2</a:t>
            </a:r>
            <a:r>
              <a:rPr lang="zh-CN" altLang="en-US"/>
              <a:t>六条，不能宣称在全图谱训练。</a:t>
            </a:r>
            <a:r>
              <a:rPr lang="en-US" altLang="zh-CN"/>
              <a:t>OP3</a:t>
            </a:r>
            <a:r>
              <a:rPr lang="zh-CN" altLang="en-US"/>
              <a:t>有</a:t>
            </a:r>
            <a:r>
              <a:rPr lang="en-US" altLang="zh-CN"/>
              <a:t>6</a:t>
            </a:r>
            <a:r>
              <a:rPr lang="zh-CN" altLang="en-US"/>
              <a:t>免疫类型、</a:t>
            </a:r>
            <a:r>
              <a:rPr lang="en-US" altLang="zh-CN"/>
              <a:t>144</a:t>
            </a:r>
            <a:r>
              <a:rPr lang="zh-CN" altLang="en-US"/>
              <a:t>化合物；</a:t>
            </a:r>
            <a:r>
              <a:rPr lang="en-US" altLang="zh-CN"/>
              <a:t>SciPlex3</a:t>
            </a:r>
            <a:r>
              <a:rPr lang="zh-CN" altLang="en-US"/>
              <a:t>有</a:t>
            </a:r>
            <a:r>
              <a:rPr lang="en-US" altLang="zh-CN"/>
              <a:t>3</a:t>
            </a:r>
            <a:r>
              <a:rPr lang="zh-CN" altLang="en-US"/>
              <a:t>癌系</a:t>
            </a:r>
            <a:r>
              <a:rPr lang="en-US" altLang="zh-CN"/>
              <a:t>187</a:t>
            </a:r>
            <a:r>
              <a:rPr lang="zh-CN" altLang="en-US"/>
              <a:t>化合物。每数据集独立采用留出策略。评测常以</a:t>
            </a:r>
            <a:r>
              <a:rPr lang="en-US" altLang="zh-CN"/>
              <a:t>pseudobulk</a:t>
            </a:r>
            <a:r>
              <a:rPr lang="zh-CN" altLang="en-US"/>
              <a:t>群体均值构成响应，</a:t>
            </a:r>
            <a:r>
              <a:rPr lang="en-US" altLang="zh-CN"/>
              <a:t>Pearson delta=correlation(mu_pred-mu_ctrl,mu_obs-mu_ctrl)</a:t>
            </a:r>
            <a:r>
              <a:rPr lang="zh-CN" altLang="en-US"/>
              <a:t>，衡量相对对照的变化模式，它对整体尺度误差并不充分敏感，所以需</a:t>
            </a:r>
            <a:r>
              <a:rPr lang="en-US" altLang="zh-CN"/>
              <a:t>MSE</a:t>
            </a:r>
            <a:r>
              <a:rPr lang="zh-CN" altLang="en-US"/>
              <a:t>等指标。差异表达方向与药物间可区分性回答其他问题。</a:t>
            </a:r>
            <a:r>
              <a:rPr lang="en-US" altLang="zh-CN"/>
              <a:t>top2000HVG</a:t>
            </a:r>
            <a:r>
              <a:rPr lang="zh-CN" altLang="en-US"/>
              <a:t>依据数据集变异计算，</a:t>
            </a:r>
            <a:r>
              <a:rPr lang="en-US" altLang="zh-CN"/>
              <a:t>DEG</a:t>
            </a:r>
            <a:r>
              <a:rPr lang="zh-CN" altLang="en-US"/>
              <a:t>选择依据论文差异分析；测试</a:t>
            </a:r>
            <a:r>
              <a:rPr lang="en-US" altLang="zh-CN"/>
              <a:t>DEG</a:t>
            </a:r>
            <a:r>
              <a:rPr lang="zh-CN" altLang="en-US"/>
              <a:t>评测回答已知真实响应基因上的恢复质量，不等同于可无监督选定真实</a:t>
            </a:r>
            <a:r>
              <a:rPr lang="en-US" altLang="zh-CN"/>
              <a:t>DEG</a:t>
            </a:r>
            <a:r>
              <a:rPr lang="zh-CN" altLang="en-US"/>
              <a:t>。比较包含经验均值与分子条件化模型。</a:t>
            </a:r>
            <a:r>
              <a:rPr lang="en-US" altLang="zh-CN"/>
              <a:t>STATE</a:t>
            </a:r>
            <a:r>
              <a:rPr lang="zh-CN" altLang="en-US"/>
              <a:t>仅可比较组合任务，因类别药物</a:t>
            </a:r>
            <a:r>
              <a:rPr lang="en-US" altLang="zh-CN"/>
              <a:t>ID</a:t>
            </a:r>
            <a:r>
              <a:rPr lang="zh-CN" altLang="en-US"/>
              <a:t>无法自然用于未测药物。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C5322-3113-412A-BEC0-184B8F72824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765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相对增益</a:t>
            </a:r>
            <a:r>
              <a:rPr lang="en-US" altLang="zh-CN"/>
              <a:t>=(MAP</a:t>
            </a:r>
            <a:r>
              <a:rPr lang="zh-CN" altLang="en-US"/>
              <a:t>指标</a:t>
            </a:r>
            <a:r>
              <a:rPr lang="en-US" altLang="zh-CN"/>
              <a:t>-</a:t>
            </a:r>
            <a:r>
              <a:rPr lang="zh-CN" altLang="en-US"/>
              <a:t>最强基线指标</a:t>
            </a:r>
            <a:r>
              <a:rPr lang="en-US" altLang="zh-CN"/>
              <a:t>)/</a:t>
            </a:r>
            <a:r>
              <a:rPr lang="zh-CN" altLang="en-US"/>
              <a:t>最强基线指标，不能读作百分点。未测药物</a:t>
            </a:r>
            <a:r>
              <a:rPr lang="en-US" altLang="zh-CN"/>
              <a:t>Tahoe11.8%</a:t>
            </a:r>
            <a:r>
              <a:rPr lang="zh-CN" altLang="en-US"/>
              <a:t>、</a:t>
            </a:r>
            <a:r>
              <a:rPr lang="en-US" altLang="zh-CN"/>
              <a:t>OP319.8%</a:t>
            </a:r>
            <a:r>
              <a:rPr lang="zh-CN" altLang="en-US"/>
              <a:t>、</a:t>
            </a:r>
            <a:r>
              <a:rPr lang="en-US" altLang="zh-CN"/>
              <a:t>SciPlex310.4%</a:t>
            </a:r>
            <a:r>
              <a:rPr lang="zh-CN" altLang="en-US"/>
              <a:t>，组合外推</a:t>
            </a:r>
            <a:r>
              <a:rPr lang="en-US" altLang="zh-CN"/>
              <a:t>Tahoe12.3%</a:t>
            </a:r>
            <a:r>
              <a:rPr lang="zh-CN" altLang="en-US"/>
              <a:t>、</a:t>
            </a:r>
            <a:r>
              <a:rPr lang="en-US" altLang="zh-CN"/>
              <a:t>SciPlex36.6%</a:t>
            </a:r>
            <a:r>
              <a:rPr lang="zh-CN" altLang="en-US"/>
              <a:t>。</a:t>
            </a:r>
            <a:r>
              <a:rPr lang="en-US" altLang="zh-CN"/>
              <a:t>MAP</a:t>
            </a:r>
            <a:r>
              <a:rPr lang="zh-CN" altLang="en-US"/>
              <a:t>未测药物</a:t>
            </a:r>
            <a:r>
              <a:rPr lang="en-US" altLang="zh-CN"/>
              <a:t>SciPlex3</a:t>
            </a:r>
            <a:r>
              <a:rPr lang="zh-CN" altLang="en-US"/>
              <a:t>与</a:t>
            </a:r>
            <a:r>
              <a:rPr lang="en-US" altLang="zh-CN"/>
              <a:t>OP3 top50DEG</a:t>
            </a:r>
            <a:r>
              <a:rPr lang="zh-CN" altLang="en-US"/>
              <a:t>平均相关系数分别</a:t>
            </a:r>
            <a:r>
              <a:rPr lang="en-US" altLang="zh-CN"/>
              <a:t>0.827</a:t>
            </a:r>
            <a:r>
              <a:rPr lang="zh-CN" altLang="en-US"/>
              <a:t>、</a:t>
            </a:r>
            <a:r>
              <a:rPr lang="en-US" altLang="zh-CN"/>
              <a:t>0.861</a:t>
            </a:r>
            <a:r>
              <a:rPr lang="zh-CN" altLang="en-US"/>
              <a:t>。</a:t>
            </a:r>
            <a:r>
              <a:rPr lang="en-US" altLang="zh-CN"/>
              <a:t>MAP-KG</a:t>
            </a:r>
            <a:r>
              <a:rPr lang="zh-CN" altLang="en-US"/>
              <a:t>相对</a:t>
            </a:r>
            <a:r>
              <a:rPr lang="en-US" altLang="zh-CN"/>
              <a:t>PrimeKG</a:t>
            </a:r>
            <a:r>
              <a:rPr lang="zh-CN" altLang="en-US"/>
              <a:t>报告方向准确率</a:t>
            </a:r>
            <a:r>
              <a:rPr lang="en-US" altLang="zh-CN"/>
              <a:t>+7.2%</a:t>
            </a:r>
            <a:r>
              <a:rPr lang="zh-CN" altLang="en-US"/>
              <a:t>、</a:t>
            </a:r>
            <a:r>
              <a:rPr lang="en-US" altLang="zh-CN"/>
              <a:t>PDCorr+11.4%</a:t>
            </a:r>
            <a:r>
              <a:rPr lang="zh-CN" altLang="en-US"/>
              <a:t>、区分度</a:t>
            </a:r>
            <a:r>
              <a:rPr lang="en-US" altLang="zh-CN"/>
              <a:t>+4.3%</a:t>
            </a:r>
            <a:r>
              <a:rPr lang="zh-CN" altLang="en-US"/>
              <a:t>，去掉药物</a:t>
            </a:r>
            <a:r>
              <a:rPr lang="en-US" altLang="zh-CN"/>
              <a:t>–</a:t>
            </a:r>
            <a:r>
              <a:rPr lang="zh-CN" altLang="en-US"/>
              <a:t>基因边影响最大；比较不能直接将所有增益归因为知识质量，也包含规模影响。</a:t>
            </a:r>
            <a:r>
              <a:rPr lang="en-US" altLang="zh-CN"/>
              <a:t>A549</a:t>
            </a:r>
            <a:r>
              <a:rPr lang="zh-CN" altLang="en-US"/>
              <a:t>应用基于预测响应做</a:t>
            </a:r>
            <a:r>
              <a:rPr lang="en-US" altLang="zh-CN"/>
              <a:t>GSEA</a:t>
            </a:r>
            <a:r>
              <a:rPr lang="zh-CN" altLang="en-US"/>
              <a:t>、疾病相关通路排序与文献一致性，</a:t>
            </a:r>
            <a:r>
              <a:rPr lang="en-US" altLang="zh-CN"/>
              <a:t>58</a:t>
            </a:r>
            <a:r>
              <a:rPr lang="zh-CN" altLang="en-US"/>
              <a:t>候选中</a:t>
            </a:r>
            <a:r>
              <a:rPr lang="en-US" altLang="zh-CN"/>
              <a:t>4/5</a:t>
            </a:r>
            <a:r>
              <a:rPr lang="zh-CN" altLang="en-US"/>
              <a:t>已批准</a:t>
            </a:r>
            <a:r>
              <a:rPr lang="en-US" altLang="zh-CN"/>
              <a:t>NSCLC</a:t>
            </a:r>
            <a:r>
              <a:rPr lang="zh-CN" altLang="en-US"/>
              <a:t>药在前</a:t>
            </a:r>
            <a:r>
              <a:rPr lang="en-US" altLang="zh-CN"/>
              <a:t>15</a:t>
            </a:r>
            <a:r>
              <a:rPr lang="zh-CN" altLang="en-US"/>
              <a:t>，</a:t>
            </a:r>
            <a:r>
              <a:rPr lang="en-US" altLang="zh-CN"/>
              <a:t>adagrasib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en-US" altLang="zh-CN"/>
              <a:t>afatinib</a:t>
            </a: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。该计算筛选不等价于新湿实验，也不能证明药物靶点结合或临床效益。讨论可提出同规模图谱对照与机制更严格的留出，进一步区分知识量、结构与特定关系贡献。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C5322-3113-412A-BEC0-184B8F72824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246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Robin</a:t>
            </a:r>
            <a:r>
              <a:rPr lang="zh-CN" altLang="en-US"/>
              <a:t>探索</a:t>
            </a:r>
            <a:r>
              <a:rPr lang="en-US" altLang="zh-CN"/>
              <a:t>dAMD</a:t>
            </a:r>
            <a:r>
              <a:rPr lang="zh-CN" altLang="en-US"/>
              <a:t>药物再利用。</a:t>
            </a:r>
            <a:r>
              <a:rPr lang="en-US" altLang="zh-CN"/>
              <a:t>RPE</a:t>
            </a:r>
            <a:r>
              <a:rPr lang="zh-CN" altLang="en-US"/>
              <a:t>吞噬清理光感受器外节的过程与视网膜健康有关，吞噬不足在老化和</a:t>
            </a:r>
            <a:r>
              <a:rPr lang="en-US" altLang="zh-CN"/>
              <a:t>AMD</a:t>
            </a:r>
            <a:r>
              <a:rPr lang="zh-CN" altLang="en-US"/>
              <a:t>中出现。论文把宽泛疾病目标转成增强</a:t>
            </a:r>
            <a:r>
              <a:rPr lang="en-US" altLang="zh-CN"/>
              <a:t>RPE</a:t>
            </a:r>
            <a:r>
              <a:rPr lang="zh-CN" altLang="en-US"/>
              <a:t>吞噬的可测方向。初筛使用</a:t>
            </a:r>
            <a:r>
              <a:rPr lang="en-US" altLang="zh-CN"/>
              <a:t>ARPE19</a:t>
            </a:r>
            <a:r>
              <a:rPr lang="zh-CN" altLang="en-US"/>
              <a:t>与</a:t>
            </a:r>
            <a:r>
              <a:rPr lang="en-US" altLang="zh-CN"/>
              <a:t>pHrodo</a:t>
            </a:r>
            <a:r>
              <a:rPr lang="zh-CN" altLang="en-US"/>
              <a:t>微球，后续用原代</a:t>
            </a:r>
            <a:r>
              <a:rPr lang="en-US" altLang="zh-CN"/>
              <a:t>RPE-SC</a:t>
            </a:r>
            <a:r>
              <a:rPr lang="zh-CN" altLang="en-US"/>
              <a:t>与牛光感受器外节</a:t>
            </a:r>
            <a:r>
              <a:rPr lang="en-US" altLang="zh-CN"/>
              <a:t>ROS</a:t>
            </a:r>
            <a:r>
              <a:rPr lang="zh-CN" altLang="en-US"/>
              <a:t>。</a:t>
            </a:r>
            <a:r>
              <a:rPr lang="en-US" altLang="zh-CN"/>
              <a:t>pHrodo</a:t>
            </a:r>
            <a:r>
              <a:rPr lang="zh-CN" altLang="en-US"/>
              <a:t>在酸性环境发荧光，因此流式</a:t>
            </a:r>
            <a:r>
              <a:rPr lang="en-US" altLang="zh-CN"/>
              <a:t>MFI</a:t>
            </a:r>
            <a:r>
              <a:rPr lang="zh-CN" altLang="en-US"/>
              <a:t>构成实验读数。给药</a:t>
            </a:r>
            <a:r>
              <a:rPr lang="en-US" altLang="zh-CN"/>
              <a:t>1h</a:t>
            </a:r>
            <a:r>
              <a:rPr lang="zh-CN" altLang="en-US"/>
              <a:t>，再共孵育底物</a:t>
            </a:r>
            <a:r>
              <a:rPr lang="en-US" altLang="zh-CN"/>
              <a:t>3h</a:t>
            </a:r>
            <a:r>
              <a:rPr lang="zh-CN" altLang="en-US"/>
              <a:t>，不宜将它直接描述为</a:t>
            </a:r>
            <a:r>
              <a:rPr lang="en-US" altLang="zh-CN"/>
              <a:t>24h</a:t>
            </a:r>
            <a:r>
              <a:rPr lang="zh-CN" altLang="en-US"/>
              <a:t>存活实验。归一化</a:t>
            </a:r>
            <a:r>
              <a:rPr lang="en-US" altLang="zh-CN"/>
              <a:t>MFI</a:t>
            </a:r>
            <a:r>
              <a:rPr lang="zh-CN" altLang="en-US"/>
              <a:t>反映底物进入酸性环境后的信号，可能受其他细胞</a:t>
            </a:r>
            <a:r>
              <a:rPr lang="en-US" altLang="zh-CN"/>
              <a:t>/</a:t>
            </a:r>
            <a:r>
              <a:rPr lang="zh-CN" altLang="en-US"/>
              <a:t>荧光因素影响，</a:t>
            </a:r>
            <a:r>
              <a:rPr lang="en-US" altLang="zh-CN"/>
              <a:t>QC</a:t>
            </a:r>
            <a:r>
              <a:rPr lang="zh-CN" altLang="en-US"/>
              <a:t>与替代解释需检查。图来自</a:t>
            </a:r>
            <a:r>
              <a:rPr lang="en-US" altLang="zh-CN"/>
              <a:t>Fig.2b</a:t>
            </a:r>
            <a:r>
              <a:rPr lang="zh-CN" altLang="en-US"/>
              <a:t>，由论文作者使用</a:t>
            </a:r>
            <a:r>
              <a:rPr lang="en-US" altLang="zh-CN"/>
              <a:t>BioRender</a:t>
            </a:r>
            <a:r>
              <a:rPr lang="zh-CN" altLang="en-US"/>
              <a:t>制作。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C5322-3113-412A-BEC0-184B8F72824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071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Robin</a:t>
            </a:r>
            <a:r>
              <a:rPr lang="zh-CN" altLang="en-US"/>
              <a:t>以</a:t>
            </a:r>
            <a:r>
              <a:rPr lang="en-US" altLang="zh-CN"/>
              <a:t>Aviary</a:t>
            </a:r>
            <a:r>
              <a:rPr lang="zh-CN" altLang="en-US"/>
              <a:t>框架实现，</a:t>
            </a:r>
            <a:r>
              <a:rPr lang="en-US" altLang="zh-CN"/>
              <a:t>o4mini</a:t>
            </a:r>
            <a:r>
              <a:rPr lang="zh-CN" altLang="en-US"/>
              <a:t>综合文献并生成假设，</a:t>
            </a:r>
            <a:r>
              <a:rPr lang="en-US" altLang="zh-CN"/>
              <a:t>ClaudeSonnet3.7</a:t>
            </a:r>
            <a:r>
              <a:rPr lang="zh-CN" altLang="en-US"/>
              <a:t>担任成对裁判。</a:t>
            </a:r>
            <a:r>
              <a:rPr lang="en-US" altLang="zh-CN"/>
              <a:t>Crow</a:t>
            </a:r>
            <a:r>
              <a:rPr lang="zh-CN" altLang="en-US"/>
              <a:t>快速总结，</a:t>
            </a:r>
            <a:r>
              <a:rPr lang="en-US" altLang="zh-CN"/>
              <a:t>Falcon</a:t>
            </a:r>
            <a:r>
              <a:rPr lang="zh-CN" altLang="en-US"/>
              <a:t>提供详细文献报告，资源包括临床试验与</a:t>
            </a:r>
            <a:r>
              <a:rPr lang="en-US" altLang="zh-CN"/>
              <a:t>OpenTargets</a:t>
            </a:r>
            <a:r>
              <a:rPr lang="zh-CN" altLang="en-US"/>
              <a:t>。先提出通用问题，再</a:t>
            </a:r>
            <a:r>
              <a:rPr lang="en-US" altLang="zh-CN"/>
              <a:t>10</a:t>
            </a:r>
            <a:r>
              <a:rPr lang="zh-CN" altLang="en-US"/>
              <a:t>机制对应模型报告，排序选定功能读数，生成</a:t>
            </a:r>
            <a:r>
              <a:rPr lang="en-US" altLang="zh-CN"/>
              <a:t>30</a:t>
            </a:r>
            <a:r>
              <a:rPr lang="zh-CN" altLang="en-US"/>
              <a:t>候选及</a:t>
            </a:r>
            <a:r>
              <a:rPr lang="en-US" altLang="zh-CN"/>
              <a:t>Falcon</a:t>
            </a:r>
            <a:r>
              <a:rPr lang="zh-CN" altLang="en-US"/>
              <a:t>报告。</a:t>
            </a:r>
            <a:r>
              <a:rPr lang="en-US" altLang="zh-CN"/>
              <a:t>BTL</a:t>
            </a:r>
            <a:r>
              <a:rPr lang="zh-CN" altLang="en-US"/>
              <a:t>模型拟合</a:t>
            </a:r>
            <a:r>
              <a:rPr lang="en-US" altLang="zh-CN"/>
              <a:t>P(i</a:t>
            </a:r>
            <a:r>
              <a:rPr lang="zh-CN" altLang="en-US"/>
              <a:t>胜</a:t>
            </a:r>
            <a:r>
              <a:rPr lang="en-US" altLang="zh-CN"/>
              <a:t>j)=s_i/(s_i+s_j)</a:t>
            </a:r>
            <a:r>
              <a:rPr lang="zh-CN" altLang="en-US"/>
              <a:t>，不超过</a:t>
            </a:r>
            <a:r>
              <a:rPr lang="en-US" altLang="zh-CN"/>
              <a:t>25</a:t>
            </a:r>
            <a:r>
              <a:rPr lang="zh-CN" altLang="en-US"/>
              <a:t>假设比较所有配对，超过</a:t>
            </a:r>
            <a:r>
              <a:rPr lang="en-US" altLang="zh-CN"/>
              <a:t>25</a:t>
            </a:r>
            <a:r>
              <a:rPr lang="zh-CN" altLang="en-US"/>
              <a:t>随机采</a:t>
            </a:r>
            <a:r>
              <a:rPr lang="en-US" altLang="zh-CN"/>
              <a:t>300</a:t>
            </a:r>
            <a:r>
              <a:rPr lang="zh-CN" altLang="en-US"/>
              <a:t>配对。优先根据科学依据、药理和文献方法学判断，排序仍不是实验药效。人类选择候选并制定执行协议。</a:t>
            </a:r>
            <a:r>
              <a:rPr lang="en-US" altLang="zh-CN"/>
              <a:t>Finch</a:t>
            </a:r>
            <a:r>
              <a:rPr lang="zh-CN" altLang="en-US"/>
              <a:t>使用</a:t>
            </a:r>
            <a:r>
              <a:rPr lang="en-US" altLang="zh-CN"/>
              <a:t>edit_cell</a:t>
            </a:r>
            <a:r>
              <a:rPr lang="zh-CN" altLang="en-US"/>
              <a:t>与</a:t>
            </a:r>
            <a:r>
              <a:rPr lang="en-US" altLang="zh-CN"/>
              <a:t>submit_answer</a:t>
            </a:r>
            <a:r>
              <a:rPr lang="zh-CN" altLang="en-US"/>
              <a:t>工具，</a:t>
            </a:r>
            <a:r>
              <a:rPr lang="en-US" altLang="zh-CN"/>
              <a:t>8</a:t>
            </a:r>
            <a:r>
              <a:rPr lang="zh-CN" altLang="en-US"/>
              <a:t>独立轨迹执行相同数据的不同分析，元分析形成共识。分析轨迹探索参数敏感性，不能代替独立生物重复。图示按实际流程简化，</a:t>
            </a:r>
            <a:r>
              <a:rPr lang="en-US" altLang="zh-CN"/>
              <a:t>Falcon</a:t>
            </a:r>
            <a:r>
              <a:rPr lang="zh-CN" altLang="en-US"/>
              <a:t>到</a:t>
            </a:r>
            <a:r>
              <a:rPr lang="en-US" altLang="zh-CN"/>
              <a:t>Finch</a:t>
            </a:r>
            <a:r>
              <a:rPr lang="zh-CN" altLang="en-US"/>
              <a:t>之间存在人类湿实验。作者观察协调工具顺序几乎固定，后续简化为</a:t>
            </a:r>
            <a:r>
              <a:rPr lang="en-US" altLang="zh-CN"/>
              <a:t>notebook</a:t>
            </a:r>
            <a:r>
              <a:rPr lang="zh-CN" altLang="en-US"/>
              <a:t>，说明核心价值在角色与工具流程，不能仅据多代理数量认定自主规划优势。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C5322-3113-412A-BEC0-184B8F72824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859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第一轮前五候选为</a:t>
            </a:r>
            <a:r>
              <a:rPr lang="en-US" altLang="zh-CN"/>
              <a:t>exendin4</a:t>
            </a:r>
            <a:r>
              <a:rPr lang="zh-CN" altLang="en-US"/>
              <a:t>、</a:t>
            </a:r>
            <a:r>
              <a:rPr lang="en-US" altLang="zh-CN"/>
              <a:t>fingolimod</a:t>
            </a:r>
            <a:r>
              <a:rPr lang="zh-CN" altLang="en-US"/>
              <a:t>、</a:t>
            </a:r>
            <a:r>
              <a:rPr lang="en-US" altLang="zh-CN"/>
              <a:t>MFGE8</a:t>
            </a:r>
            <a:r>
              <a:rPr lang="zh-CN" altLang="en-US"/>
              <a:t>、</a:t>
            </a:r>
            <a:r>
              <a:rPr lang="en-US" altLang="zh-CN"/>
              <a:t>Y27632</a:t>
            </a:r>
            <a:r>
              <a:rPr lang="zh-CN" altLang="en-US"/>
              <a:t>、</a:t>
            </a:r>
            <a:r>
              <a:rPr lang="en-US" altLang="zh-CN"/>
              <a:t>AICAR</a:t>
            </a:r>
            <a:r>
              <a:rPr lang="zh-CN" altLang="en-US"/>
              <a:t>与</a:t>
            </a:r>
            <a:r>
              <a:rPr lang="en-US" altLang="zh-CN"/>
              <a:t>TUDCA</a:t>
            </a:r>
            <a:r>
              <a:rPr lang="zh-CN" altLang="en-US"/>
              <a:t>组合，</a:t>
            </a:r>
            <a:r>
              <a:rPr lang="en-US" altLang="zh-CN"/>
              <a:t>MFGE8</a:t>
            </a:r>
            <a:r>
              <a:rPr lang="zh-CN" altLang="en-US"/>
              <a:t>有既有吞噬增强证据作为阳性参照。系统最初建议</a:t>
            </a:r>
            <a:r>
              <a:rPr lang="en-US" altLang="zh-CN"/>
              <a:t>ROS</a:t>
            </a:r>
            <a:r>
              <a:rPr lang="zh-CN" altLang="en-US"/>
              <a:t>与原代</a:t>
            </a:r>
            <a:r>
              <a:rPr lang="en-US" altLang="zh-CN"/>
              <a:t>/</a:t>
            </a:r>
            <a:r>
              <a:rPr lang="zh-CN" altLang="en-US"/>
              <a:t>干细胞分化</a:t>
            </a:r>
            <a:r>
              <a:rPr lang="en-US" altLang="zh-CN"/>
              <a:t>RPE</a:t>
            </a:r>
            <a:r>
              <a:rPr lang="zh-CN" altLang="en-US"/>
              <a:t>，但人类选择更易获得微球和</a:t>
            </a:r>
            <a:r>
              <a:rPr lang="en-US" altLang="zh-CN"/>
              <a:t>ARPE19</a:t>
            </a:r>
            <a:r>
              <a:rPr lang="zh-CN" altLang="en-US"/>
              <a:t>加速验证。</a:t>
            </a:r>
            <a:r>
              <a:rPr lang="en-US" altLang="zh-CN"/>
              <a:t>FCS</a:t>
            </a:r>
            <a:r>
              <a:rPr lang="zh-CN" altLang="en-US"/>
              <a:t>通过</a:t>
            </a:r>
            <a:r>
              <a:rPr lang="en-US" altLang="zh-CN"/>
              <a:t>FSC/SSC</a:t>
            </a:r>
            <a:r>
              <a:rPr lang="zh-CN" altLang="en-US"/>
              <a:t>排碎片，</a:t>
            </a:r>
            <a:r>
              <a:rPr lang="en-US" altLang="zh-CN"/>
              <a:t>FSC-A/H</a:t>
            </a:r>
            <a:r>
              <a:rPr lang="zh-CN" altLang="en-US"/>
              <a:t>选单细胞，</a:t>
            </a:r>
            <a:r>
              <a:rPr lang="en-US" altLang="zh-CN"/>
              <a:t>DAPI</a:t>
            </a:r>
            <a:r>
              <a:rPr lang="zh-CN" altLang="en-US"/>
              <a:t>排死细胞，再比较归一化</a:t>
            </a:r>
            <a:r>
              <a:rPr lang="en-US" altLang="zh-CN"/>
              <a:t>MFI</a:t>
            </a:r>
            <a:r>
              <a:rPr lang="zh-CN" altLang="en-US"/>
              <a:t>。</a:t>
            </a:r>
            <a:r>
              <a:rPr lang="en-US" altLang="zh-CN"/>
              <a:t>n3</a:t>
            </a:r>
            <a:r>
              <a:rPr lang="zh-CN" altLang="en-US"/>
              <a:t>孔，</a:t>
            </a:r>
            <a:r>
              <a:rPr lang="en-US" altLang="zh-CN"/>
              <a:t>Dunnett</a:t>
            </a:r>
            <a:r>
              <a:rPr lang="zh-CN" altLang="en-US"/>
              <a:t>检验对</a:t>
            </a:r>
            <a:r>
              <a:rPr lang="en-US" altLang="zh-CN"/>
              <a:t>DMSO</a:t>
            </a:r>
            <a:r>
              <a:rPr lang="zh-CN" altLang="en-US"/>
              <a:t>。</a:t>
            </a:r>
            <a:r>
              <a:rPr lang="en-US" altLang="zh-CN"/>
              <a:t>Y27632</a:t>
            </a:r>
            <a:r>
              <a:rPr lang="zh-CN" altLang="en-US"/>
              <a:t>命中、人类同数据分析支持后，</a:t>
            </a:r>
            <a:r>
              <a:rPr lang="en-US" altLang="zh-CN"/>
              <a:t>Robin</a:t>
            </a:r>
            <a:r>
              <a:rPr lang="zh-CN" altLang="en-US"/>
              <a:t>提出</a:t>
            </a:r>
            <a:r>
              <a:rPr lang="en-US" altLang="zh-CN"/>
              <a:t>RNAseq</a:t>
            </a:r>
            <a:r>
              <a:rPr lang="zh-CN" altLang="en-US"/>
              <a:t>。</a:t>
            </a:r>
            <a:r>
              <a:rPr lang="en-US" altLang="zh-CN"/>
              <a:t>Finch</a:t>
            </a:r>
            <a:r>
              <a:rPr lang="zh-CN" altLang="en-US"/>
              <a:t>差异与</a:t>
            </a:r>
            <a:r>
              <a:rPr lang="en-US" altLang="zh-CN"/>
              <a:t>GO</a:t>
            </a:r>
            <a:r>
              <a:rPr lang="zh-CN" altLang="en-US"/>
              <a:t>分析显示细胞骨架、小</a:t>
            </a:r>
            <a:r>
              <a:rPr lang="en-US" altLang="zh-CN"/>
              <a:t>GTP</a:t>
            </a:r>
            <a:r>
              <a:rPr lang="zh-CN" altLang="en-US"/>
              <a:t>酶和自噬相关转录变化；</a:t>
            </a:r>
            <a:r>
              <a:rPr lang="en-US" altLang="zh-CN"/>
              <a:t>8</a:t>
            </a:r>
            <a:r>
              <a:rPr lang="zh-CN" altLang="en-US"/>
              <a:t>路径中超过</a:t>
            </a:r>
            <a:r>
              <a:rPr lang="en-US" altLang="zh-CN"/>
              <a:t>50%</a:t>
            </a:r>
            <a:r>
              <a:rPr lang="zh-CN" altLang="en-US"/>
              <a:t>识别相同显著</a:t>
            </a:r>
            <a:r>
              <a:rPr lang="en-US" altLang="zh-CN"/>
              <a:t>DEG</a:t>
            </a:r>
            <a:r>
              <a:rPr lang="zh-CN" altLang="en-US"/>
              <a:t>。</a:t>
            </a:r>
            <a:r>
              <a:rPr lang="en-US" altLang="zh-CN"/>
              <a:t>ABCA1</a:t>
            </a:r>
            <a:r>
              <a:rPr lang="zh-CN" altLang="en-US"/>
              <a:t>约</a:t>
            </a:r>
            <a:r>
              <a:rPr lang="en-US" altLang="zh-CN"/>
              <a:t>3</a:t>
            </a:r>
            <a:r>
              <a:rPr lang="zh-CN" altLang="en-US"/>
              <a:t>倍上调，调整</a:t>
            </a:r>
            <a:r>
              <a:rPr lang="en-US" altLang="zh-CN"/>
              <a:t>P=2.13e-83</a:t>
            </a:r>
            <a:r>
              <a:rPr lang="zh-CN" altLang="en-US"/>
              <a:t>，编码脂质外排泵，可能连接吞噬后的脂质处理与</a:t>
            </a:r>
            <a:r>
              <a:rPr lang="en-US" altLang="zh-CN"/>
              <a:t>RPE</a:t>
            </a:r>
            <a:r>
              <a:rPr lang="zh-CN" altLang="en-US"/>
              <a:t>健康。火山图来自</a:t>
            </a:r>
            <a:r>
              <a:rPr lang="en-US" altLang="zh-CN"/>
              <a:t>Fig.3b</a:t>
            </a:r>
            <a:r>
              <a:rPr lang="zh-CN" altLang="en-US"/>
              <a:t>。批量</a:t>
            </a:r>
            <a:r>
              <a:rPr lang="en-US" altLang="zh-CN"/>
              <a:t>RNA</a:t>
            </a:r>
            <a:r>
              <a:rPr lang="zh-CN" altLang="en-US"/>
              <a:t>结果是机制关联，应通过敲低</a:t>
            </a:r>
            <a:r>
              <a:rPr lang="en-US" altLang="zh-CN"/>
              <a:t>/</a:t>
            </a:r>
            <a:r>
              <a:rPr lang="zh-CN" altLang="en-US"/>
              <a:t>救援及功能复测检验</a:t>
            </a:r>
            <a:r>
              <a:rPr lang="en-US" altLang="zh-CN"/>
              <a:t>ABCA1</a:t>
            </a:r>
            <a:r>
              <a:rPr lang="zh-CN" altLang="en-US"/>
              <a:t>必要</a:t>
            </a:r>
            <a:r>
              <a:rPr lang="en-US" altLang="zh-CN"/>
              <a:t>/</a:t>
            </a:r>
            <a:r>
              <a:rPr lang="zh-CN" altLang="en-US"/>
              <a:t>充分性，此类实验是建议而非论文已完成。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C5322-3113-412A-BEC0-184B8F72824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797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第二轮十药由实验反馈与文献综合提出，</a:t>
            </a:r>
            <a:r>
              <a:rPr lang="en-US" altLang="zh-CN"/>
              <a:t>ripasudil</a:t>
            </a:r>
            <a:r>
              <a:rPr lang="zh-CN" altLang="en-US"/>
              <a:t>是在日本批准用于青光眼的</a:t>
            </a:r>
            <a:r>
              <a:rPr lang="en-US" altLang="zh-CN"/>
              <a:t>ROCK</a:t>
            </a:r>
            <a:r>
              <a:rPr lang="zh-CN" altLang="en-US"/>
              <a:t>抑制剂，相比研究分子</a:t>
            </a:r>
            <a:r>
              <a:rPr lang="en-US" altLang="zh-CN"/>
              <a:t>Y27632</a:t>
            </a:r>
            <a:r>
              <a:rPr lang="zh-CN" altLang="en-US"/>
              <a:t>有再利用背景。</a:t>
            </a:r>
            <a:r>
              <a:rPr lang="en-US" altLang="zh-CN"/>
              <a:t>ARPE19</a:t>
            </a:r>
            <a:r>
              <a:rPr lang="zh-CN" altLang="en-US"/>
              <a:t>读数为</a:t>
            </a:r>
            <a:r>
              <a:rPr lang="en-US" altLang="zh-CN"/>
              <a:t>1.89×vehicle</a:t>
            </a:r>
            <a:r>
              <a:rPr lang="zh-CN" altLang="en-US"/>
              <a:t>，人类分析</a:t>
            </a:r>
            <a:r>
              <a:rPr lang="en-US" altLang="zh-CN"/>
              <a:t>1.75×</a:t>
            </a:r>
            <a:r>
              <a:rPr lang="zh-CN" altLang="en-US"/>
              <a:t>，不能读成净增加</a:t>
            </a:r>
            <a:r>
              <a:rPr lang="en-US" altLang="zh-CN"/>
              <a:t>189%</a:t>
            </a:r>
            <a:r>
              <a:rPr lang="zh-CN" altLang="en-US"/>
              <a:t>。原代</a:t>
            </a:r>
            <a:r>
              <a:rPr lang="en-US" altLang="zh-CN"/>
              <a:t>RPE-SC</a:t>
            </a:r>
            <a:r>
              <a:rPr lang="zh-CN" altLang="en-US"/>
              <a:t>来自</a:t>
            </a:r>
            <a:r>
              <a:rPr lang="en-US" altLang="zh-CN"/>
              <a:t>&gt;60</a:t>
            </a:r>
            <a:r>
              <a:rPr lang="zh-CN" altLang="en-US"/>
              <a:t>岁单供者，牛</a:t>
            </a:r>
            <a:r>
              <a:rPr lang="en-US" altLang="zh-CN"/>
              <a:t>ROS</a:t>
            </a:r>
            <a:r>
              <a:rPr lang="zh-CN" altLang="en-US"/>
              <a:t>替代微球，</a:t>
            </a:r>
            <a:r>
              <a:rPr lang="en-US" altLang="zh-CN"/>
              <a:t>n4</a:t>
            </a:r>
            <a:r>
              <a:rPr lang="zh-CN" altLang="en-US"/>
              <a:t>孔筛选</a:t>
            </a:r>
            <a:r>
              <a:rPr lang="en-US" altLang="zh-CN"/>
              <a:t>/</a:t>
            </a:r>
            <a:r>
              <a:rPr lang="zh-CN" altLang="en-US"/>
              <a:t>剂量响应支持</a:t>
            </a:r>
            <a:r>
              <a:rPr lang="en-US" altLang="zh-CN"/>
              <a:t>ripasudil</a:t>
            </a:r>
            <a:r>
              <a:rPr lang="zh-CN" altLang="en-US"/>
              <a:t>和</a:t>
            </a:r>
            <a:r>
              <a:rPr lang="en-US" altLang="zh-CN"/>
              <a:t>Y27632</a:t>
            </a:r>
            <a:r>
              <a:rPr lang="zh-CN" altLang="en-US"/>
              <a:t>。上清</a:t>
            </a:r>
            <a:r>
              <a:rPr lang="en-US" altLang="zh-CN"/>
              <a:t>LDH</a:t>
            </a:r>
            <a:r>
              <a:rPr lang="zh-CN" altLang="en-US"/>
              <a:t>补充毒性读数，</a:t>
            </a:r>
            <a:r>
              <a:rPr lang="en-US" altLang="zh-CN"/>
              <a:t>Y27632</a:t>
            </a:r>
            <a:r>
              <a:rPr lang="zh-CN" altLang="en-US"/>
              <a:t>剂量与</a:t>
            </a:r>
            <a:r>
              <a:rPr lang="en-US" altLang="zh-CN"/>
              <a:t>LDH</a:t>
            </a:r>
            <a:r>
              <a:rPr lang="zh-CN" altLang="en-US"/>
              <a:t>无相关，</a:t>
            </a:r>
            <a:r>
              <a:rPr lang="en-US" altLang="zh-CN"/>
              <a:t>ripasudil</a:t>
            </a:r>
            <a:r>
              <a:rPr lang="zh-CN" altLang="en-US"/>
              <a:t>为负相关。</a:t>
            </a:r>
            <a:r>
              <a:rPr lang="en-US" altLang="zh-CN"/>
              <a:t>KL001</a:t>
            </a:r>
            <a:r>
              <a:rPr lang="zh-CN" altLang="en-US"/>
              <a:t>通过防止</a:t>
            </a:r>
            <a:r>
              <a:rPr lang="en-US" altLang="zh-CN"/>
              <a:t>CRY</a:t>
            </a:r>
            <a:r>
              <a:rPr lang="zh-CN" altLang="en-US"/>
              <a:t>蛋白泛素依赖降解稳定蛋白，依据</a:t>
            </a:r>
            <a:r>
              <a:rPr lang="en-US" altLang="zh-CN"/>
              <a:t>RPE</a:t>
            </a:r>
            <a:r>
              <a:rPr lang="zh-CN" altLang="en-US"/>
              <a:t>吞噬昼夜节律联系成为候选并命中。原代有</a:t>
            </a:r>
            <a:r>
              <a:rPr lang="en-US" altLang="zh-CN"/>
              <a:t>/</a:t>
            </a:r>
            <a:r>
              <a:rPr lang="zh-CN" altLang="en-US"/>
              <a:t>无</a:t>
            </a:r>
            <a:r>
              <a:rPr lang="en-US" altLang="zh-CN"/>
              <a:t>ROS</a:t>
            </a:r>
            <a:r>
              <a:rPr lang="zh-CN" altLang="en-US"/>
              <a:t>条件下</a:t>
            </a:r>
            <a:r>
              <a:rPr lang="en-US" altLang="zh-CN"/>
              <a:t>ripasudil</a:t>
            </a:r>
            <a:r>
              <a:rPr lang="zh-CN" altLang="en-US"/>
              <a:t>均引起</a:t>
            </a:r>
            <a:r>
              <a:rPr lang="en-US" altLang="zh-CN"/>
              <a:t>ABCA1</a:t>
            </a:r>
            <a:r>
              <a:rPr lang="zh-CN" altLang="en-US"/>
              <a:t>上调，扩展机制一致性但尚未验证</a:t>
            </a:r>
            <a:r>
              <a:rPr lang="en-US" altLang="zh-CN"/>
              <a:t>ABCA1</a:t>
            </a:r>
            <a:r>
              <a:rPr lang="zh-CN" altLang="en-US"/>
              <a:t>因果。展示图来自</a:t>
            </a:r>
            <a:r>
              <a:rPr lang="en-US" altLang="zh-CN"/>
              <a:t>Fig.4b–c</a:t>
            </a:r>
            <a:r>
              <a:rPr lang="zh-CN" altLang="en-US"/>
              <a:t>。生物实验单位包括培养</a:t>
            </a:r>
            <a:r>
              <a:rPr lang="en-US" altLang="zh-CN"/>
              <a:t>/</a:t>
            </a:r>
            <a:r>
              <a:rPr lang="zh-CN" altLang="en-US"/>
              <a:t>供者，单供者多个孔不能扩大成人群证据。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C5322-3113-412A-BEC0-184B8F72824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2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BixBench</a:t>
            </a:r>
            <a:r>
              <a:rPr lang="zh-CN" altLang="en-US"/>
              <a:t>均值</a:t>
            </a:r>
            <a:r>
              <a:rPr lang="en-US" altLang="zh-CN"/>
              <a:t>±</a:t>
            </a:r>
            <a:r>
              <a:rPr lang="zh-CN" altLang="en-US"/>
              <a:t>标准误，</a:t>
            </a:r>
            <a:r>
              <a:rPr lang="en-US" altLang="zh-CN"/>
              <a:t>n3</a:t>
            </a:r>
            <a:r>
              <a:rPr lang="zh-CN" altLang="en-US"/>
              <a:t>运行，选定</a:t>
            </a:r>
            <a:r>
              <a:rPr lang="en-US" altLang="zh-CN"/>
              <a:t>170</a:t>
            </a:r>
            <a:r>
              <a:rPr lang="zh-CN" altLang="en-US"/>
              <a:t>问题；</a:t>
            </a:r>
            <a:r>
              <a:rPr lang="en-US" altLang="zh-CN"/>
              <a:t>Finch</a:t>
            </a:r>
            <a:r>
              <a:rPr lang="zh-CN" altLang="en-US"/>
              <a:t>总体</a:t>
            </a:r>
            <a:r>
              <a:rPr lang="en-US" altLang="zh-CN"/>
              <a:t>22.8±1.7%</a:t>
            </a:r>
            <a:r>
              <a:rPr lang="zh-CN" altLang="en-US"/>
              <a:t>，</a:t>
            </a:r>
            <a:r>
              <a:rPr lang="en-US" altLang="zh-CN"/>
              <a:t>Sonnet3.7</a:t>
            </a:r>
            <a:r>
              <a:rPr lang="zh-CN" altLang="en-US"/>
              <a:t>无</a:t>
            </a:r>
            <a:r>
              <a:rPr lang="en-US" altLang="zh-CN"/>
              <a:t>agent</a:t>
            </a:r>
            <a:r>
              <a:rPr lang="zh-CN" altLang="en-US"/>
              <a:t>框架</a:t>
            </a:r>
            <a:r>
              <a:rPr lang="en-US" altLang="zh-CN"/>
              <a:t>1.6±1.2%</a:t>
            </a:r>
            <a:r>
              <a:rPr lang="zh-CN" altLang="en-US"/>
              <a:t>，生物统计</a:t>
            </a:r>
            <a:r>
              <a:rPr lang="en-US" altLang="zh-CN"/>
              <a:t>47.9±1.5%</a:t>
            </a:r>
            <a:r>
              <a:rPr lang="zh-CN" altLang="en-US"/>
              <a:t>、生物信息</a:t>
            </a:r>
            <a:r>
              <a:rPr lang="en-US" altLang="zh-CN"/>
              <a:t>15.3±2.0%</a:t>
            </a:r>
            <a:r>
              <a:rPr lang="zh-CN" altLang="en-US"/>
              <a:t>。这是系统工具流程比较而非相同工具多智能体数量的干净消融。任务特定专家</a:t>
            </a:r>
            <a:r>
              <a:rPr lang="en-US" altLang="zh-CN"/>
              <a:t>rubric RNAseq86%</a:t>
            </a:r>
            <a:r>
              <a:rPr lang="zh-CN" altLang="en-US"/>
              <a:t>、</a:t>
            </a:r>
            <a:r>
              <a:rPr lang="en-US" altLang="zh-CN"/>
              <a:t>flow100%</a:t>
            </a:r>
            <a:r>
              <a:rPr lang="zh-CN" altLang="en-US"/>
              <a:t>也只是遵从评分，不代表所有真实任务准确率。文献检查</a:t>
            </a:r>
            <a:r>
              <a:rPr lang="en-US" altLang="zh-CN"/>
              <a:t>Crow15</a:t>
            </a:r>
            <a:r>
              <a:rPr lang="zh-CN" altLang="en-US"/>
              <a:t>方案零虚构，</a:t>
            </a:r>
            <a:r>
              <a:rPr lang="en-US" altLang="zh-CN"/>
              <a:t>o4mini44.5±6.37%</a:t>
            </a:r>
            <a:r>
              <a:rPr lang="zh-CN" altLang="en-US"/>
              <a:t>虚构，支持源证据检索。候选质量消融由</a:t>
            </a:r>
            <a:r>
              <a:rPr lang="en-US" altLang="zh-CN"/>
              <a:t>LLM</a:t>
            </a:r>
            <a:r>
              <a:rPr lang="zh-CN" altLang="en-US"/>
              <a:t>评审，仍有评审偏差。</a:t>
            </a:r>
            <a:r>
              <a:rPr lang="en-US" altLang="zh-CN"/>
              <a:t>Robin</a:t>
            </a:r>
            <a:r>
              <a:rPr lang="zh-CN" altLang="en-US"/>
              <a:t>调用顺序几乎固定，后续作者精简为</a:t>
            </a:r>
            <a:r>
              <a:rPr lang="en-US" altLang="zh-CN"/>
              <a:t>notebook</a:t>
            </a:r>
            <a:r>
              <a:rPr lang="zh-CN" altLang="en-US"/>
              <a:t>，不能宣称自由自主规划已建立。</a:t>
            </a:r>
            <a:r>
              <a:rPr lang="en-US" altLang="zh-CN"/>
              <a:t>8</a:t>
            </a:r>
            <a:r>
              <a:rPr lang="zh-CN" altLang="en-US"/>
              <a:t>路径共识不能消除相同数据、相同提示、相同模型的共同错误。时间收益为作者估计，</a:t>
            </a:r>
            <a:r>
              <a:rPr lang="en-US" altLang="zh-CN"/>
              <a:t>551</a:t>
            </a:r>
            <a:r>
              <a:rPr lang="zh-CN" altLang="en-US"/>
              <a:t>论文约</a:t>
            </a:r>
            <a:r>
              <a:rPr lang="en-US" altLang="zh-CN"/>
              <a:t>30min</a:t>
            </a:r>
            <a:r>
              <a:rPr lang="zh-CN" altLang="en-US"/>
              <a:t>，</a:t>
            </a:r>
            <a:r>
              <a:rPr lang="en-US" altLang="zh-CN"/>
              <a:t>359–424</a:t>
            </a:r>
            <a:r>
              <a:rPr lang="zh-CN" altLang="en-US"/>
              <a:t>人工</a:t>
            </a:r>
            <a:r>
              <a:rPr lang="en-US" altLang="zh-CN"/>
              <a:t>h</a:t>
            </a:r>
            <a:r>
              <a:rPr lang="zh-CN" altLang="en-US"/>
              <a:t>与</a:t>
            </a:r>
            <a:r>
              <a:rPr lang="en-US" altLang="zh-CN"/>
              <a:t>&lt;2</a:t>
            </a:r>
            <a:r>
              <a:rPr lang="zh-CN" altLang="en-US"/>
              <a:t>认知</a:t>
            </a:r>
            <a:r>
              <a:rPr lang="en-US" altLang="zh-CN"/>
              <a:t>h</a:t>
            </a:r>
            <a:r>
              <a:rPr lang="zh-CN" altLang="en-US"/>
              <a:t>没有受控时间</a:t>
            </a:r>
            <a:r>
              <a:rPr lang="en-US" altLang="zh-CN"/>
              <a:t>benchmark</a:t>
            </a:r>
            <a:r>
              <a:rPr lang="zh-CN" altLang="en-US"/>
              <a:t>。单任务</a:t>
            </a:r>
            <a:r>
              <a:rPr lang="en-US" altLang="zh-CN"/>
              <a:t>DeepResearch</a:t>
            </a:r>
            <a:r>
              <a:rPr lang="zh-CN" altLang="en-US"/>
              <a:t>候选</a:t>
            </a:r>
            <a:r>
              <a:rPr lang="en-US" altLang="zh-CN"/>
              <a:t>17</a:t>
            </a:r>
            <a:r>
              <a:rPr lang="zh-CN" altLang="en-US"/>
              <a:t>独特无命中也无法普遍证明系统优势。主要科学贡献为有文献依据的跨领域候选和湿实验反馈更新。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C5322-3113-412A-BEC0-184B8F72824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481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本页为独立通用方案，与任何特定项目当前实现无关。</a:t>
            </a:r>
            <a:r>
              <a:rPr lang="en-US" altLang="zh-CN"/>
              <a:t>MAP</a:t>
            </a:r>
            <a:r>
              <a:rPr lang="zh-CN" altLang="en-US"/>
              <a:t>提供用结构与机制相关关系生成条件响应的思路，</a:t>
            </a:r>
            <a:r>
              <a:rPr lang="en-US" altLang="zh-CN"/>
              <a:t>Robin</a:t>
            </a:r>
            <a:r>
              <a:rPr lang="zh-CN" altLang="en-US"/>
              <a:t>提供把文献、实验和可执行分析衔接的思路。最小数据契约包括统一药物</a:t>
            </a:r>
            <a:r>
              <a:rPr lang="en-US" altLang="zh-CN"/>
              <a:t>/</a:t>
            </a:r>
            <a:r>
              <a:rPr lang="zh-CN" altLang="en-US"/>
              <a:t>基因身份、作用方向、物种</a:t>
            </a:r>
            <a:r>
              <a:rPr lang="en-US" altLang="zh-CN"/>
              <a:t>/</a:t>
            </a:r>
            <a:r>
              <a:rPr lang="zh-CN" altLang="en-US"/>
              <a:t>细胞、剂量</a:t>
            </a:r>
            <a:r>
              <a:rPr lang="en-US" altLang="zh-CN"/>
              <a:t>/</a:t>
            </a:r>
            <a:r>
              <a:rPr lang="zh-CN" altLang="en-US"/>
              <a:t>时间、引用等级、预测</a:t>
            </a:r>
            <a:r>
              <a:rPr lang="en-US" altLang="zh-CN"/>
              <a:t>/</a:t>
            </a:r>
            <a:r>
              <a:rPr lang="zh-CN" altLang="en-US"/>
              <a:t>观察区分、原始数据版本、对照和单位、</a:t>
            </a:r>
            <a:r>
              <a:rPr lang="en-US" altLang="zh-CN"/>
              <a:t>QC</a:t>
            </a:r>
            <a:r>
              <a:rPr lang="zh-CN" altLang="en-US"/>
              <a:t>、效应与区间、成本及失败</a:t>
            </a:r>
            <a:r>
              <a:rPr lang="en-US" altLang="zh-CN"/>
              <a:t>/</a:t>
            </a:r>
            <a:r>
              <a:rPr lang="zh-CN" altLang="en-US"/>
              <a:t>停止理由。可用不确定性与机制分歧选择实验，但必须先确认不确定性经过校准。</a:t>
            </a:r>
            <a:r>
              <a:rPr lang="en-US" altLang="zh-CN"/>
              <a:t>ROCK</a:t>
            </a:r>
            <a:r>
              <a:rPr lang="zh-CN" altLang="en-US"/>
              <a:t>例子为设计演示，不声称新候选已有效。功能命中后</a:t>
            </a:r>
            <a:r>
              <a:rPr lang="en-US" altLang="zh-CN"/>
              <a:t>RNA</a:t>
            </a:r>
            <a:r>
              <a:rPr lang="zh-CN" altLang="en-US"/>
              <a:t>给出关联，再用抑制</a:t>
            </a:r>
            <a:r>
              <a:rPr lang="en-US" altLang="zh-CN"/>
              <a:t>/</a:t>
            </a:r>
            <a:r>
              <a:rPr lang="zh-CN" altLang="en-US"/>
              <a:t>敲低</a:t>
            </a:r>
            <a:r>
              <a:rPr lang="en-US" altLang="zh-CN"/>
              <a:t>/</a:t>
            </a:r>
            <a:r>
              <a:rPr lang="zh-CN" altLang="en-US"/>
              <a:t>救援区分机制因果。避免将预测转录恢复等同于真实功能改善。候选名单中的每条记录需支持第三方查回证据与重跑分析。
</a:t>
            </a:r>
            <a:r>
              <a:rPr lang="en-US" altLang="zh-CN"/>
              <a:t>Feng et al., Nature Machine Intelligence (2026). DOI: 10.1038/s42256-026-01286-w
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C5322-3113-412A-BEC0-184B8F72824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5383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本页是可证伪的最小评测设计。知识比较应同时控制结构信息、图谱规模与关系置换，外推药物及相关边不进入预训练。预测比较先用真实</a:t>
            </a:r>
            <a:r>
              <a:rPr lang="en-US" altLang="zh-CN"/>
              <a:t>RNA</a:t>
            </a:r>
            <a:r>
              <a:rPr lang="zh-CN" altLang="en-US"/>
              <a:t>替代预测测上限，如果同条件真实</a:t>
            </a:r>
            <a:r>
              <a:rPr lang="en-US" altLang="zh-CN"/>
              <a:t>RNA</a:t>
            </a:r>
            <a:r>
              <a:rPr lang="zh-CN" altLang="en-US"/>
              <a:t>也不能提高功能决策，则复杂预测模型缺乏该端点的信息收益。策略比较应固定</a:t>
            </a:r>
            <a:r>
              <a:rPr lang="en-US" altLang="zh-CN"/>
              <a:t>B</a:t>
            </a:r>
            <a:r>
              <a:rPr lang="zh-CN" altLang="en-US"/>
              <a:t>、药物菜单、初始数据、工具、条件与动作，设置确定性、</a:t>
            </a:r>
            <a:r>
              <a:rPr lang="en-US" altLang="zh-CN"/>
              <a:t>LLM</a:t>
            </a:r>
            <a:r>
              <a:rPr lang="zh-CN" altLang="en-US"/>
              <a:t>、无更新</a:t>
            </a:r>
            <a:r>
              <a:rPr lang="en-US" altLang="zh-CN"/>
              <a:t>/</a:t>
            </a:r>
            <a:r>
              <a:rPr lang="zh-CN" altLang="en-US"/>
              <a:t>不追加实验及廉价先验。预算是所有采集与调用的成本，不能仅按轮数。终局效用可以定义为固定</a:t>
            </a:r>
            <a:r>
              <a:rPr lang="en-US" altLang="zh-CN"/>
              <a:t>k</a:t>
            </a:r>
            <a:r>
              <a:rPr lang="zh-CN" altLang="en-US"/>
              <a:t>入选的平均功能效应及预注册毒性约束，另报每总成本有效命中、假阳性和错误淘汰。独立性以供者</a:t>
            </a:r>
            <a:r>
              <a:rPr lang="en-US" altLang="zh-CN"/>
              <a:t>/</a:t>
            </a:r>
            <a:r>
              <a:rPr lang="zh-CN" altLang="en-US"/>
              <a:t>培养批次等真实单位定义，不能把细胞、孔或</a:t>
            </a:r>
            <a:r>
              <a:rPr lang="en-US" altLang="zh-CN"/>
              <a:t>8</a:t>
            </a:r>
            <a:r>
              <a:rPr lang="zh-CN" altLang="en-US"/>
              <a:t>分析轨迹扩大为生物学</a:t>
            </a:r>
            <a:r>
              <a:rPr lang="en-US" altLang="zh-CN"/>
              <a:t>n</a:t>
            </a:r>
            <a:r>
              <a:rPr lang="zh-CN" altLang="en-US"/>
              <a:t>。置信区间按背景</a:t>
            </a:r>
            <a:r>
              <a:rPr lang="en-US" altLang="zh-CN"/>
              <a:t>/</a:t>
            </a:r>
            <a:r>
              <a:rPr lang="zh-CN" altLang="en-US"/>
              <a:t>独立单位重采样，并预先声明最低有用效益与停止条件。功能读数与</a:t>
            </a:r>
            <a:r>
              <a:rPr lang="en-US" altLang="zh-CN"/>
              <a:t>RNA</a:t>
            </a:r>
            <a:r>
              <a:rPr lang="zh-CN" altLang="en-US"/>
              <a:t>需绑定同培养单元、剂量、时间和共享对照，避免跨实验的无证据桥接。
</a:t>
            </a:r>
            <a:r>
              <a:rPr lang="en-US" altLang="zh-CN"/>
              <a:t>Feng et al., Nature Machine Intelligence (2026). DOI: 10.1038/s42256-026-01286-w
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C5322-3113-412A-BEC0-184B8F72824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9466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MAESTRO</a:t>
            </a:r>
            <a:r>
              <a:rPr lang="zh-CN" altLang="en-US"/>
              <a:t>独立部分。</a:t>
            </a:r>
            <a:r>
              <a:rPr lang="en-US" altLang="zh-CN"/>
              <a:t>0927</a:t>
            </a:r>
            <a:r>
              <a:rPr lang="zh-CN" altLang="en-US"/>
              <a:t>主要瓶颈为</a:t>
            </a:r>
            <a:r>
              <a:rPr lang="en-US" altLang="zh-CN"/>
              <a:t>76–82%</a:t>
            </a:r>
            <a:r>
              <a:rPr lang="zh-CN" altLang="en-US"/>
              <a:t>动作菜单难以区分，独立单位功效不足和选择优势未建立。当前已有可执行</a:t>
            </a:r>
            <a:r>
              <a:rPr lang="en-US" altLang="zh-CN"/>
              <a:t>agent–decision–virtual-cell</a:t>
            </a:r>
            <a:r>
              <a:rPr lang="zh-CN" altLang="en-US"/>
              <a:t>两轮反馈合同、持久化、预算、重试与重启。坐标扩展</a:t>
            </a:r>
            <a:r>
              <a:rPr lang="en-US" altLang="zh-CN"/>
              <a:t>c44/c45</a:t>
            </a:r>
            <a:r>
              <a:rPr lang="zh-CN" altLang="en-US"/>
              <a:t>唯一匹配</a:t>
            </a:r>
            <a:r>
              <a:rPr lang="en-US" altLang="zh-CN"/>
              <a:t>39/39</a:t>
            </a:r>
            <a:r>
              <a:rPr lang="zh-CN" altLang="en-US"/>
              <a:t>对全部</a:t>
            </a:r>
            <a:r>
              <a:rPr lang="en-US" altLang="zh-CN"/>
              <a:t>62710</a:t>
            </a:r>
            <a:r>
              <a:rPr lang="zh-CN" altLang="en-US"/>
              <a:t>基因，</a:t>
            </a:r>
            <a:r>
              <a:rPr lang="en-US" altLang="zh-CN"/>
              <a:t>log1p(stored normalizedX)</a:t>
            </a:r>
            <a:r>
              <a:rPr lang="zh-CN" altLang="en-US"/>
              <a:t>不变，容差</a:t>
            </a:r>
            <a:r>
              <a:rPr lang="en-US" altLang="zh-CN"/>
              <a:t>1e-5</a:t>
            </a:r>
            <a:r>
              <a:rPr lang="zh-CN" altLang="en-US"/>
              <a:t>，最大差</a:t>
            </a:r>
            <a:r>
              <a:rPr lang="en-US" altLang="zh-CN"/>
              <a:t>1.4416e-7/1.4611e-7</a:t>
            </a:r>
            <a:r>
              <a:rPr lang="zh-CN" altLang="en-US"/>
              <a:t>，独立块状算术复核一致。</a:t>
            </a:r>
            <a:r>
              <a:rPr lang="en-US" altLang="zh-CN"/>
              <a:t>c44</a:t>
            </a:r>
            <a:r>
              <a:rPr lang="zh-CN" altLang="en-US"/>
              <a:t>复用</a:t>
            </a:r>
            <a:r>
              <a:rPr lang="en-US" altLang="zh-CN"/>
              <a:t>252</a:t>
            </a:r>
            <a:r>
              <a:rPr lang="zh-CN" altLang="en-US"/>
              <a:t>暴露细胞</a:t>
            </a:r>
            <a:r>
              <a:rPr lang="en-US" altLang="zh-CN"/>
              <a:t>0RNA</a:t>
            </a:r>
            <a:r>
              <a:rPr lang="zh-CN" altLang="en-US"/>
              <a:t>字节，</a:t>
            </a:r>
            <a:r>
              <a:rPr lang="en-US" altLang="zh-CN"/>
              <a:t>c45</a:t>
            </a:r>
            <a:r>
              <a:rPr lang="zh-CN" altLang="en-US"/>
              <a:t>十一细胞</a:t>
            </a:r>
            <a:r>
              <a:rPr lang="en-US" altLang="zh-CN"/>
              <a:t>133564</a:t>
            </a:r>
            <a:r>
              <a:rPr lang="zh-CN" altLang="en-US"/>
              <a:t>表达字节，相对</a:t>
            </a:r>
            <a:r>
              <a:rPr lang="en-US" altLang="zh-CN"/>
              <a:t>340068</a:t>
            </a:r>
            <a:r>
              <a:rPr lang="zh-CN" altLang="en-US"/>
              <a:t>减少</a:t>
            </a:r>
            <a:r>
              <a:rPr lang="en-US" altLang="zh-CN"/>
              <a:t>60.7%</a:t>
            </a:r>
            <a:r>
              <a:rPr lang="zh-CN" altLang="en-US"/>
              <a:t>。认证只覆盖两个文件</a:t>
            </a:r>
            <a:r>
              <a:rPr lang="en-US" altLang="zh-CN"/>
              <a:t>39</a:t>
            </a:r>
            <a:r>
              <a:rPr lang="zh-CN" altLang="en-US"/>
              <a:t>端点，不能认证完整</a:t>
            </a:r>
            <a:r>
              <a:rPr lang="en-US" altLang="zh-CN"/>
              <a:t>2000</a:t>
            </a:r>
            <a:r>
              <a:rPr lang="zh-CN" altLang="en-US"/>
              <a:t>基因或</a:t>
            </a:r>
            <a:r>
              <a:rPr lang="en-US" altLang="zh-CN"/>
              <a:t>checkpoint</a:t>
            </a:r>
            <a:r>
              <a:rPr lang="zh-CN" altLang="en-US"/>
              <a:t>输出轴。表型研究</a:t>
            </a:r>
            <a:r>
              <a:rPr lang="en-US" altLang="zh-CN"/>
              <a:t>40</a:t>
            </a:r>
            <a:r>
              <a:rPr lang="zh-CN" altLang="en-US"/>
              <a:t>参考背景</a:t>
            </a:r>
            <a:r>
              <a:rPr lang="en-US" altLang="zh-CN"/>
              <a:t>5checkpoint</a:t>
            </a:r>
            <a:r>
              <a:rPr lang="zh-CN" altLang="en-US"/>
              <a:t>留出背景，</a:t>
            </a:r>
            <a:r>
              <a:rPr lang="en-US" altLang="zh-CN"/>
              <a:t>G1</a:t>
            </a:r>
            <a:r>
              <a:rPr lang="zh-CN" altLang="en-US"/>
              <a:t>的</a:t>
            </a:r>
            <a:r>
              <a:rPr lang="en-US" altLang="zh-CN"/>
              <a:t>S_cells</a:t>
            </a:r>
            <a:r>
              <a:rPr lang="zh-CN" altLang="en-US"/>
              <a:t>平均</a:t>
            </a:r>
            <a:r>
              <a:rPr lang="en-US" altLang="zh-CN"/>
              <a:t>r.3495417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为</a:t>
            </a:r>
            <a:r>
              <a:rPr lang="en-US" altLang="zh-CN"/>
              <a:t>.0959951</a:t>
            </a:r>
            <a:r>
              <a:rPr lang="zh-CN" altLang="en-US"/>
              <a:t>，差</a:t>
            </a:r>
            <a:r>
              <a:rPr lang="en-US" altLang="zh-CN"/>
              <a:t>.2535466</a:t>
            </a:r>
            <a:r>
              <a:rPr lang="zh-CN" altLang="en-US"/>
              <a:t>，</a:t>
            </a:r>
            <a:r>
              <a:rPr lang="en-US" altLang="zh-CN"/>
              <a:t>CI[.1564786,.3672753]</a:t>
            </a:r>
            <a:r>
              <a:rPr lang="zh-CN" altLang="en-US"/>
              <a:t>，</a:t>
            </a:r>
            <a:r>
              <a:rPr lang="en-US" altLang="zh-CN"/>
              <a:t>4/5</a:t>
            </a:r>
            <a:r>
              <a:rPr lang="zh-CN" altLang="en-US"/>
              <a:t>更好。</a:t>
            </a:r>
            <a:r>
              <a:rPr lang="en-US" altLang="zh-CN"/>
              <a:t>E1 STATE kernel r.0722125 vsB.2984267</a:t>
            </a:r>
            <a:r>
              <a:rPr lang="zh-CN" altLang="en-US"/>
              <a:t>，差</a:t>
            </a:r>
            <a:r>
              <a:rPr lang="en-US" altLang="zh-CN"/>
              <a:t>-.2262142</a:t>
            </a:r>
            <a:r>
              <a:rPr lang="zh-CN" altLang="en-US"/>
              <a:t>；真实</a:t>
            </a:r>
            <a:r>
              <a:rPr lang="en-US" altLang="zh-CN"/>
              <a:t>RNA</a:t>
            </a:r>
            <a:r>
              <a:rPr lang="zh-CN" altLang="en-US"/>
              <a:t>参考上限比</a:t>
            </a:r>
            <a:r>
              <a:rPr lang="en-US" altLang="zh-CN"/>
              <a:t>B</a:t>
            </a:r>
            <a:r>
              <a:rPr lang="zh-CN" altLang="en-US"/>
              <a:t>仅</a:t>
            </a:r>
            <a:r>
              <a:rPr lang="en-US" altLang="zh-CN"/>
              <a:t>.0029597</a:t>
            </a:r>
            <a:r>
              <a:rPr lang="zh-CN" altLang="en-US"/>
              <a:t>，低于预注册</a:t>
            </a:r>
            <a:r>
              <a:rPr lang="en-US" altLang="zh-CN"/>
              <a:t>.05</a:t>
            </a:r>
            <a:r>
              <a:rPr lang="zh-CN" altLang="en-US"/>
              <a:t>最低收益，门控拒绝。曾暴露背景和参考预训练重叠意味着开发证据，不是独立盲测。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C5322-3113-412A-BEC0-184B8F72824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1163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V3</a:t>
            </a:r>
            <a:r>
              <a:rPr lang="zh-CN" altLang="en-US"/>
              <a:t>预购买停止从</a:t>
            </a:r>
            <a:r>
              <a:rPr lang="en-US" altLang="zh-CN"/>
              <a:t>129</a:t>
            </a:r>
            <a:r>
              <a:rPr lang="zh-CN" altLang="en-US"/>
              <a:t>降</a:t>
            </a:r>
            <a:r>
              <a:rPr lang="en-US" altLang="zh-CN"/>
              <a:t>35</a:t>
            </a:r>
            <a:r>
              <a:rPr lang="zh-CN" altLang="en-US"/>
              <a:t>，</a:t>
            </a:r>
            <a:r>
              <a:rPr lang="en-US" altLang="zh-CN"/>
              <a:t>94</a:t>
            </a:r>
            <a:r>
              <a:rPr lang="zh-CN" altLang="en-US"/>
              <a:t>次节省</a:t>
            </a:r>
            <a:r>
              <a:rPr lang="en-US" altLang="zh-CN"/>
              <a:t>72.9%</a:t>
            </a:r>
            <a:r>
              <a:rPr lang="zh-CN" altLang="en-US"/>
              <a:t>，最终匹配动作不变，</a:t>
            </a:r>
            <a:r>
              <a:rPr lang="en-US" altLang="zh-CN"/>
              <a:t>total</a:t>
            </a:r>
            <a:r>
              <a:rPr lang="zh-CN" altLang="en-US"/>
              <a:t>模拟</a:t>
            </a:r>
            <a:r>
              <a:rPr lang="en-US" altLang="zh-CN"/>
              <a:t>profiles774</a:t>
            </a:r>
            <a:r>
              <a:rPr lang="zh-CN" altLang="en-US"/>
              <a:t>至</a:t>
            </a:r>
            <a:r>
              <a:rPr lang="en-US" altLang="zh-CN"/>
              <a:t>680</a:t>
            </a:r>
            <a:r>
              <a:rPr lang="zh-CN" altLang="en-US"/>
              <a:t>，无更新</a:t>
            </a:r>
            <a:r>
              <a:rPr lang="en-US" altLang="zh-CN"/>
              <a:t>645</a:t>
            </a:r>
            <a:r>
              <a:rPr lang="zh-CN" altLang="en-US"/>
              <a:t>。不能据节省认定净实验信息价值或</a:t>
            </a:r>
            <a:r>
              <a:rPr lang="en-US" altLang="zh-CN"/>
              <a:t>LLM</a:t>
            </a:r>
            <a:r>
              <a:rPr lang="zh-CN" altLang="en-US"/>
              <a:t>优势。</a:t>
            </a:r>
            <a:r>
              <a:rPr lang="en-US" altLang="zh-CN"/>
              <a:t>BvsZ top10</a:t>
            </a:r>
            <a:r>
              <a:rPr lang="zh-CN" altLang="en-US"/>
              <a:t>生存选择性效用</a:t>
            </a:r>
            <a:r>
              <a:rPr lang="en-US" altLang="zh-CN"/>
              <a:t>+.5580816log2</a:t>
            </a:r>
            <a:r>
              <a:rPr lang="zh-CN" altLang="en-US"/>
              <a:t>，</a:t>
            </a:r>
            <a:r>
              <a:rPr lang="en-US" altLang="zh-CN"/>
              <a:t>CI[.2352212,.8191470]</a:t>
            </a:r>
            <a:r>
              <a:rPr lang="zh-CN" altLang="en-US"/>
              <a:t>，五背景均更好。</a:t>
            </a:r>
            <a:r>
              <a:rPr lang="en-US" altLang="zh-CN"/>
              <a:t>B</a:t>
            </a:r>
            <a:r>
              <a:rPr lang="zh-CN" altLang="en-US"/>
              <a:t>为基础相似性迁移，</a:t>
            </a:r>
            <a:r>
              <a:rPr lang="en-US" altLang="zh-CN"/>
              <a:t>Z</a:t>
            </a:r>
            <a:r>
              <a:rPr lang="zh-CN" altLang="en-US"/>
              <a:t>为通用药物强度排序，该改善来自廉价基线。</a:t>
            </a:r>
            <a:r>
              <a:rPr lang="en-US" altLang="zh-CN"/>
              <a:t>P0.6</a:t>
            </a:r>
            <a:r>
              <a:rPr lang="zh-CN" altLang="en-US"/>
              <a:t>需新冻结协议，绑定源版本、端点、排除、处理</a:t>
            </a:r>
            <a:r>
              <a:rPr lang="en-US" altLang="zh-CN"/>
              <a:t>/</a:t>
            </a:r>
            <a:r>
              <a:rPr lang="zh-CN" altLang="en-US"/>
              <a:t>对照行、实际组数、参考权重、共享对照误差、来源重复</a:t>
            </a:r>
            <a:r>
              <a:rPr lang="en-US" altLang="zh-CN"/>
              <a:t>estimand</a:t>
            </a:r>
            <a:r>
              <a:rPr lang="zh-CN" altLang="en-US"/>
              <a:t>和确切成本，</a:t>
            </a:r>
            <a:r>
              <a:rPr lang="en-US" altLang="zh-CN"/>
              <a:t>24</a:t>
            </a:r>
            <a:r>
              <a:rPr lang="zh-CN" altLang="en-US"/>
              <a:t>线</a:t>
            </a:r>
            <a:r>
              <a:rPr lang="en-US" altLang="zh-CN"/>
              <a:t>/</a:t>
            </a:r>
            <a:r>
              <a:rPr lang="zh-CN" altLang="en-US"/>
              <a:t>板分层为</a:t>
            </a:r>
            <a:r>
              <a:rPr lang="en-US" altLang="zh-CN"/>
              <a:t>12pooledsamples</a:t>
            </a:r>
            <a:r>
              <a:rPr lang="zh-CN" altLang="en-US"/>
              <a:t>。全局</a:t>
            </a:r>
            <a:r>
              <a:rPr lang="en-US" altLang="zh-CN"/>
              <a:t>24h</a:t>
            </a:r>
            <a:r>
              <a:rPr lang="zh-CN" altLang="en-US"/>
              <a:t>记录已有，逐样本时间</a:t>
            </a:r>
            <a:r>
              <a:rPr lang="en-US" altLang="zh-CN"/>
              <a:t>/</a:t>
            </a:r>
            <a:r>
              <a:rPr lang="zh-CN" altLang="en-US"/>
              <a:t>第三来源缺失，未解锁执行。未来</a:t>
            </a:r>
            <a:r>
              <a:rPr lang="en-US" altLang="zh-CN"/>
              <a:t>MAP</a:t>
            </a:r>
            <a:r>
              <a:rPr lang="zh-CN" altLang="en-US"/>
              <a:t>知识应用应分开关系方向与类型，控制结构</a:t>
            </a:r>
            <a:r>
              <a:rPr lang="en-US" altLang="zh-CN"/>
              <a:t>/</a:t>
            </a:r>
            <a:r>
              <a:rPr lang="zh-CN" altLang="en-US"/>
              <a:t>打乱知识；</a:t>
            </a:r>
            <a:r>
              <a:rPr lang="en-US" altLang="zh-CN"/>
              <a:t>Robin</a:t>
            </a:r>
            <a:r>
              <a:rPr lang="zh-CN" altLang="en-US"/>
              <a:t>反馈应用保留引用、代码、失败并预注册停止，以</a:t>
            </a:r>
            <a:r>
              <a:rPr lang="en-US" altLang="zh-CN"/>
              <a:t>sameinformation/tool/budget</a:t>
            </a:r>
            <a:r>
              <a:rPr lang="zh-CN" altLang="en-US"/>
              <a:t>确定性策略和无更新比较，终局效用、损害、成本和独立单位逐项验收。当前知识反馈和</a:t>
            </a:r>
            <a:r>
              <a:rPr lang="en-US" altLang="zh-CN"/>
              <a:t>LLM</a:t>
            </a:r>
            <a:r>
              <a:rPr lang="zh-CN" altLang="en-US"/>
              <a:t>独立科学决策收益未建立，未来方向不是现成整合成功。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C5322-3113-412A-BEC0-184B8F72824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543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5F451-C67D-AB75-D4AC-5D6C537B3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D9073A-094F-9B01-EA66-7F05AE542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723CDE-A3DE-A472-A741-37E4B37BC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965C-E934-4052-B545-A91E93F6814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828F5B-8848-FA5A-1C04-5C0B3CC7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54645B-C833-0A96-8B5A-D0AB5A345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BAC5-B6D2-4CC1-B309-4C594C23D4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26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7574B-6815-5A8F-09D2-9D4519654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D8A19A-F83E-51B8-998D-D05F4C37E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A1F769-DD49-9182-E61E-36BDC6682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965C-E934-4052-B545-A91E93F6814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DAB17C-F9F8-3FDD-BA45-21B63C04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9F5E94-450A-5567-EFD7-8188318C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BAC5-B6D2-4CC1-B309-4C594C23D4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748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F9F515-533C-3E46-05A5-51AC95A94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235E47-797E-10BE-DE59-70DB09C01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09DFC6-6E98-FF2E-F290-72640C3B2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965C-E934-4052-B545-A91E93F6814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C9A009-E4DA-EFA9-70B2-8ED775A9B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08A20F-8DA8-705A-D959-E77105E13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BAC5-B6D2-4CC1-B309-4C594C23D4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84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EEFE2A-84B5-7099-4C85-F33769798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23E71C-A660-BC1B-F2BB-4D0831B54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BC5858-AFCF-2845-EB1A-88286CE11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4623FF-6F4E-8D36-4004-DFEC1F2EE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965C-E934-4052-B545-A91E93F6814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BAE082-D881-3C0C-50A1-F24BF174F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CB2F37-E94C-BD81-B2AE-C8C1E7AC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BAC5-B6D2-4CC1-B309-4C594C23D4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826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45349-768F-C277-A847-61C47D57B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E604D7-2106-EFF0-BA88-633A68FCC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0F62F4-9D7E-BD23-DD3C-19175F096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7C36F9-A190-AE1B-12F4-B2A29B609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37E3A7-08F3-C458-D3A1-46454913C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9BD6DE-19B8-23A0-A1F1-54EE00500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965C-E934-4052-B545-A91E93F6814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FE0214-2C2A-B606-D896-A3DEA9C0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9C9E0D-FD8B-8170-851E-8739546A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BAC5-B6D2-4CC1-B309-4C594C23D4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068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9834-4A0A-6C56-5EDE-9E90FFBA8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37C8DE-DFD7-1EB8-094A-9DB440224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965C-E934-4052-B545-A91E93F6814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63EBC6-40A4-698B-E84D-9502E243D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267C3E-D5A8-781E-1B53-2BF5CB115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BAC5-B6D2-4CC1-B309-4C594C23D4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06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8C334E-74C2-03F6-8899-72DF51652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965C-E934-4052-B545-A91E93F6814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04F10F-3C18-CFFA-C688-8FB4147D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288DB5-E6CB-EEA1-2C4A-D87CF33E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BAC5-B6D2-4CC1-B309-4C594C23D4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122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8320F2-3A6D-9CC2-B4ED-FEC8B655D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2781CC-58B0-9518-543B-A8BE0C552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BD0D4B-3E6C-ED91-7B38-BEE55B334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E81E96-757D-0F49-CDC8-AAD5B5C9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965C-E934-4052-B545-A91E93F6814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B2668D-599D-AE56-F035-62660138D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336935-C8BB-5979-135C-D0D2BE3E0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BAC5-B6D2-4CC1-B309-4C594C23D4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514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0370D6-3B53-94BB-9192-03AFEA62B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C914826-A9FE-A66C-124C-4CE844B0980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C455A4-17B6-EDEE-AA4C-85EF1052B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3FD064-5301-1644-9EE6-1F389C65E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965C-E934-4052-B545-A91E93F6814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162958-6240-FF13-EB14-5ABA5547A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17175C-2B42-1200-9F4D-CFEADB28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BAC5-B6D2-4CC1-B309-4C594C23D4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77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78AFD8-5D0B-6577-57E2-3C98E1A08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290D51-E585-356A-92DE-7B292EE1F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7C06E3-1299-848E-BC03-B2ED6C000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965C-E934-4052-B545-A91E93F6814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983400-31E6-3CEE-135A-3F091BD9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463257-57BD-8F80-7E62-F95CDA1D5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BAC5-B6D2-4CC1-B309-4C594C23D4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752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7C2A72-92FF-F200-D3AB-416F3FDD83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1AE832-E949-27BD-9746-E479AE47C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40C88F-45C4-6182-2E90-FCA4D796C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965C-E934-4052-B545-A91E93F6814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8EB5E6-EC01-2078-7C06-B62C03365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B2FE7D-89C0-6404-B4A3-6FEF0ACE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BAC5-B6D2-4CC1-B309-4C594C23D4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813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B188BB-6FCE-C6BC-130D-6D65E6D2F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8E4AFC-AFB8-B24E-D8F8-EDA7C23B0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5CE194-C4A6-4043-D4F4-3C6943A43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C965C-E934-4052-B545-A91E93F6814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F5CFA3-9E0B-F27D-F682-ED9966DC27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E1EF3C-39B3-15D9-4504-BA2211E7D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5BAC5-B6D2-4CC1-B309-4C594C23D4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54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67FC22D-2827-8E30-7E00-4F6C5E722226}"/>
              </a:ext>
            </a:extLst>
          </p:cNvPr>
          <p:cNvSpPr txBox="1"/>
          <p:nvPr/>
        </p:nvSpPr>
        <p:spPr>
          <a:xfrm>
            <a:off x="736600" y="609599"/>
            <a:ext cx="10541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4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1009   </a:t>
            </a:r>
            <a:r>
              <a:rPr lang="zh-CN" altLang="en-US" sz="14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组会论文汇报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B42863-ED44-0599-6AD6-5F156EBB778E}"/>
              </a:ext>
            </a:extLst>
          </p:cNvPr>
          <p:cNvSpPr txBox="1"/>
          <p:nvPr/>
        </p:nvSpPr>
        <p:spPr>
          <a:xfrm>
            <a:off x="736600" y="1816099"/>
            <a:ext cx="10693400" cy="167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40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未测药物的响应预测
与实验驱动的科学发现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E0DC670-0757-CDB5-51B2-31939B7F007C}"/>
              </a:ext>
            </a:extLst>
          </p:cNvPr>
          <p:cNvSpPr txBox="1"/>
          <p:nvPr/>
        </p:nvSpPr>
        <p:spPr>
          <a:xfrm>
            <a:off x="762000" y="3809999"/>
            <a:ext cx="10604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2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22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22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</a:t>
            </a:r>
            <a:r>
              <a:rPr lang="zh-CN" altLang="en-US" sz="22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：研究问题、方法推导和证据分析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20B971-4E3E-130D-F881-136087F204FC}"/>
              </a:ext>
            </a:extLst>
          </p:cNvPr>
          <p:cNvCxnSpPr/>
          <p:nvPr/>
        </p:nvCxnSpPr>
        <p:spPr>
          <a:xfrm>
            <a:off x="762000" y="4813300"/>
            <a:ext cx="106680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6B1C511-5101-0B7E-A679-943E4AF42374}"/>
              </a:ext>
            </a:extLst>
          </p:cNvPr>
          <p:cNvSpPr txBox="1"/>
          <p:nvPr/>
        </p:nvSpPr>
        <p:spPr>
          <a:xfrm>
            <a:off x="762000" y="5143499"/>
            <a:ext cx="10414000" cy="1155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 MAP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：知识预训练与新药物响应预测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 Robin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：文献假设、数据分析与两轮实验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通用方法设计与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MAESTRO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阶段总结</a:t>
            </a:r>
          </a:p>
        </p:txBody>
      </p:sp>
    </p:spTree>
    <p:extLst>
      <p:ext uri="{BB962C8B-B14F-4D97-AF65-F5344CB8AC3E}">
        <p14:creationId xmlns:p14="http://schemas.microsoft.com/office/powerpoint/2010/main" val="2000729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02A4C0F-F1A2-B100-DB70-05B78D2E73FC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问题与任务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409261-3F87-C611-252B-B527A6951190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的任务：从细胞与药物结构预测转录响应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4F9B5E-F035-E7CD-DA3E-4AF1EB1604AA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单细胞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测序给出每个细胞的基因表达。药物响应谱描述给药后哪些基因变化、变化多少。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BF3B418-394B-8AFE-9E81-CFFACB080768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CEB325D-56AF-5953-F5AA-0D111547F16B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Introduction / Fig. 1–3 / Methods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78CC31-7A39-6500-41C4-3FF69F6DA5A2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C875AF-50FE-E48C-86C9-E58CFCF8590A}"/>
              </a:ext>
            </a:extLst>
          </p:cNvPr>
          <p:cNvSpPr/>
          <p:nvPr/>
        </p:nvSpPr>
        <p:spPr>
          <a:xfrm>
            <a:off x="609600" y="2032000"/>
            <a:ext cx="3162300" cy="11303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BD8B22-0A53-88D8-63D7-B108DBCFBD08}"/>
              </a:ext>
            </a:extLst>
          </p:cNvPr>
          <p:cNvSpPr txBox="1"/>
          <p:nvPr/>
        </p:nvSpPr>
        <p:spPr>
          <a:xfrm>
            <a:off x="762000" y="2158999"/>
            <a:ext cx="2857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基础细胞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F2D7AB-ECEB-05B1-1E3A-F31CD88F80C5}"/>
              </a:ext>
            </a:extLst>
          </p:cNvPr>
          <p:cNvSpPr txBox="1"/>
          <p:nvPr/>
        </p:nvSpPr>
        <p:spPr>
          <a:xfrm>
            <a:off x="762000" y="2603499"/>
            <a:ext cx="28575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未给药的表达向量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endParaRPr lang="zh-CN" altLang="en-US" sz="1700">
              <a:solidFill>
                <a:srgbClr val="2638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851DBF-CA1F-CD9F-3F03-A673D206A9D1}"/>
              </a:ext>
            </a:extLst>
          </p:cNvPr>
          <p:cNvSpPr/>
          <p:nvPr/>
        </p:nvSpPr>
        <p:spPr>
          <a:xfrm>
            <a:off x="609600" y="3416300"/>
            <a:ext cx="3162300" cy="11938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8EA0FC-C1D7-9C12-70BB-D7C2FC6B8AB2}"/>
              </a:ext>
            </a:extLst>
          </p:cNvPr>
          <p:cNvSpPr txBox="1"/>
          <p:nvPr/>
        </p:nvSpPr>
        <p:spPr>
          <a:xfrm>
            <a:off x="762000" y="3543299"/>
            <a:ext cx="2857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待测分子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4601AD8-F0DC-2684-4F47-D37F6B244632}"/>
              </a:ext>
            </a:extLst>
          </p:cNvPr>
          <p:cNvSpPr txBox="1"/>
          <p:nvPr/>
        </p:nvSpPr>
        <p:spPr>
          <a:xfrm>
            <a:off x="762000" y="3987799"/>
            <a:ext cx="2857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SMILES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剂量 </a:t>
            </a:r>
            <a:r>
              <a:rPr lang="el-GR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</a:t>
            </a:r>
            <a:endParaRPr lang="zh-CN" altLang="en-US" sz="1700">
              <a:solidFill>
                <a:srgbClr val="2638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35A7BB-408D-FC95-B071-0E76ADC690C3}"/>
              </a:ext>
            </a:extLst>
          </p:cNvPr>
          <p:cNvSpPr/>
          <p:nvPr/>
        </p:nvSpPr>
        <p:spPr>
          <a:xfrm>
            <a:off x="5003800" y="2298700"/>
            <a:ext cx="6578600" cy="17526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A254FE-F192-8604-5C96-A85DFD52D7D4}"/>
              </a:ext>
            </a:extLst>
          </p:cNvPr>
          <p:cNvSpPr txBox="1"/>
          <p:nvPr/>
        </p:nvSpPr>
        <p:spPr>
          <a:xfrm>
            <a:off x="5156200" y="2425699"/>
            <a:ext cx="62738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条件预测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f(x, p, δ)</a:t>
            </a:r>
            <a:endParaRPr lang="zh-CN" altLang="en-US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B720290-0AC2-84FA-EE8D-451A894B09E6}"/>
              </a:ext>
            </a:extLst>
          </p:cNvPr>
          <p:cNvSpPr txBox="1"/>
          <p:nvPr/>
        </p:nvSpPr>
        <p:spPr>
          <a:xfrm>
            <a:off x="5156200" y="2870199"/>
            <a:ext cx="6273800" cy="1130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输出给药后的表达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x̂⁽ᵖ⁾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，再计算相对对照的转录变化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A403B87-A425-8F44-D572-DB11441EA0E8}"/>
              </a:ext>
            </a:extLst>
          </p:cNvPr>
          <p:cNvCxnSpPr/>
          <p:nvPr/>
        </p:nvCxnSpPr>
        <p:spPr>
          <a:xfrm>
            <a:off x="3771900" y="2616200"/>
            <a:ext cx="1231900" cy="34290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CB97795-AE53-346E-2EF1-03BBAE0E3FFB}"/>
              </a:ext>
            </a:extLst>
          </p:cNvPr>
          <p:cNvCxnSpPr/>
          <p:nvPr/>
        </p:nvCxnSpPr>
        <p:spPr>
          <a:xfrm flipV="1">
            <a:off x="3771900" y="3454400"/>
            <a:ext cx="1231900" cy="55880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405FEE0-D217-F84F-61FF-26CEA902289E}"/>
              </a:ext>
            </a:extLst>
          </p:cNvPr>
          <p:cNvSpPr txBox="1"/>
          <p:nvPr/>
        </p:nvSpPr>
        <p:spPr>
          <a:xfrm>
            <a:off x="5003800" y="4279899"/>
            <a:ext cx="65786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 </a:t>
            </a:r>
            <a:r>
              <a:rPr lang="en-US" altLang="zh-CN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 </a:t>
            </a:r>
            <a:r>
              <a:rPr lang="zh-CN" altLang="en-US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难以表示新分子。结构近邻也难以刻画靶点、作用方向和目标细胞状态。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08C0FCB-807F-E445-A1E7-935BD6240620}"/>
              </a:ext>
            </a:extLst>
          </p:cNvPr>
          <p:cNvCxnSpPr/>
          <p:nvPr/>
        </p:nvCxnSpPr>
        <p:spPr>
          <a:xfrm>
            <a:off x="609600" y="4940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C04EACF-6B5B-1BC3-D114-C7126B208341}"/>
              </a:ext>
            </a:extLst>
          </p:cNvPr>
          <p:cNvSpPr txBox="1"/>
          <p:nvPr/>
        </p:nvSpPr>
        <p:spPr>
          <a:xfrm>
            <a:off x="609600" y="5143499"/>
            <a:ext cx="5156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组合外推：药物已测，配对未测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0E92D7A-E8F3-5084-BF18-D39BD7E10CE9}"/>
              </a:ext>
            </a:extLst>
          </p:cNvPr>
          <p:cNvSpPr txBox="1"/>
          <p:nvPr/>
        </p:nvSpPr>
        <p:spPr>
          <a:xfrm>
            <a:off x="609600" y="5613399"/>
            <a:ext cx="51562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药物在其他背景出现过，留出目标背景的响应。每个背景留出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5%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配对。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812F601-27BF-E3EF-3BBB-0E3C352EE8D6}"/>
              </a:ext>
            </a:extLst>
          </p:cNvPr>
          <p:cNvSpPr txBox="1"/>
          <p:nvPr/>
        </p:nvSpPr>
        <p:spPr>
          <a:xfrm>
            <a:off x="6451600" y="5143499"/>
            <a:ext cx="5130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药物外推：整个药物未测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B5AF99-0C10-51A4-05A4-3E21A03B5C2D}"/>
              </a:ext>
            </a:extLst>
          </p:cNvPr>
          <p:cNvSpPr txBox="1"/>
          <p:nvPr/>
        </p:nvSpPr>
        <p:spPr>
          <a:xfrm>
            <a:off x="6451600" y="5613399"/>
            <a:ext cx="51308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留出药物全部响应，以及知识预训练中的实体、别名和关联边，阻断信息泄漏。</a:t>
            </a:r>
          </a:p>
        </p:txBody>
      </p:sp>
    </p:spTree>
    <p:extLst>
      <p:ext uri="{BB962C8B-B14F-4D97-AF65-F5344CB8AC3E}">
        <p14:creationId xmlns:p14="http://schemas.microsoft.com/office/powerpoint/2010/main" val="175235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1A40270-4693-8402-38F5-7DAC6419FE5D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知识预训练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565775-D00A-5602-7E0E-D6D73E8FAA30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跨模态属性对齐与有向关系对齐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D1C372-1623-1CEE-1268-C3D31CF14CB9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MAP-KG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整合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个资源：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187,089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个药物、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22,924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个基因、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694,246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条关系。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65C16AB-039E-49AC-F4C9-22B51DC3D9FD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C5E153B-0AD7-8CA7-2F04-534A5D7C82DA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1a–b / Methods, equations 2–5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B02E14-E824-DD3F-B33F-7C662964DB11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22FA6AC-70E4-4EBB-5242-01F653C3329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922081"/>
            <a:ext cx="5156200" cy="279793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A020653-D09D-79A9-E87B-54CCC2C5457E}"/>
              </a:ext>
            </a:extLst>
          </p:cNvPr>
          <p:cNvSpPr txBox="1"/>
          <p:nvPr/>
        </p:nvSpPr>
        <p:spPr>
          <a:xfrm>
            <a:off x="609600" y="49529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跨模态编码器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173B57-92DC-2892-6FF3-296AE72A1FD5}"/>
              </a:ext>
            </a:extLst>
          </p:cNvPr>
          <p:cNvSpPr txBox="1"/>
          <p:nvPr/>
        </p:nvSpPr>
        <p:spPr>
          <a:xfrm>
            <a:off x="609600" y="5333999"/>
            <a:ext cx="5105400" cy="901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名称与注释：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BioBERT
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结构：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MoleculeSTM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；蛋白序列：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ESM-2
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后两者冻结，训练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MLP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适配器。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B771CF-2FB5-CA37-B2A9-2F1A07D71A6B}"/>
              </a:ext>
            </a:extLst>
          </p:cNvPr>
          <p:cNvSpPr txBox="1"/>
          <p:nvPr/>
        </p:nvSpPr>
        <p:spPr>
          <a:xfrm>
            <a:off x="6261100" y="2006599"/>
            <a:ext cx="53213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节点内：同一个实体的属性对齐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4153CF-BC9C-7EA3-8965-9632EB2BCE31}"/>
              </a:ext>
            </a:extLst>
          </p:cNvPr>
          <p:cNvSpPr txBox="1"/>
          <p:nvPr/>
        </p:nvSpPr>
        <p:spPr>
          <a:xfrm>
            <a:off x="6261100" y="2476499"/>
            <a:ext cx="53213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以名称文本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zᵢ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为规范表示，拉近结构、蛋白序列和功能描述。同一实体是正例，批内其他实体是负例。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57041D9-71F0-5142-5C11-1A6A74D1E33A}"/>
              </a:ext>
            </a:extLst>
          </p:cNvPr>
          <p:cNvSpPr txBox="1"/>
          <p:nvPr/>
        </p:nvSpPr>
        <p:spPr>
          <a:xfrm>
            <a:off x="6261100" y="3594099"/>
            <a:ext cx="53213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节点间：关系条件化的邻居对齐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4D2A6C3-5BE1-A94B-6BA9-3343240E6F9B}"/>
              </a:ext>
            </a:extLst>
          </p:cNvPr>
          <p:cNvSpPr txBox="1"/>
          <p:nvPr/>
        </p:nvSpPr>
        <p:spPr>
          <a:xfrm>
            <a:off x="6261100" y="4063999"/>
            <a:ext cx="53213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先编码“抑制”等关系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，再用有序拼接区分源实体与目标实体，让表示保留作用方向。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47F2F2E-A2CB-1125-8E0D-2EEB8DE2D1F4}"/>
              </a:ext>
            </a:extLst>
          </p:cNvPr>
          <p:cNvSpPr txBox="1"/>
          <p:nvPr/>
        </p:nvSpPr>
        <p:spPr>
          <a:xfrm>
            <a:off x="6261100" y="4952999"/>
            <a:ext cx="53213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0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zᵢ→ⱼ = MLP([zᵢ, zᵣ])
zⱼ←ᵢ = MLP([zᵣ, zⱼ])</a:t>
            </a:r>
            <a:endParaRPr lang="zh-CN" altLang="en-US" sz="20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3719ADB-815D-532E-7D92-7CA9F82B2FC1}"/>
              </a:ext>
            </a:extLst>
          </p:cNvPr>
          <p:cNvSpPr txBox="1"/>
          <p:nvPr/>
        </p:nvSpPr>
        <p:spPr>
          <a:xfrm>
            <a:off x="6261100" y="5791199"/>
            <a:ext cx="53213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双向 </a:t>
            </a:r>
            <a:r>
              <a:rPr lang="en-US" altLang="zh-CN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InfoNCE </a:t>
            </a: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拉近正确配对。机制相近的分子形成邻域，支持已测响应向新分子迁移。</a:t>
            </a:r>
          </a:p>
        </p:txBody>
      </p:sp>
    </p:spTree>
    <p:extLst>
      <p:ext uri="{BB962C8B-B14F-4D97-AF65-F5344CB8AC3E}">
        <p14:creationId xmlns:p14="http://schemas.microsoft.com/office/powerpoint/2010/main" val="599640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F2C7D40-FF29-EAE2-1319-B931530AC4EC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条件响应预测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AA8C44-B630-9FDF-6BB1-D7AD3E27803B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融合细胞状态、蛋白知识与药物剂量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2ADAEA-486E-C35E-7568-DB561D92671A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第二阶段用已测药物的对照与处理群体训练预测器，推断时输入新分子的结构。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B498CF9-5A6C-B9BE-D76D-4C4AFA0A449E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355A271-8A14-4AA2-3472-41C120CD2464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1c / Methods, equations 6–12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269838-81D6-9BC2-35FA-A64EFCF2596B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17AC6F8-491A-47FE-B574-75D79260467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32517"/>
            <a:ext cx="3683000" cy="343746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C3088EF-3907-C0DF-38C3-7EC32CCF38D4}"/>
              </a:ext>
            </a:extLst>
          </p:cNvPr>
          <p:cNvSpPr txBox="1"/>
          <p:nvPr/>
        </p:nvSpPr>
        <p:spPr>
          <a:xfrm>
            <a:off x="4800600" y="1955799"/>
            <a:ext cx="6781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细胞状态提供上下文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7503A9-B58F-1407-C5E2-9BF623088C24}"/>
              </a:ext>
            </a:extLst>
          </p:cNvPr>
          <p:cNvSpPr txBox="1"/>
          <p:nvPr/>
        </p:nvSpPr>
        <p:spPr>
          <a:xfrm>
            <a:off x="4800600" y="2425699"/>
            <a:ext cx="6781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 SE-600M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，得到全局细胞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 h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与基因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 T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MLP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和对应蛋白知识。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1B3683-69EB-416B-0124-06401925AAFB}"/>
              </a:ext>
            </a:extLst>
          </p:cNvPr>
          <p:cNvSpPr txBox="1"/>
          <p:nvPr/>
        </p:nvSpPr>
        <p:spPr>
          <a:xfrm>
            <a:off x="4800600" y="3352799"/>
            <a:ext cx="6781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药物与剂量决定扰动条件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7636DA-8F12-C164-ED31-1687986A6D21}"/>
              </a:ext>
            </a:extLst>
          </p:cNvPr>
          <p:cNvSpPr txBox="1"/>
          <p:nvPr/>
        </p:nvSpPr>
        <p:spPr>
          <a:xfrm>
            <a:off x="4800600" y="3822699"/>
            <a:ext cx="67818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分子编码得到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zₘₒₗ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，按对数剂量 </a:t>
            </a:r>
            <a:r>
              <a:rPr lang="el-GR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缩放。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Transformer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处理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el-GR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zₘₒₗ, h, T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6328F50-CC4F-BA43-05C2-575DB21EE955}"/>
              </a:ext>
            </a:extLst>
          </p:cNvPr>
          <p:cNvSpPr txBox="1"/>
          <p:nvPr/>
        </p:nvSpPr>
        <p:spPr>
          <a:xfrm>
            <a:off x="4800600" y="4597399"/>
            <a:ext cx="6781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扰动细胞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解码为表达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C8BA5-33CC-80D8-D884-85664EFA392F}"/>
              </a:ext>
            </a:extLst>
          </p:cNvPr>
          <p:cNvSpPr txBox="1"/>
          <p:nvPr/>
        </p:nvSpPr>
        <p:spPr>
          <a:xfrm>
            <a:off x="4800600" y="5067299"/>
            <a:ext cx="6781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MLP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ĥ⁽ᵖ⁾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解码为表达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x̂⁽ᵖ⁾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。同时匹配处理群体的平均表达和平均细胞嵌入。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C52BDB4-552C-8628-6290-44D4E21DA369}"/>
              </a:ext>
            </a:extLst>
          </p:cNvPr>
          <p:cNvSpPr txBox="1"/>
          <p:nvPr/>
        </p:nvSpPr>
        <p:spPr>
          <a:xfrm>
            <a:off x="609600" y="58546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 = ‖mean(ĥ) − mean(h)‖² / d + λ · ‖mean(x̂) − mean(x)‖² / G</a:t>
            </a:r>
            <a:endParaRPr lang="zh-CN" altLang="en-US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9394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28C7048-5BDE-29FB-7C5F-05D7C4CEE97E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实验设计与评价指标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293D0F-154D-45C3-00F0-A5E391ECCE5E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泛化评测检查“药物引起的变化”是否预测正确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FBB572-FAD8-CE26-F0DD-CBB2AA075738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各数据集内部训练与留出，分别评测两类外推。结果不能直接解释为跨数据集迁移。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4E857F7-FFDF-8EEE-EF1A-A479B2320809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00C8543-6227-CC6C-503E-C4090FB5554D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nb-NO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2–3 / Methods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0E70C9-C3AE-F846-3F01-66A0897B9F71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5C28F36-9970-7C0D-94EC-84914A833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666423"/>
              </p:ext>
            </p:extLst>
          </p:nvPr>
        </p:nvGraphicFramePr>
        <p:xfrm>
          <a:off x="609600" y="1968500"/>
          <a:ext cx="10972800" cy="208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3978994103"/>
                    </a:ext>
                  </a:extLst>
                </a:gridCol>
                <a:gridCol w="5207000">
                  <a:extLst>
                    <a:ext uri="{9D8B030D-6E8A-4147-A177-3AD203B41FA5}">
                      <a16:colId xmlns:a16="http://schemas.microsoft.com/office/drawing/2014/main" val="3480005932"/>
                    </a:ext>
                  </a:extLst>
                </a:gridCol>
                <a:gridCol w="3289300">
                  <a:extLst>
                    <a:ext uri="{9D8B030D-6E8A-4147-A177-3AD203B41FA5}">
                      <a16:colId xmlns:a16="http://schemas.microsoft.com/office/drawing/2014/main" val="2121967018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实验数据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论文实际使用的背景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药物覆盖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677347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Tahoe-100M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条选定癌细胞系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原始图谱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379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种药物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688247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OP3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种免疫细胞类型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144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种化合物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671964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SciPlex3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A549 / MCF7 / K562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187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种化合物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155541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4771DD48-F816-4220-A6D7-F31B8F39E973}"/>
              </a:ext>
            </a:extLst>
          </p:cNvPr>
          <p:cNvSpPr txBox="1"/>
          <p:nvPr/>
        </p:nvSpPr>
        <p:spPr>
          <a:xfrm>
            <a:off x="609600" y="4343399"/>
            <a:ext cx="5181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表达变化的一致性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713631-84E4-ACE2-09A9-1A96C17A2405}"/>
              </a:ext>
            </a:extLst>
          </p:cNvPr>
          <p:cNvSpPr txBox="1"/>
          <p:nvPr/>
        </p:nvSpPr>
        <p:spPr>
          <a:xfrm>
            <a:off x="609600" y="4813299"/>
            <a:ext cx="51816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Δx =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处理群体均值 − 对照群体均值。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Pearson Δ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比较预测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Δx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与实测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Δx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，避免基础表达主导相关性。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7F6FF9D-063F-CB9A-95B1-2B895C50BF3F}"/>
              </a:ext>
            </a:extLst>
          </p:cNvPr>
          <p:cNvSpPr txBox="1"/>
          <p:nvPr/>
        </p:nvSpPr>
        <p:spPr>
          <a:xfrm>
            <a:off x="6451600" y="4343399"/>
            <a:ext cx="5130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方向、区分度与误差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07B192-011F-9E61-6C56-4665DDF1F65F}"/>
              </a:ext>
            </a:extLst>
          </p:cNvPr>
          <p:cNvSpPr txBox="1"/>
          <p:nvPr/>
        </p:nvSpPr>
        <p:spPr>
          <a:xfrm>
            <a:off x="6451600" y="4813299"/>
            <a:ext cx="51308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方向准确率检查上调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下调。区分度检查不同药物的响应差别。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MSE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Wasserstein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补充幅度和分布评价。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498246-59E0-B889-9224-47905CC6CADF}"/>
              </a:ext>
            </a:extLst>
          </p:cNvPr>
          <p:cNvSpPr txBox="1"/>
          <p:nvPr/>
        </p:nvSpPr>
        <p:spPr>
          <a:xfrm>
            <a:off x="609600" y="5676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6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评价基因：</a:t>
            </a:r>
            <a:r>
              <a:rPr lang="en-US" altLang="zh-CN" sz="16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top-50 </a:t>
            </a:r>
            <a:r>
              <a:rPr lang="zh-CN" altLang="en-US" sz="16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差异表达基因与 </a:t>
            </a:r>
            <a:r>
              <a:rPr lang="en-US" altLang="zh-CN" sz="16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top-2000 </a:t>
            </a:r>
            <a:r>
              <a:rPr lang="zh-CN" altLang="en-US" sz="16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高变基因。比较 </a:t>
            </a:r>
            <a:r>
              <a:rPr lang="en-US" altLang="zh-CN" sz="16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trainMean</a:t>
            </a:r>
            <a:r>
              <a:rPr lang="zh-CN" altLang="en-US" sz="16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chemCPA</a:t>
            </a:r>
            <a:r>
              <a:rPr lang="zh-CN" altLang="en-US" sz="16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CRISP</a:t>
            </a:r>
            <a:r>
              <a:rPr lang="zh-CN" altLang="en-US" sz="16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PRnet</a:t>
            </a:r>
            <a:r>
              <a:rPr lang="zh-CN" altLang="en-US" sz="16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XPert</a:t>
            </a:r>
            <a:r>
              <a:rPr lang="zh-CN" altLang="en-US" sz="16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1503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44D36FA-AC2E-8239-279C-7828B4587EAB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主结果、消融与应用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6F51BC-1AF5-414E-8657-16FC350C9D11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未测药物泛化改善，知识边提供可定位的贡献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39DD80-C25A-42D5-889E-2301B90F1CDB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主结果为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top-50 DEG Pearson </a:t>
            </a:r>
            <a:r>
              <a:rPr lang="el-GR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相对最强基线的提升，百分比表示相对增益。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F4163A8-CAF8-12CA-0863-434F5D2DE346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1061496-B822-5BC5-594F-7635C6DFD0BE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it-IT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2–5 / A549 computational screen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E4BCA6-36F9-71E8-96EE-15206834496C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1358F44-1B7E-68CF-27B2-4FA03C3BA402}"/>
              </a:ext>
            </a:extLst>
          </p:cNvPr>
          <p:cNvSpPr txBox="1"/>
          <p:nvPr/>
        </p:nvSpPr>
        <p:spPr>
          <a:xfrm>
            <a:off x="609600" y="1993899"/>
            <a:ext cx="54737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未测药物的相对提升（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%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221D51-0442-E57F-CD20-F4A3C96AB798}"/>
              </a:ext>
            </a:extLst>
          </p:cNvPr>
          <p:cNvSpPr txBox="1"/>
          <p:nvPr/>
        </p:nvSpPr>
        <p:spPr>
          <a:xfrm>
            <a:off x="609600" y="2743199"/>
            <a:ext cx="1651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Tahoe</a:t>
            </a:r>
            <a:endParaRPr lang="zh-CN" altLang="en-US">
              <a:solidFill>
                <a:srgbClr val="2638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E371B3-54AA-1369-2B72-181F6D4C59C7}"/>
              </a:ext>
            </a:extLst>
          </p:cNvPr>
          <p:cNvSpPr/>
          <p:nvPr/>
        </p:nvSpPr>
        <p:spPr>
          <a:xfrm>
            <a:off x="2311400" y="2755900"/>
            <a:ext cx="1873250" cy="3556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2C3659-8A3D-CF25-AFDD-20A4E86125C3}"/>
              </a:ext>
            </a:extLst>
          </p:cNvPr>
          <p:cNvSpPr txBox="1"/>
          <p:nvPr/>
        </p:nvSpPr>
        <p:spPr>
          <a:xfrm>
            <a:off x="4337050" y="2743199"/>
            <a:ext cx="11049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+11.8%</a:t>
            </a:r>
            <a:endParaRPr lang="zh-CN" altLang="en-US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8084A7-09C0-AE1B-3036-2539E519FB4A}"/>
              </a:ext>
            </a:extLst>
          </p:cNvPr>
          <p:cNvSpPr txBox="1"/>
          <p:nvPr/>
        </p:nvSpPr>
        <p:spPr>
          <a:xfrm>
            <a:off x="609600" y="3594099"/>
            <a:ext cx="1651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OP3</a:t>
            </a:r>
            <a:endParaRPr lang="zh-CN" altLang="en-US">
              <a:solidFill>
                <a:srgbClr val="2638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2C662E-3285-817F-C225-AA4513F7F3C4}"/>
              </a:ext>
            </a:extLst>
          </p:cNvPr>
          <p:cNvSpPr/>
          <p:nvPr/>
        </p:nvSpPr>
        <p:spPr>
          <a:xfrm>
            <a:off x="2311400" y="3606800"/>
            <a:ext cx="3143250" cy="3556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E84D84-1566-0CA1-EB98-02C0604FEAE7}"/>
              </a:ext>
            </a:extLst>
          </p:cNvPr>
          <p:cNvSpPr txBox="1"/>
          <p:nvPr/>
        </p:nvSpPr>
        <p:spPr>
          <a:xfrm>
            <a:off x="5607050" y="3594099"/>
            <a:ext cx="11049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+19.8%</a:t>
            </a:r>
            <a:endParaRPr lang="zh-CN" altLang="en-US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2C30AE-7810-0975-2A77-535E2826D54E}"/>
              </a:ext>
            </a:extLst>
          </p:cNvPr>
          <p:cNvSpPr txBox="1"/>
          <p:nvPr/>
        </p:nvSpPr>
        <p:spPr>
          <a:xfrm>
            <a:off x="609600" y="4444999"/>
            <a:ext cx="1651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SciPlex3</a:t>
            </a:r>
            <a:endParaRPr lang="zh-CN" altLang="en-US">
              <a:solidFill>
                <a:srgbClr val="2638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3D1F87-68D2-4D35-4FB5-592A684B28A8}"/>
              </a:ext>
            </a:extLst>
          </p:cNvPr>
          <p:cNvSpPr/>
          <p:nvPr/>
        </p:nvSpPr>
        <p:spPr>
          <a:xfrm>
            <a:off x="2311400" y="4457700"/>
            <a:ext cx="1651000" cy="3556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F7A1EA9-B371-4902-3E5C-CDD08A0E82A9}"/>
              </a:ext>
            </a:extLst>
          </p:cNvPr>
          <p:cNvSpPr txBox="1"/>
          <p:nvPr/>
        </p:nvSpPr>
        <p:spPr>
          <a:xfrm>
            <a:off x="4114800" y="4444999"/>
            <a:ext cx="11049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+10.4%</a:t>
            </a:r>
            <a:endParaRPr lang="zh-CN" altLang="en-US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ED48F29-2759-2336-4A81-16AC375D6A91}"/>
              </a:ext>
            </a:extLst>
          </p:cNvPr>
          <p:cNvCxnSpPr/>
          <p:nvPr/>
        </p:nvCxnSpPr>
        <p:spPr>
          <a:xfrm>
            <a:off x="2311400" y="2590800"/>
            <a:ext cx="0" cy="2413000"/>
          </a:xfrm>
          <a:prstGeom prst="line">
            <a:avLst/>
          </a:prstGeom>
          <a:ln w="1905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7AB2E8E7-5F42-B837-2073-766F6E603FE4}"/>
              </a:ext>
            </a:extLst>
          </p:cNvPr>
          <p:cNvSpPr txBox="1"/>
          <p:nvPr/>
        </p:nvSpPr>
        <p:spPr>
          <a:xfrm>
            <a:off x="609600" y="5359399"/>
            <a:ext cx="6096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未见组合：</a:t>
            </a:r>
            <a:r>
              <a:rPr lang="en-US" altLang="zh-CN" sz="17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Tahoe +12.3%</a:t>
            </a:r>
            <a:r>
              <a:rPr lang="zh-CN" altLang="en-US" sz="17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7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SciPlex3 +6.6%</a:t>
            </a:r>
            <a:endParaRPr lang="zh-CN" altLang="en-US" sz="17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0283CF-A6B2-BF62-DD0B-F1C4F4F71BEF}"/>
              </a:ext>
            </a:extLst>
          </p:cNvPr>
          <p:cNvSpPr txBox="1"/>
          <p:nvPr/>
        </p:nvSpPr>
        <p:spPr>
          <a:xfrm>
            <a:off x="7315200" y="2006599"/>
            <a:ext cx="4267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消融：哪些知识有效？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B4BE54-E603-5383-673F-7BE82258E175}"/>
              </a:ext>
            </a:extLst>
          </p:cNvPr>
          <p:cNvSpPr txBox="1"/>
          <p:nvPr/>
        </p:nvSpPr>
        <p:spPr>
          <a:xfrm>
            <a:off x="7315200" y="2476499"/>
            <a:ext cx="4267200" cy="107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MAP-KG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PrimeKG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PDCorr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再提升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11.4%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。去掉药物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基因边下降最大，支持靶点关系的贡献。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CEABDA-A31C-25B4-6748-5FCBE5DAD46E}"/>
              </a:ext>
            </a:extLst>
          </p:cNvPr>
          <p:cNvSpPr txBox="1"/>
          <p:nvPr/>
        </p:nvSpPr>
        <p:spPr>
          <a:xfrm>
            <a:off x="7315200" y="3835399"/>
            <a:ext cx="4267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应用：如何从响应得到药物排序？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7614748-2382-99EA-A54E-D7FCAF780186}"/>
              </a:ext>
            </a:extLst>
          </p:cNvPr>
          <p:cNvSpPr txBox="1"/>
          <p:nvPr/>
        </p:nvSpPr>
        <p:spPr>
          <a:xfrm>
            <a:off x="7315200" y="4305299"/>
            <a:ext cx="4267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A549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预测表达做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GSEA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通路富集。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58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个留出候选中，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4/5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个已批准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NSCLC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药物进入前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137809D-B865-30E5-9C1C-B82C047D4FBF}"/>
              </a:ext>
            </a:extLst>
          </p:cNvPr>
          <p:cNvSpPr txBox="1"/>
          <p:nvPr/>
        </p:nvSpPr>
        <p:spPr>
          <a:xfrm>
            <a:off x="609600" y="59562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证据支持转录响应与计算候选排序。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A549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分析没有开展新的药效湿实验，靶点因果和临床有效性仍需验证。</a:t>
            </a:r>
          </a:p>
        </p:txBody>
      </p:sp>
    </p:spTree>
    <p:extLst>
      <p:ext uri="{BB962C8B-B14F-4D97-AF65-F5344CB8AC3E}">
        <p14:creationId xmlns:p14="http://schemas.microsoft.com/office/powerpoint/2010/main" val="2448989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113056-7589-C852-57BC-4386FE827D09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疾病目标与实验读数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7B225D-DDA7-02D6-833E-3FC31D24792D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的任务：寻找增强 </a:t>
            </a: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吞噬的再利用药物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EB5D91-3747-609A-D5A9-84254427004D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dAMD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指干性年龄相关性黄斑变性。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是视网膜色素上皮，负责清理光感受器外节。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50E3000-ECE8-D621-BA08-7E9503147C6C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CC0FD1CB-6445-6D78-6CCF-6BC72001720E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Introduction / Fig. 2a–b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7663A3-16EC-CBB9-223B-8C323DC019BE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F20234-3DC9-4670-732A-5D94405BFB3D}"/>
              </a:ext>
            </a:extLst>
          </p:cNvPr>
          <p:cNvSpPr txBox="1"/>
          <p:nvPr/>
        </p:nvSpPr>
        <p:spPr>
          <a:xfrm>
            <a:off x="609600" y="19684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疾病目标如何转成实验目标？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0186AF-E17A-DC93-BB16-BE0B57D778C6}"/>
              </a:ext>
            </a:extLst>
          </p:cNvPr>
          <p:cNvSpPr txBox="1"/>
          <p:nvPr/>
        </p:nvSpPr>
        <p:spPr>
          <a:xfrm>
            <a:off x="609600" y="2438399"/>
            <a:ext cx="5207000" cy="1155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论文选择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吞噬功能下降这一疾病相关机制，以“药物是否增强吞噬”为功能读数，寻找已知药物的新用途。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C67D532-C498-5FB9-0D4B-ECFD2E6A1BEC}"/>
              </a:ext>
            </a:extLst>
          </p:cNvPr>
          <p:cNvSpPr txBox="1"/>
          <p:nvPr/>
        </p:nvSpPr>
        <p:spPr>
          <a:xfrm>
            <a:off x="609600" y="38226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为什么需要发现闭环？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E760D9-5903-2950-A6F8-D29D0C299853}"/>
              </a:ext>
            </a:extLst>
          </p:cNvPr>
          <p:cNvSpPr txBox="1"/>
          <p:nvPr/>
        </p:nvSpPr>
        <p:spPr>
          <a:xfrm>
            <a:off x="609600" y="4292599"/>
            <a:ext cx="5207000" cy="977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文献能提供候选，但不能决定它是否有效。实验给出效应，原始数据分析再提出机制线索与下一轮候选。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6B265AA-AAA2-6EF8-619C-F606AE934C5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900" y="2009291"/>
            <a:ext cx="5143500" cy="142971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A3C3FE6-3B7B-5D68-EC97-127CA4A84C8B}"/>
              </a:ext>
            </a:extLst>
          </p:cNvPr>
          <p:cNvSpPr txBox="1"/>
          <p:nvPr/>
        </p:nvSpPr>
        <p:spPr>
          <a:xfrm>
            <a:off x="6451600" y="3746499"/>
            <a:ext cx="5130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功能实验的时间和测量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617D28-3C41-D4B9-E17C-1A0E3E106962}"/>
              </a:ext>
            </a:extLst>
          </p:cNvPr>
          <p:cNvSpPr txBox="1"/>
          <p:nvPr/>
        </p:nvSpPr>
        <p:spPr>
          <a:xfrm>
            <a:off x="6451600" y="4317999"/>
            <a:ext cx="51308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给药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h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，再加入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pHrodo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底物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h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
底物进入酸性溶酶体后发荧光。
流式检测活细胞中的平均荧光强度（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MFI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），以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DMSO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对照归一化。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D50214-F990-82D1-5CD5-EF43BC734663}"/>
              </a:ext>
            </a:extLst>
          </p:cNvPr>
          <p:cNvSpPr txBox="1"/>
          <p:nvPr/>
        </p:nvSpPr>
        <p:spPr>
          <a:xfrm>
            <a:off x="609600" y="58927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疾病相关功能读数使候选可以检验。细胞吞噬增强与患者获益之间仍需要疾病模型和临床证据。</a:t>
            </a:r>
          </a:p>
        </p:txBody>
      </p:sp>
    </p:spTree>
    <p:extLst>
      <p:ext uri="{BB962C8B-B14F-4D97-AF65-F5344CB8AC3E}">
        <p14:creationId xmlns:p14="http://schemas.microsoft.com/office/powerpoint/2010/main" val="821198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F7F3BA8-8B8A-F22B-21C2-3671F2C00995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假设生成与候选排序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B8E6F1-CA4F-210C-A404-48990873039D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智能体分工：检索、候选排序与实验数据分析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EAAF0-2BFE-3267-864D-BA62A96D2845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协调分工。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Crow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Falcon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PaperQA2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Jupyter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中执行数据分析代码。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0C7A675-9A4B-011C-80AB-5481283F80B1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6DCCB3F4-B7F6-7CCB-57AC-BAFD021C0958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Fig. 1 / Methods: Robin and Finch implementation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372E57-B7A7-9D50-06FE-507863FED203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49E575-CED5-356A-26C9-5A1848D9D131}"/>
              </a:ext>
            </a:extLst>
          </p:cNvPr>
          <p:cNvSpPr/>
          <p:nvPr/>
        </p:nvSpPr>
        <p:spPr>
          <a:xfrm>
            <a:off x="609600" y="1981200"/>
            <a:ext cx="3289300" cy="12065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2AEE39-6FE2-718F-BEA5-DD539215FD1C}"/>
              </a:ext>
            </a:extLst>
          </p:cNvPr>
          <p:cNvSpPr txBox="1"/>
          <p:nvPr/>
        </p:nvSpPr>
        <p:spPr>
          <a:xfrm>
            <a:off x="762000" y="2108199"/>
            <a:ext cx="2984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Crow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：疾病与实验检索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7EA6B5-E92C-2DD1-B866-268EE81AEEE3}"/>
              </a:ext>
            </a:extLst>
          </p:cNvPr>
          <p:cNvSpPr txBox="1"/>
          <p:nvPr/>
        </p:nvSpPr>
        <p:spPr>
          <a:xfrm>
            <a:off x="762000" y="2552699"/>
            <a:ext cx="29845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疾病问题、机制和模型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B425A8-8AA0-5B7A-31BF-749BE12E129A}"/>
              </a:ext>
            </a:extLst>
          </p:cNvPr>
          <p:cNvSpPr/>
          <p:nvPr/>
        </p:nvSpPr>
        <p:spPr>
          <a:xfrm>
            <a:off x="4445000" y="1981200"/>
            <a:ext cx="3289300" cy="12065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199B39-3BA0-9322-821A-BA4D5AE7FB6C}"/>
              </a:ext>
            </a:extLst>
          </p:cNvPr>
          <p:cNvSpPr txBox="1"/>
          <p:nvPr/>
        </p:nvSpPr>
        <p:spPr>
          <a:xfrm>
            <a:off x="4597400" y="2108199"/>
            <a:ext cx="2984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Falcon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：候选证据评估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EDB1A1-9C54-29CA-6116-73DBD383F70D}"/>
              </a:ext>
            </a:extLst>
          </p:cNvPr>
          <p:cNvSpPr txBox="1"/>
          <p:nvPr/>
        </p:nvSpPr>
        <p:spPr>
          <a:xfrm>
            <a:off x="4597400" y="2552699"/>
            <a:ext cx="29845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药理依据、引用和局限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84817C-3900-D471-BFA2-A79A31459B61}"/>
              </a:ext>
            </a:extLst>
          </p:cNvPr>
          <p:cNvSpPr/>
          <p:nvPr/>
        </p:nvSpPr>
        <p:spPr>
          <a:xfrm>
            <a:off x="8293100" y="1981200"/>
            <a:ext cx="3289300" cy="12065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8703F9-5FCC-6077-3AE0-E56B95CBF22B}"/>
              </a:ext>
            </a:extLst>
          </p:cNvPr>
          <p:cNvSpPr txBox="1"/>
          <p:nvPr/>
        </p:nvSpPr>
        <p:spPr>
          <a:xfrm>
            <a:off x="8445500" y="2108199"/>
            <a:ext cx="2984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：数据分析执行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0DD5B37-BAC9-EAB4-034E-24D7738F1445}"/>
              </a:ext>
            </a:extLst>
          </p:cNvPr>
          <p:cNvSpPr txBox="1"/>
          <p:nvPr/>
        </p:nvSpPr>
        <p:spPr>
          <a:xfrm>
            <a:off x="8445500" y="2552699"/>
            <a:ext cx="29845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实验后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FCS / RNA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计数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F15B50E-78D4-DBCB-3443-E0FEF06FBF90}"/>
              </a:ext>
            </a:extLst>
          </p:cNvPr>
          <p:cNvCxnSpPr/>
          <p:nvPr/>
        </p:nvCxnSpPr>
        <p:spPr>
          <a:xfrm>
            <a:off x="3898900" y="2590800"/>
            <a:ext cx="5461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E9B2281-216B-AF0A-57A1-6C3E1B481FA7}"/>
              </a:ext>
            </a:extLst>
          </p:cNvPr>
          <p:cNvCxnSpPr/>
          <p:nvPr/>
        </p:nvCxnSpPr>
        <p:spPr>
          <a:xfrm>
            <a:off x="7734300" y="2590800"/>
            <a:ext cx="5588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DFDB34E-C66A-EB82-3E34-8BB93779B2F9}"/>
              </a:ext>
            </a:extLst>
          </p:cNvPr>
          <p:cNvSpPr txBox="1"/>
          <p:nvPr/>
        </p:nvSpPr>
        <p:spPr>
          <a:xfrm>
            <a:off x="7810500" y="2044699"/>
            <a:ext cx="444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
实验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1C6BC2B-5668-58DE-FD8A-8FE48AF0E2FE}"/>
              </a:ext>
            </a:extLst>
          </p:cNvPr>
          <p:cNvSpPr txBox="1"/>
          <p:nvPr/>
        </p:nvSpPr>
        <p:spPr>
          <a:xfrm>
            <a:off x="609600" y="3467099"/>
            <a:ext cx="32893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个机制 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实验报告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E1CF02-4F7B-2EE1-1C70-FB4DD7537323}"/>
              </a:ext>
            </a:extLst>
          </p:cNvPr>
          <p:cNvSpPr txBox="1"/>
          <p:nvPr/>
        </p:nvSpPr>
        <p:spPr>
          <a:xfrm>
            <a:off x="609600" y="4025899"/>
            <a:ext cx="32893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成对比较后选定实验，再生成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个药物假设。研究者审核并选择实际测试对象。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2BE2566-9486-3105-C0FD-2FC4B5BF24A5}"/>
              </a:ext>
            </a:extLst>
          </p:cNvPr>
          <p:cNvSpPr txBox="1"/>
          <p:nvPr/>
        </p:nvSpPr>
        <p:spPr>
          <a:xfrm>
            <a:off x="4445000" y="3467099"/>
            <a:ext cx="32893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两两裁判 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BTL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排序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97F2CF-56C6-0ED0-EE2C-1385CD846389}"/>
              </a:ext>
            </a:extLst>
          </p:cNvPr>
          <p:cNvSpPr txBox="1"/>
          <p:nvPr/>
        </p:nvSpPr>
        <p:spPr>
          <a:xfrm>
            <a:off x="4445000" y="4025899"/>
            <a:ext cx="32893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≤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项比较所有配对，更多候选随机比较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300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BTL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拟合相对强度，形成候选名次。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D68E48B-2CEA-9D1B-179B-06CAC5884EDB}"/>
              </a:ext>
            </a:extLst>
          </p:cNvPr>
          <p:cNvSpPr txBox="1"/>
          <p:nvPr/>
        </p:nvSpPr>
        <p:spPr>
          <a:xfrm>
            <a:off x="8293100" y="3467099"/>
            <a:ext cx="32893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条分析轨迹 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共识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6D3359D-1DC2-F664-3439-CFC6FA6E4FD1}"/>
              </a:ext>
            </a:extLst>
          </p:cNvPr>
          <p:cNvSpPr txBox="1"/>
          <p:nvPr/>
        </p:nvSpPr>
        <p:spPr>
          <a:xfrm>
            <a:off x="8293100" y="4025899"/>
            <a:ext cx="32893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edit_cell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修改并执行代码，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submit_answer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提交结论。保留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notebook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，汇总路径一致性。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8F5C6C2-A441-8B30-F2C3-AE103114BEEF}"/>
              </a:ext>
            </a:extLst>
          </p:cNvPr>
          <p:cNvSpPr txBox="1"/>
          <p:nvPr/>
        </p:nvSpPr>
        <p:spPr>
          <a:xfrm>
            <a:off x="609600" y="5283199"/>
            <a:ext cx="109728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6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BTL</a:t>
            </a:r>
            <a:r>
              <a:rPr lang="zh-CN" altLang="en-US" sz="16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6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P(i </a:t>
            </a:r>
            <a:r>
              <a:rPr lang="zh-CN" altLang="en-US" sz="16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胜 </a:t>
            </a:r>
            <a:r>
              <a:rPr lang="en-US" altLang="zh-CN" sz="16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j) = sᵢ / (sᵢ + sⱼ)</a:t>
            </a:r>
            <a:r>
              <a:rPr lang="zh-CN" altLang="en-US" sz="16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6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 </a:t>
            </a:r>
            <a:r>
              <a:rPr lang="zh-CN" altLang="en-US" sz="16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表示相对偏好强度。该排序评价科学依据，实际药效由实验检验。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148A4F-508C-B88F-45CD-0D13DCC16729}"/>
              </a:ext>
            </a:extLst>
          </p:cNvPr>
          <p:cNvSpPr txBox="1"/>
          <p:nvPr/>
        </p:nvSpPr>
        <p:spPr>
          <a:xfrm>
            <a:off x="609600" y="58673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新实验数据返回协调器，更新假设。</a:t>
            </a:r>
            <a:r>
              <a:rPr lang="en-US" altLang="zh-CN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条轨迹是分析路径重复，独立生物重复取决于实验样本。</a:t>
            </a:r>
          </a:p>
        </p:txBody>
      </p:sp>
    </p:spTree>
    <p:extLst>
      <p:ext uri="{BB962C8B-B14F-4D97-AF65-F5344CB8AC3E}">
        <p14:creationId xmlns:p14="http://schemas.microsoft.com/office/powerpoint/2010/main" val="1111154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9B80927-75C1-3945-5A9C-7A7C46CE256D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第一轮实验与原始数据分析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6DE441-8CF9-2BDF-D916-35DBFD2AFB65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第一轮结果：</a:t>
            </a: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命中与 </a:t>
            </a: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ABCA1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转录线索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BB372E-CD25-6A14-8233-CBE8FF85D0B0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初筛从排序中测试前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个候选，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MFGE8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作为已知吞噬促进的阳性参照。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EF62DAC-E3CB-1A01-4BFB-1103E7F2FF80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116BBD7-7B3C-9C5D-3AFB-FF8E3737C921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Fig. 2c–f / Fig. 3 / RPE phagocytosis assay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2EF2DE-65A7-4C92-8C76-E8BE163D8BDA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647D8B1-FC94-4B40-A60C-BF8C6F90219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285" y="1993900"/>
            <a:ext cx="4272430" cy="33782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128A27B-8D82-6D5E-330A-A0DC335F0E4E}"/>
              </a:ext>
            </a:extLst>
          </p:cNvPr>
          <p:cNvSpPr txBox="1"/>
          <p:nvPr/>
        </p:nvSpPr>
        <p:spPr>
          <a:xfrm>
            <a:off x="609600" y="5587999"/>
            <a:ext cx="47498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横轴为 </a:t>
            </a:r>
            <a:r>
              <a:rPr lang="en-US" altLang="zh-CN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log₂FC</a:t>
            </a:r>
            <a:r>
              <a:rPr lang="zh-CN" altLang="en-US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，纵轴为 −</a:t>
            </a:r>
            <a:r>
              <a:rPr lang="en-US" altLang="zh-CN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log₁₀P</a:t>
            </a:r>
            <a:r>
              <a:rPr lang="zh-CN" altLang="en-US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。红色表示上调，蓝色表示下调。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D88F19-7A6F-FDE7-F9FF-61A37C222929}"/>
              </a:ext>
            </a:extLst>
          </p:cNvPr>
          <p:cNvSpPr txBox="1"/>
          <p:nvPr/>
        </p:nvSpPr>
        <p:spPr>
          <a:xfrm>
            <a:off x="5981700" y="1968499"/>
            <a:ext cx="5600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流式确认功能命中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76CFA3B-B228-5850-CAD3-D5506BFC56B5}"/>
              </a:ext>
            </a:extLst>
          </p:cNvPr>
          <p:cNvSpPr txBox="1"/>
          <p:nvPr/>
        </p:nvSpPr>
        <p:spPr>
          <a:xfrm>
            <a:off x="5981700" y="2438399"/>
            <a:ext cx="56007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去除碎片、双细胞和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DAPI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阳性死细胞，比较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MFI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DMSO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Y-27632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的吞噬增强由人工复分析确认。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38379E-BE5F-4AEA-8E8C-86068FD56365}"/>
              </a:ext>
            </a:extLst>
          </p:cNvPr>
          <p:cNvSpPr txBox="1"/>
          <p:nvPr/>
        </p:nvSpPr>
        <p:spPr>
          <a:xfrm>
            <a:off x="5981700" y="3581399"/>
            <a:ext cx="5600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命中推动后续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RNA-seq</a:t>
            </a:r>
            <a:endParaRPr lang="zh-CN" altLang="en-US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5DCEA5-16FC-EF5C-270D-68A64094A733}"/>
              </a:ext>
            </a:extLst>
          </p:cNvPr>
          <p:cNvSpPr txBox="1"/>
          <p:nvPr/>
        </p:nvSpPr>
        <p:spPr>
          <a:xfrm>
            <a:off x="5981700" y="4051299"/>
            <a:ext cx="5600700" cy="977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既有机制是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抑制调节肌动蛋白。新数据发现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ABCA1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倍上调，并富集肌动蛋白、小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GTP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酶和自噬相关程序。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8D19C8C-CB17-0627-FD4E-50D075630C1F}"/>
              </a:ext>
            </a:extLst>
          </p:cNvPr>
          <p:cNvSpPr txBox="1"/>
          <p:nvPr/>
        </p:nvSpPr>
        <p:spPr>
          <a:xfrm>
            <a:off x="5981700" y="5168899"/>
            <a:ext cx="5600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分析生成下一步假设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6512C85-1C8E-B6DF-8AAE-0925AD3E674D}"/>
              </a:ext>
            </a:extLst>
          </p:cNvPr>
          <p:cNvSpPr txBox="1"/>
          <p:nvPr/>
        </p:nvSpPr>
        <p:spPr>
          <a:xfrm>
            <a:off x="5981700" y="5638799"/>
            <a:ext cx="56007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ABCA1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编码脂质外排泵，连接脂质稳态与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功能。它提供可检验机制线索，尚需干预实验建立因果。</a:t>
            </a:r>
          </a:p>
        </p:txBody>
      </p:sp>
    </p:spTree>
    <p:extLst>
      <p:ext uri="{BB962C8B-B14F-4D97-AF65-F5344CB8AC3E}">
        <p14:creationId xmlns:p14="http://schemas.microsoft.com/office/powerpoint/2010/main" val="1449148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120F47A-6AD0-7EFD-66DA-E3DA0EF3230C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第二轮候选与验证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4552F3-B9D2-9996-DF57-48AD5B56D257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实验反馈把 </a:t>
            </a: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命中推进到 </a:t>
            </a: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ripasudil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再利用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FB69F9-CEC7-A78F-A58C-9D691312F81E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ripasudil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是已获批治疗青光眼的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抑制剂。研究者测试第二轮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种候选，再用原代细胞复核。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325304B-A889-845D-E7CC-8725D8FE1FDC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DF890ED-0D49-58B7-3BE7-FCBADFFF63D2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Fig. 4 / RPE-SC validation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7553F0-D952-1449-1CD8-6AE75D83BBE2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C35EC78-127F-3071-305C-5D6B0E69251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11" y="2006600"/>
            <a:ext cx="6461679" cy="23622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B450F81-E475-CBA6-E7B9-15BFA7D6F994}"/>
              </a:ext>
            </a:extLst>
          </p:cNvPr>
          <p:cNvSpPr txBox="1"/>
          <p:nvPr/>
        </p:nvSpPr>
        <p:spPr>
          <a:xfrm>
            <a:off x="609600" y="4610099"/>
            <a:ext cx="65151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ARPE-19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ripasudil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MFI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为对照 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1.89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3F0A6F4-1A53-CC85-BA7A-730CFB65FD0F}"/>
              </a:ext>
            </a:extLst>
          </p:cNvPr>
          <p:cNvSpPr txBox="1"/>
          <p:nvPr/>
        </p:nvSpPr>
        <p:spPr>
          <a:xfrm>
            <a:off x="609600" y="5219699"/>
            <a:ext cx="65151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剂量响应曲线支持更高效力。人工复分析为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1.75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倍，均为相对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DMSO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的倍数。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5E3663-2676-2656-3831-2F0C661A60B2}"/>
              </a:ext>
            </a:extLst>
          </p:cNvPr>
          <p:cNvSpPr txBox="1"/>
          <p:nvPr/>
        </p:nvSpPr>
        <p:spPr>
          <a:xfrm>
            <a:off x="7708900" y="1993899"/>
            <a:ext cx="3873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模型升级：原代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RPE-SC + ROS</a:t>
            </a:r>
            <a:endParaRPr lang="zh-CN" altLang="en-US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D500A2-3464-7C83-99DD-35C1517709E9}"/>
              </a:ext>
            </a:extLst>
          </p:cNvPr>
          <p:cNvSpPr txBox="1"/>
          <p:nvPr/>
        </p:nvSpPr>
        <p:spPr>
          <a:xfrm>
            <a:off x="7708900" y="2463799"/>
            <a:ext cx="38735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&gt;60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岁供者获得细胞，以牛光感受器外节替代微球。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ripasudil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Y-27632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再次命中（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n=4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孔）。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42A6BE9-752B-F483-8C38-D89582C834AD}"/>
              </a:ext>
            </a:extLst>
          </p:cNvPr>
          <p:cNvSpPr txBox="1"/>
          <p:nvPr/>
        </p:nvSpPr>
        <p:spPr>
          <a:xfrm>
            <a:off x="7708900" y="4000499"/>
            <a:ext cx="3873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跨领域线索：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KL001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也命中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22A627A-7341-0EA5-D93C-0D59FD658FE4}"/>
              </a:ext>
            </a:extLst>
          </p:cNvPr>
          <p:cNvSpPr txBox="1"/>
          <p:nvPr/>
        </p:nvSpPr>
        <p:spPr>
          <a:xfrm>
            <a:off x="7708900" y="4470399"/>
            <a:ext cx="38735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昼夜节律调控启发候选。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KL001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稳定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CRY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蛋白，抑制其泛素依赖降解。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ABCA1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上调也在原代细胞复现。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8FEED41-DCC0-5DFF-B81D-9A354A0BE6B8}"/>
              </a:ext>
            </a:extLst>
          </p:cNvPr>
          <p:cNvSpPr txBox="1"/>
          <p:nvPr/>
        </p:nvSpPr>
        <p:spPr>
          <a:xfrm>
            <a:off x="609600" y="59816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证据推进到细胞模型、底物和剂量复核。单供者的孔重复不足以证明人群泛化，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ABCA1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因果与临床疗效仍待验证。</a:t>
            </a:r>
          </a:p>
        </p:txBody>
      </p:sp>
    </p:spTree>
    <p:extLst>
      <p:ext uri="{BB962C8B-B14F-4D97-AF65-F5344CB8AC3E}">
        <p14:creationId xmlns:p14="http://schemas.microsoft.com/office/powerpoint/2010/main" val="1080668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9613BA3-A22E-876D-73DF-A7AF0DECFBD5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系统评测与方法评价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FEFA8B-5651-7AC3-38EF-043940EF9492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系统评测：引用可靠性、分析收益与自主性边界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641F2F-EAFA-BFA1-D090-3416A71297B8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组件消融、外部任务和生物实验回答不同问题，需要分别解读。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76DD0D1-64B4-4C71-9FF9-8EA51F06C998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3AC7938-9B3B-16F2-148F-2645F26FD7CB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Extended Data Fig. 4–6 / Methods / Discussion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02DC1A-5502-EE3B-F5AB-B92AB4217072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C89901-72B5-6BF4-E8C2-27FED447FCBD}"/>
              </a:ext>
            </a:extLst>
          </p:cNvPr>
          <p:cNvSpPr txBox="1"/>
          <p:nvPr/>
        </p:nvSpPr>
        <p:spPr>
          <a:xfrm>
            <a:off x="609600" y="1968499"/>
            <a:ext cx="62865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BixBench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正确率（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%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170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题，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次运行）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5B9424A-15C2-0106-FA94-3645B3D1E427}"/>
              </a:ext>
            </a:extLst>
          </p:cNvPr>
          <p:cNvSpPr txBox="1"/>
          <p:nvPr/>
        </p:nvSpPr>
        <p:spPr>
          <a:xfrm>
            <a:off x="609600" y="2755899"/>
            <a:ext cx="1473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</a:t>
            </a:r>
            <a:endParaRPr lang="zh-CN" altLang="en-US" b="1">
              <a:solidFill>
                <a:srgbClr val="2638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BF8D96-6663-92D9-A970-DCA075A9128C}"/>
              </a:ext>
            </a:extLst>
          </p:cNvPr>
          <p:cNvSpPr/>
          <p:nvPr/>
        </p:nvSpPr>
        <p:spPr>
          <a:xfrm>
            <a:off x="2273300" y="2717800"/>
            <a:ext cx="3474720" cy="3683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B39F30-DA73-68DA-3951-FCA6C654CB60}"/>
              </a:ext>
            </a:extLst>
          </p:cNvPr>
          <p:cNvSpPr txBox="1"/>
          <p:nvPr/>
        </p:nvSpPr>
        <p:spPr>
          <a:xfrm>
            <a:off x="3860800" y="2730499"/>
            <a:ext cx="1968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22.8 ± 1.7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82C83E-D357-C092-E159-10B912577D1C}"/>
              </a:ext>
            </a:extLst>
          </p:cNvPr>
          <p:cNvSpPr txBox="1"/>
          <p:nvPr/>
        </p:nvSpPr>
        <p:spPr>
          <a:xfrm>
            <a:off x="609600" y="3530599"/>
            <a:ext cx="15494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Sonnet 3.7
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无工具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E2DAAC-D8DC-8FEB-77E9-212CBF740EA8}"/>
              </a:ext>
            </a:extLst>
          </p:cNvPr>
          <p:cNvSpPr/>
          <p:nvPr/>
        </p:nvSpPr>
        <p:spPr>
          <a:xfrm>
            <a:off x="2273300" y="3594100"/>
            <a:ext cx="243840" cy="368300"/>
          </a:xfrm>
          <a:prstGeom prst="rect">
            <a:avLst/>
          </a:prstGeom>
          <a:solidFill>
            <a:srgbClr val="637F9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05ED03-F63A-4DD6-E4B0-CD184E21F43C}"/>
              </a:ext>
            </a:extLst>
          </p:cNvPr>
          <p:cNvSpPr txBox="1"/>
          <p:nvPr/>
        </p:nvSpPr>
        <p:spPr>
          <a:xfrm>
            <a:off x="2679700" y="3606799"/>
            <a:ext cx="2298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1.6 ± 1.2</a:t>
            </a:r>
            <a:endParaRPr lang="zh-CN" altLang="en-US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71AD18A-1AD3-580D-CB29-79354E430549}"/>
              </a:ext>
            </a:extLst>
          </p:cNvPr>
          <p:cNvSpPr txBox="1"/>
          <p:nvPr/>
        </p:nvSpPr>
        <p:spPr>
          <a:xfrm>
            <a:off x="609600" y="4368799"/>
            <a:ext cx="6108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生物统计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47.9%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，生物信息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15.3%</a:t>
            </a:r>
            <a:endParaRPr lang="zh-CN" altLang="en-US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3F61A5D-9265-F0CE-F0D4-B18843F27DDF}"/>
              </a:ext>
            </a:extLst>
          </p:cNvPr>
          <p:cNvSpPr txBox="1"/>
          <p:nvPr/>
        </p:nvSpPr>
        <p:spPr>
          <a:xfrm>
            <a:off x="609600" y="4940299"/>
            <a:ext cx="61595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多步流程与参数敏感性仍是弱项。此比较同时改变工具和流程，不能单独归因于“多智能体”。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99AD220-3B4E-7C12-8D64-5BA9D0B2100C}"/>
              </a:ext>
            </a:extLst>
          </p:cNvPr>
          <p:cNvSpPr txBox="1"/>
          <p:nvPr/>
        </p:nvSpPr>
        <p:spPr>
          <a:xfrm>
            <a:off x="7416800" y="1981199"/>
            <a:ext cx="4165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文献检索确实减少虚构引用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355AFDC-2D55-56DD-49BC-A67DBAE8D0E1}"/>
              </a:ext>
            </a:extLst>
          </p:cNvPr>
          <p:cNvSpPr txBox="1"/>
          <p:nvPr/>
        </p:nvSpPr>
        <p:spPr>
          <a:xfrm>
            <a:off x="7416800" y="2451099"/>
            <a:ext cx="4165600" cy="1066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o4-mini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的实验方案虚构引用率为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44.5% ± 6.37%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Crow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检查的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份方案未见虚构。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69F1F6C-BEBC-4EFD-01C9-705D0E0A6D5F}"/>
              </a:ext>
            </a:extLst>
          </p:cNvPr>
          <p:cNvSpPr txBox="1"/>
          <p:nvPr/>
        </p:nvSpPr>
        <p:spPr>
          <a:xfrm>
            <a:off x="7416800" y="3822699"/>
            <a:ext cx="4165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组会需要讨论的两个边界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333AB7D-4715-9791-0260-6EAAF151FEBB}"/>
              </a:ext>
            </a:extLst>
          </p:cNvPr>
          <p:cNvSpPr txBox="1"/>
          <p:nvPr/>
        </p:nvSpPr>
        <p:spPr>
          <a:xfrm>
            <a:off x="7416800" y="4292599"/>
            <a:ext cx="41656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调用顺序几乎固定，作者后续精简为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notebook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条分析轨迹能检查路径敏感性，无法保证共同偏差消失。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6A7769C-91E8-C857-1F07-3F0AAF541276}"/>
              </a:ext>
            </a:extLst>
          </p:cNvPr>
          <p:cNvSpPr txBox="1"/>
          <p:nvPr/>
        </p:nvSpPr>
        <p:spPr>
          <a:xfrm>
            <a:off x="609600" y="5968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创新在于文献假设与可执行分析、真实湿实验反馈的衔接。临床验证、专家协议和独立供者仍必要。</a:t>
            </a:r>
          </a:p>
        </p:txBody>
      </p:sp>
    </p:spTree>
    <p:extLst>
      <p:ext uri="{BB962C8B-B14F-4D97-AF65-F5344CB8AC3E}">
        <p14:creationId xmlns:p14="http://schemas.microsoft.com/office/powerpoint/2010/main" val="77919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372C6A5-600C-1AB2-ECE2-4DEE5629F6FF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方法应用   通用药物发现智能体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最小可执行方案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135890-0F58-065A-EB00-1DEC449DC1A1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通用方案：知识预测与实验反馈的组合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0386CB-71A5-9E34-82D7-D244534744EA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候选携带条件记录、机制证据与反证标准，实验产生的新观察进入下一轮更新。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432B10A-AE7D-9912-CBFB-E82F5E1B0319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7EEDF2C-8BD7-9549-7DD3-3351B1B566BF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以下为系统设计建议，依据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，尚需验证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599F21-B617-4C8F-EEB6-71F7F6B76828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394FC4-914A-4B60-40B9-8B75E5BDF374}"/>
              </a:ext>
            </a:extLst>
          </p:cNvPr>
          <p:cNvSpPr/>
          <p:nvPr/>
        </p:nvSpPr>
        <p:spPr>
          <a:xfrm>
            <a:off x="609600" y="1981200"/>
            <a:ext cx="3187700" cy="15113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C5D331-6409-0039-F2A9-06A55775B320}"/>
              </a:ext>
            </a:extLst>
          </p:cNvPr>
          <p:cNvSpPr txBox="1"/>
          <p:nvPr/>
        </p:nvSpPr>
        <p:spPr>
          <a:xfrm>
            <a:off x="762000" y="2108199"/>
            <a:ext cx="28829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知识与细胞条件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45DAF5-8FC3-5015-9092-6B64DC31D31A}"/>
              </a:ext>
            </a:extLst>
          </p:cNvPr>
          <p:cNvSpPr txBox="1"/>
          <p:nvPr/>
        </p:nvSpPr>
        <p:spPr>
          <a:xfrm>
            <a:off x="762000" y="2552699"/>
            <a:ext cx="28829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结构、有向靶点关系、细胞、剂量、时间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5BB150-A679-3DCC-3148-A85C1D950465}"/>
              </a:ext>
            </a:extLst>
          </p:cNvPr>
          <p:cNvSpPr/>
          <p:nvPr/>
        </p:nvSpPr>
        <p:spPr>
          <a:xfrm>
            <a:off x="4495800" y="1981200"/>
            <a:ext cx="3187700" cy="15113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3C37EE-B836-AC8F-816D-00C7752BEFA6}"/>
              </a:ext>
            </a:extLst>
          </p:cNvPr>
          <p:cNvSpPr txBox="1"/>
          <p:nvPr/>
        </p:nvSpPr>
        <p:spPr>
          <a:xfrm>
            <a:off x="4648200" y="2108199"/>
            <a:ext cx="28829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响应与实验假设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785CC65-0167-CFB5-E9A9-7F5C41F3352D}"/>
              </a:ext>
            </a:extLst>
          </p:cNvPr>
          <p:cNvSpPr txBox="1"/>
          <p:nvPr/>
        </p:nvSpPr>
        <p:spPr>
          <a:xfrm>
            <a:off x="4648200" y="2552699"/>
            <a:ext cx="28829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预测转录变化，选择能区分机制的功能读数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71E4BE-1930-7C79-E5E5-F8C0C6DFA8EA}"/>
              </a:ext>
            </a:extLst>
          </p:cNvPr>
          <p:cNvSpPr/>
          <p:nvPr/>
        </p:nvSpPr>
        <p:spPr>
          <a:xfrm>
            <a:off x="8394700" y="1981200"/>
            <a:ext cx="3187700" cy="15113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0D49F1-1EEA-AF92-E152-46A4CF1D09AA}"/>
              </a:ext>
            </a:extLst>
          </p:cNvPr>
          <p:cNvSpPr txBox="1"/>
          <p:nvPr/>
        </p:nvSpPr>
        <p:spPr>
          <a:xfrm>
            <a:off x="8547100" y="2108199"/>
            <a:ext cx="28829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实验与代码分析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70E66FA-9F32-9305-A6AD-1DA389C1D496}"/>
              </a:ext>
            </a:extLst>
          </p:cNvPr>
          <p:cNvSpPr txBox="1"/>
          <p:nvPr/>
        </p:nvSpPr>
        <p:spPr>
          <a:xfrm>
            <a:off x="8547100" y="2552699"/>
            <a:ext cx="28829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实测功能与毒性，保留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QC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、代码和效应区间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27162ED-C12D-6FC4-60EF-F7B0D4F3E665}"/>
              </a:ext>
            </a:extLst>
          </p:cNvPr>
          <p:cNvCxnSpPr/>
          <p:nvPr/>
        </p:nvCxnSpPr>
        <p:spPr>
          <a:xfrm>
            <a:off x="3797300" y="2679700"/>
            <a:ext cx="6985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042D971-891A-9EA7-DDC3-36D27EE33497}"/>
              </a:ext>
            </a:extLst>
          </p:cNvPr>
          <p:cNvCxnSpPr/>
          <p:nvPr/>
        </p:nvCxnSpPr>
        <p:spPr>
          <a:xfrm>
            <a:off x="7683500" y="2679700"/>
            <a:ext cx="7112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7302FBD-1275-A145-C6FD-813C54D9C665}"/>
              </a:ext>
            </a:extLst>
          </p:cNvPr>
          <p:cNvCxnSpPr/>
          <p:nvPr/>
        </p:nvCxnSpPr>
        <p:spPr>
          <a:xfrm>
            <a:off x="9982200" y="3492500"/>
            <a:ext cx="0" cy="29210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6FDAB39-C26D-5407-0CAE-43B7DAF5F397}"/>
              </a:ext>
            </a:extLst>
          </p:cNvPr>
          <p:cNvCxnSpPr/>
          <p:nvPr/>
        </p:nvCxnSpPr>
        <p:spPr>
          <a:xfrm flipH="1">
            <a:off x="2209800" y="3784600"/>
            <a:ext cx="7772400" cy="0"/>
          </a:xfrm>
          <a:prstGeom prst="line">
            <a:avLst/>
          </a:prstGeom>
          <a:ln w="19050">
            <a:solidFill>
              <a:srgbClr val="527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1C075A3-BE61-6D68-B891-7D9A85EDE92C}"/>
              </a:ext>
            </a:extLst>
          </p:cNvPr>
          <p:cNvCxnSpPr/>
          <p:nvPr/>
        </p:nvCxnSpPr>
        <p:spPr>
          <a:xfrm flipV="1">
            <a:off x="2209800" y="3492500"/>
            <a:ext cx="0" cy="29210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9275C8D8-B643-27D8-3BA8-D41501ED4470}"/>
              </a:ext>
            </a:extLst>
          </p:cNvPr>
          <p:cNvSpPr txBox="1"/>
          <p:nvPr/>
        </p:nvSpPr>
        <p:spPr>
          <a:xfrm>
            <a:off x="3454400" y="3860799"/>
            <a:ext cx="52959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新观察更新机制证据、候选排序及停止条件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197A0A1-0B21-1AD9-3FB9-5872A84D7CD6}"/>
              </a:ext>
            </a:extLst>
          </p:cNvPr>
          <p:cNvSpPr txBox="1"/>
          <p:nvPr/>
        </p:nvSpPr>
        <p:spPr>
          <a:xfrm>
            <a:off x="609600" y="44068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候选记录至少包含什么？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2F02C09-47A6-823C-80D2-3DF4726E77A3}"/>
              </a:ext>
            </a:extLst>
          </p:cNvPr>
          <p:cNvSpPr txBox="1"/>
          <p:nvPr/>
        </p:nvSpPr>
        <p:spPr>
          <a:xfrm>
            <a:off x="609600" y="4876799"/>
            <a:ext cx="5207000" cy="977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药物与引用，预测变化与不确定性，功能读数与对照，预期效应、反证条件、采集成本和停止规则。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2461870-EDB7-7CD2-8AD8-8527EC128E30}"/>
              </a:ext>
            </a:extLst>
          </p:cNvPr>
          <p:cNvSpPr txBox="1"/>
          <p:nvPr/>
        </p:nvSpPr>
        <p:spPr>
          <a:xfrm>
            <a:off x="6451600" y="4406899"/>
            <a:ext cx="5130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例：假设某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候选增强吞噬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DFF9F36-5640-9BBE-2201-CA20E9C6B0F1}"/>
              </a:ext>
            </a:extLst>
          </p:cNvPr>
          <p:cNvSpPr txBox="1"/>
          <p:nvPr/>
        </p:nvSpPr>
        <p:spPr>
          <a:xfrm>
            <a:off x="6451600" y="4876799"/>
            <a:ext cx="5130800" cy="977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先看结构与靶点证据，再测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MFI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、死细胞及荧光背景。功能命中后提出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或靶点干预，检验机制解释。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D33996D-03A4-6F3C-10FE-CD653D140526}"/>
              </a:ext>
            </a:extLst>
          </p:cNvPr>
          <p:cNvSpPr txBox="1"/>
          <p:nvPr/>
        </p:nvSpPr>
        <p:spPr>
          <a:xfrm>
            <a:off x="609600" y="59816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采纳 </a:t>
            </a:r>
            <a:r>
              <a:rPr lang="en-US" altLang="zh-CN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的条件表征与方向关系，采纳 </a:t>
            </a:r>
            <a:r>
              <a:rPr lang="en-US" altLang="zh-CN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的引用、可执行分析和实验反馈。机制因果需要额外干预验证。</a:t>
            </a:r>
          </a:p>
        </p:txBody>
      </p:sp>
    </p:spTree>
    <p:extLst>
      <p:ext uri="{BB962C8B-B14F-4D97-AF65-F5344CB8AC3E}">
        <p14:creationId xmlns:p14="http://schemas.microsoft.com/office/powerpoint/2010/main" val="2184140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C54871C-9B99-B2C4-DE1A-2992F1C5FADA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方法应用   通用药物发现智能体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归因与效用评测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5BE600-B3A9-7B6A-785D-4E4C243ED224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分层评测：知识归因、功能预测与实验决策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FC8DED-597A-2917-FDA6-65830A64EDF1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先固定细胞背景、剂量、时间、完整候选菜单和预算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，再在独立实验单位上评价最终选择。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536EE7C-032E-7663-A48C-55D6D1C57992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AC8736E-3058-4BBE-802B-7F89FF9255D8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拟议评测：相同数据、权限与预算；各层的增益不能互相替代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D614EF-C058-D194-1B8A-53CB1C1AA0C5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C91145-B1E7-BA5D-D7CD-59ADD28310CA}"/>
              </a:ext>
            </a:extLst>
          </p:cNvPr>
          <p:cNvSpPr/>
          <p:nvPr/>
        </p:nvSpPr>
        <p:spPr>
          <a:xfrm>
            <a:off x="609600" y="1993900"/>
            <a:ext cx="52070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281B1A-8DED-C2A5-F32A-A4274E430730}"/>
              </a:ext>
            </a:extLst>
          </p:cNvPr>
          <p:cNvSpPr txBox="1"/>
          <p:nvPr/>
        </p:nvSpPr>
        <p:spPr>
          <a:xfrm>
            <a:off x="762000" y="21208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知识贡献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A6DAB3-BE34-F9B8-7463-3619334FC494}"/>
              </a:ext>
            </a:extLst>
          </p:cNvPr>
          <p:cNvSpPr txBox="1"/>
          <p:nvPr/>
        </p:nvSpPr>
        <p:spPr>
          <a:xfrm>
            <a:off x="762000" y="2565399"/>
            <a:ext cx="49022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结构表示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完整知识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打乱关系，留出药物及图谱边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2E7AF3-0C16-5792-1335-ABD85562CABE}"/>
              </a:ext>
            </a:extLst>
          </p:cNvPr>
          <p:cNvSpPr/>
          <p:nvPr/>
        </p:nvSpPr>
        <p:spPr>
          <a:xfrm>
            <a:off x="7150100" y="1993900"/>
            <a:ext cx="44323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E7158F5-F553-5869-4AF4-8E2780D85F3C}"/>
              </a:ext>
            </a:extLst>
          </p:cNvPr>
          <p:cNvSpPr txBox="1"/>
          <p:nvPr/>
        </p:nvSpPr>
        <p:spPr>
          <a:xfrm>
            <a:off x="7302500" y="2120899"/>
            <a:ext cx="4127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响应与机制一致性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7D93ED3-20A7-052A-69E1-64B6E5B942F1}"/>
              </a:ext>
            </a:extLst>
          </p:cNvPr>
          <p:cNvSpPr txBox="1"/>
          <p:nvPr/>
        </p:nvSpPr>
        <p:spPr>
          <a:xfrm>
            <a:off x="7302500" y="2565399"/>
            <a:ext cx="4127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Pearson Δ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、方向、候选区分度；同规模知识作为补充对照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B4AA2AF-A905-FB5A-0796-02DA0D0A479A}"/>
              </a:ext>
            </a:extLst>
          </p:cNvPr>
          <p:cNvSpPr/>
          <p:nvPr/>
        </p:nvSpPr>
        <p:spPr>
          <a:xfrm>
            <a:off x="609600" y="3416300"/>
            <a:ext cx="52070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26391C1-C845-72DD-31EC-F501BF3D5C26}"/>
              </a:ext>
            </a:extLst>
          </p:cNvPr>
          <p:cNvSpPr txBox="1"/>
          <p:nvPr/>
        </p:nvSpPr>
        <p:spPr>
          <a:xfrm>
            <a:off x="762000" y="35432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预测贡献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F3AB2BF-01B1-6077-B7AA-FB6455DB6290}"/>
              </a:ext>
            </a:extLst>
          </p:cNvPr>
          <p:cNvSpPr txBox="1"/>
          <p:nvPr/>
        </p:nvSpPr>
        <p:spPr>
          <a:xfrm>
            <a:off x="762000" y="3987799"/>
            <a:ext cx="49022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廉价先验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预测响应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实测响应上限，在匹配实验中比较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4EEAA8-829B-C153-56D6-B682B73AB56E}"/>
              </a:ext>
            </a:extLst>
          </p:cNvPr>
          <p:cNvSpPr/>
          <p:nvPr/>
        </p:nvSpPr>
        <p:spPr>
          <a:xfrm>
            <a:off x="7150100" y="3416300"/>
            <a:ext cx="44323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2516115-A5C2-5715-7028-5C1329081113}"/>
              </a:ext>
            </a:extLst>
          </p:cNvPr>
          <p:cNvSpPr txBox="1"/>
          <p:nvPr/>
        </p:nvSpPr>
        <p:spPr>
          <a:xfrm>
            <a:off x="7302500" y="3543299"/>
            <a:ext cx="4127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是否有功能信息收益？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1B96BBC-9B60-EC45-739E-607557B472ED}"/>
              </a:ext>
            </a:extLst>
          </p:cNvPr>
          <p:cNvSpPr txBox="1"/>
          <p:nvPr/>
        </p:nvSpPr>
        <p:spPr>
          <a:xfrm>
            <a:off x="7302500" y="3987799"/>
            <a:ext cx="4127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上限先超过廉价方法，再评测预测可否保留收益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478D36E-FA9D-6117-E152-17F7DAF03168}"/>
              </a:ext>
            </a:extLst>
          </p:cNvPr>
          <p:cNvSpPr/>
          <p:nvPr/>
        </p:nvSpPr>
        <p:spPr>
          <a:xfrm>
            <a:off x="609600" y="4838700"/>
            <a:ext cx="52070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99EA077-0BC1-0B00-286D-4A2903FC79E6}"/>
              </a:ext>
            </a:extLst>
          </p:cNvPr>
          <p:cNvSpPr txBox="1"/>
          <p:nvPr/>
        </p:nvSpPr>
        <p:spPr>
          <a:xfrm>
            <a:off x="762000" y="49656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智能体策略贡献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D7F20D6-B3DC-8F51-787F-66BDE4FAC235}"/>
              </a:ext>
            </a:extLst>
          </p:cNvPr>
          <p:cNvSpPr txBox="1"/>
          <p:nvPr/>
        </p:nvSpPr>
        <p:spPr>
          <a:xfrm>
            <a:off x="762000" y="5410199"/>
            <a:ext cx="49022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确定性排序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LLM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策略，允许相同工具和实验反馈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05BEA17-9C96-0A67-66DF-EFBC956BF1C9}"/>
              </a:ext>
            </a:extLst>
          </p:cNvPr>
          <p:cNvSpPr/>
          <p:nvPr/>
        </p:nvSpPr>
        <p:spPr>
          <a:xfrm>
            <a:off x="7150100" y="4838700"/>
            <a:ext cx="44323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161403E-FDD0-224E-C104-EA16F2F5C772}"/>
              </a:ext>
            </a:extLst>
          </p:cNvPr>
          <p:cNvSpPr txBox="1"/>
          <p:nvPr/>
        </p:nvSpPr>
        <p:spPr>
          <a:xfrm>
            <a:off x="7302500" y="4965699"/>
            <a:ext cx="4127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预算内的最终选择效用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5B415C1-54D0-C570-58A2-FECD141B6D4D}"/>
              </a:ext>
            </a:extLst>
          </p:cNvPr>
          <p:cNvSpPr txBox="1"/>
          <p:nvPr/>
        </p:nvSpPr>
        <p:spPr>
          <a:xfrm>
            <a:off x="7302500" y="5410199"/>
            <a:ext cx="4127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命中、效应、错误淘汰、总成本；包括停止与无更新策略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F7CA383-AED9-0346-C772-9F88F52DA916}"/>
              </a:ext>
            </a:extLst>
          </p:cNvPr>
          <p:cNvCxnSpPr/>
          <p:nvPr/>
        </p:nvCxnSpPr>
        <p:spPr>
          <a:xfrm>
            <a:off x="5816600" y="2578100"/>
            <a:ext cx="13335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201D4EF-1EC2-C11F-A0A0-DCDB8CB3B4E5}"/>
              </a:ext>
            </a:extLst>
          </p:cNvPr>
          <p:cNvCxnSpPr/>
          <p:nvPr/>
        </p:nvCxnSpPr>
        <p:spPr>
          <a:xfrm>
            <a:off x="5816600" y="4000500"/>
            <a:ext cx="13335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B2BD0DF-0CBA-93F0-88B0-B766D426A1F3}"/>
              </a:ext>
            </a:extLst>
          </p:cNvPr>
          <p:cNvCxnSpPr/>
          <p:nvPr/>
        </p:nvCxnSpPr>
        <p:spPr>
          <a:xfrm>
            <a:off x="5816600" y="5422900"/>
            <a:ext cx="13335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469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ABA679-C3AC-9C6F-6D3A-540C5C282452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阶段总结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MAESTRO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最新实质进展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3FFE1B-6CAE-AF39-E564-F59851486105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39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基因坐标完成认证，</a:t>
            </a: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G1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读数出现模型信号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ED8743-44F9-4938-3899-BE892D5325D2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0927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尚未形成稳定选择优势。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10.10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的新增证据推进了数据认证与同条件读数研究。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0136C02-3492-463D-3E3B-ED41E914723C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A03946D-FC3D-0EE8-50CA-97652A6852C2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research/REPORT.md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EVIDENCE.md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P05R_EXTENSION.json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phenotype_anchor_20261010/RESULTS.json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E3A97B-A133-06EE-0FCC-776ABFAA7B96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15428E-9A66-E962-141E-2CE1D6F61352}"/>
              </a:ext>
            </a:extLst>
          </p:cNvPr>
          <p:cNvSpPr txBox="1"/>
          <p:nvPr/>
        </p:nvSpPr>
        <p:spPr>
          <a:xfrm>
            <a:off x="609600" y="1943099"/>
            <a:ext cx="52705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34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39 / 39</a:t>
            </a:r>
            <a:endParaRPr lang="zh-CN" altLang="en-US" sz="3400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C7FC87-B981-E2A8-5EBF-7AFCCA3D36AC}"/>
              </a:ext>
            </a:extLst>
          </p:cNvPr>
          <p:cNvSpPr txBox="1"/>
          <p:nvPr/>
        </p:nvSpPr>
        <p:spPr>
          <a:xfrm>
            <a:off x="609600" y="2755899"/>
            <a:ext cx="5283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c44</a:t>
            </a:r>
            <a:r>
              <a:rPr lang="zh-CN" altLang="en-US" sz="1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c45 </a:t>
            </a:r>
            <a:r>
              <a:rPr lang="zh-CN" altLang="en-US" sz="1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的端点坐标均唯一匹配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215D21-8688-4140-7D19-DF64209DCC24}"/>
              </a:ext>
            </a:extLst>
          </p:cNvPr>
          <p:cNvSpPr txBox="1"/>
          <p:nvPr/>
        </p:nvSpPr>
        <p:spPr>
          <a:xfrm>
            <a:off x="609600" y="3390899"/>
            <a:ext cx="5283200" cy="1790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对照全部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62,710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个源基因。
最大差约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1.46 × 10⁻⁷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，容差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10⁻⁵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c44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复用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252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个细胞，新增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字节为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c45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个区分细胞取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133,564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字节，较旧方案少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60.7%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1AAE65D-8F35-F41F-F542-63B3628B3420}"/>
              </a:ext>
            </a:extLst>
          </p:cNvPr>
          <p:cNvSpPr txBox="1"/>
          <p:nvPr/>
        </p:nvSpPr>
        <p:spPr>
          <a:xfrm>
            <a:off x="6451600" y="1943099"/>
            <a:ext cx="5130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34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+0.254 r</a:t>
            </a:r>
            <a:endParaRPr lang="zh-CN" altLang="en-US" sz="34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62E9F8-3FAE-38F2-4DB7-FC905C406B89}"/>
              </a:ext>
            </a:extLst>
          </p:cNvPr>
          <p:cNvSpPr txBox="1"/>
          <p:nvPr/>
        </p:nvSpPr>
        <p:spPr>
          <a:xfrm>
            <a:off x="6451600" y="2755899"/>
            <a:ext cx="5130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预测细胞的 </a:t>
            </a:r>
            <a:r>
              <a:rPr lang="en-US" altLang="zh-CN" sz="1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G1 </a:t>
            </a:r>
            <a:r>
              <a:rPr lang="zh-CN" altLang="en-US" sz="1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组成读数出现信号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A41CD8-C965-3CE9-F969-3946BBBEF55C}"/>
              </a:ext>
            </a:extLst>
          </p:cNvPr>
          <p:cNvSpPr txBox="1"/>
          <p:nvPr/>
        </p:nvSpPr>
        <p:spPr>
          <a:xfrm>
            <a:off x="6451600" y="3390899"/>
            <a:ext cx="5130800" cy="1790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相对基础相似性：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0.350 vs 0.096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95% CI [0.156, 0.367]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4/5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背景更好。
同一球状培养单元的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 h RNA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与读数，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379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药物菜单，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checkpoint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留出背景。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9769CD3-AC36-49BE-0700-EB125B074965}"/>
              </a:ext>
            </a:extLst>
          </p:cNvPr>
          <p:cNvCxnSpPr/>
          <p:nvPr/>
        </p:nvCxnSpPr>
        <p:spPr>
          <a:xfrm>
            <a:off x="609600" y="54229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F74ADF4-EDFB-665A-7932-25002F3707C1}"/>
              </a:ext>
            </a:extLst>
          </p:cNvPr>
          <p:cNvSpPr txBox="1"/>
          <p:nvPr/>
        </p:nvSpPr>
        <p:spPr>
          <a:xfrm>
            <a:off x="609600" y="5651499"/>
            <a:ext cx="109728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端点准入带来更明确的使用范围：生存选择性主分析 </a:t>
            </a:r>
            <a:r>
              <a:rPr lang="en-US" altLang="zh-CN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 Δr = −0.226</a:t>
            </a: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，真实 </a:t>
            </a:r>
            <a:r>
              <a:rPr lang="en-US" altLang="zh-CN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上限仅 </a:t>
            </a:r>
            <a:r>
              <a:rPr lang="en-US" altLang="zh-CN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+0.003</a:t>
            </a: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，未准入。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38A730F-6500-72CD-5493-A1C2F2BFB8D4}"/>
              </a:ext>
            </a:extLst>
          </p:cNvPr>
          <p:cNvSpPr txBox="1"/>
          <p:nvPr/>
        </p:nvSpPr>
        <p:spPr>
          <a:xfrm>
            <a:off x="609600" y="6019799"/>
            <a:ext cx="1097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G1 </a:t>
            </a:r>
            <a:r>
              <a:rPr lang="zh-CN" altLang="en-US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来自 </a:t>
            </a:r>
            <a:r>
              <a:rPr lang="en-US" altLang="zh-CN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推导；坐标认证属于文件内身份；目标背景曾暴露。当前结果尚需独立生物确认。</a:t>
            </a:r>
          </a:p>
        </p:txBody>
      </p:sp>
    </p:spTree>
    <p:extLst>
      <p:ext uri="{BB962C8B-B14F-4D97-AF65-F5344CB8AC3E}">
        <p14:creationId xmlns:p14="http://schemas.microsoft.com/office/powerpoint/2010/main" val="3001410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0A8DD4-C630-C6DD-FEC5-A11BCE1FBA5E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阶段总结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MAESTRO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效率收益与后续实验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755718-E0A7-049A-5632-10E8C734AA29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后续重点：可靠观测、有效端点与可归因的反馈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B15E46-E032-0049-7DC1-68827C9454C5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运行闭环已验证两轮测量反馈及持久化、预算、重试和重启。下一步将工程能力转成可检验的研究。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D2FAD97-2C41-347A-EAC5-93C3FCBF46D6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53F6813-9EBC-8CB6-AC71-5B32C519C288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项目证据截至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2026-10-10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；后续为拟议工作，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P0.6 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未放行，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P2 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仍关闭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EC560B-187D-89FA-7943-58A729FA9515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697604-6685-CF55-C4F1-E0823626DDCB}"/>
              </a:ext>
            </a:extLst>
          </p:cNvPr>
          <p:cNvSpPr txBox="1"/>
          <p:nvPr/>
        </p:nvSpPr>
        <p:spPr>
          <a:xfrm>
            <a:off x="609600" y="2006599"/>
            <a:ext cx="53467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3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129 </a:t>
            </a:r>
            <a:r>
              <a:rPr lang="zh-CN" altLang="en-US" sz="3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 → </a:t>
            </a:r>
            <a:r>
              <a:rPr lang="en-US" altLang="zh-CN" sz="3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35 </a:t>
            </a:r>
            <a:r>
              <a:rPr lang="zh-CN" altLang="en-US" sz="3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8A4AA67-9C5B-A9D2-BA2C-5FD1AB140D9E}"/>
              </a:ext>
            </a:extLst>
          </p:cNvPr>
          <p:cNvSpPr txBox="1"/>
          <p:nvPr/>
        </p:nvSpPr>
        <p:spPr>
          <a:xfrm>
            <a:off x="609600" y="2768599"/>
            <a:ext cx="5346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预采购停止节省 </a:t>
            </a:r>
            <a:r>
              <a:rPr lang="en-US" altLang="zh-CN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94 </a:t>
            </a: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次购买（</a:t>
            </a:r>
            <a:r>
              <a:rPr lang="en-US" altLang="zh-CN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72.9%</a:t>
            </a: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692031-C64E-B8CF-CE53-45F09DEFEEAE}"/>
              </a:ext>
            </a:extLst>
          </p:cNvPr>
          <p:cNvSpPr txBox="1"/>
          <p:nvPr/>
        </p:nvSpPr>
        <p:spPr>
          <a:xfrm>
            <a:off x="609600" y="3340099"/>
            <a:ext cx="5346700" cy="1054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匹配策略的最终动作保持一致。总模拟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profiles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774 → 680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，无更新为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645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，节省来自避免无效采集。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676C24-DB46-F3C4-DD06-8AAFBE97BF90}"/>
              </a:ext>
            </a:extLst>
          </p:cNvPr>
          <p:cNvSpPr txBox="1"/>
          <p:nvPr/>
        </p:nvSpPr>
        <p:spPr>
          <a:xfrm>
            <a:off x="6731000" y="2006599"/>
            <a:ext cx="48514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31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+0.558 log₂</a:t>
            </a:r>
            <a:endParaRPr lang="zh-CN" altLang="en-US" sz="31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32924F-22EB-5807-0E5E-E9D1072A7AB7}"/>
              </a:ext>
            </a:extLst>
          </p:cNvPr>
          <p:cNvSpPr txBox="1"/>
          <p:nvPr/>
        </p:nvSpPr>
        <p:spPr>
          <a:xfrm>
            <a:off x="6731000" y="2768599"/>
            <a:ext cx="4851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基础相似性迁移的生存 </a:t>
            </a:r>
            <a:r>
              <a:rPr lang="en-US" altLang="zh-CN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top-10 </a:t>
            </a: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8185CA-D85A-1C73-BF71-02E11EBCA802}"/>
              </a:ext>
            </a:extLst>
          </p:cNvPr>
          <p:cNvSpPr txBox="1"/>
          <p:nvPr/>
        </p:nvSpPr>
        <p:spPr>
          <a:xfrm>
            <a:off x="6731000" y="3340099"/>
            <a:ext cx="4851400" cy="1054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相对通用药物强度排序，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95% CI [0.235, 0.819]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5/5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更好。它构成后续复杂模型必须超过的廉价基线。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2A2CC57-7F96-F2CA-F982-2B25E7279C79}"/>
              </a:ext>
            </a:extLst>
          </p:cNvPr>
          <p:cNvCxnSpPr/>
          <p:nvPr/>
        </p:nvCxnSpPr>
        <p:spPr>
          <a:xfrm>
            <a:off x="609600" y="4584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CF5367B-23BB-5B22-607D-FCD1E66FE782}"/>
              </a:ext>
            </a:extLst>
          </p:cNvPr>
          <p:cNvSpPr txBox="1"/>
          <p:nvPr/>
        </p:nvSpPr>
        <p:spPr>
          <a:xfrm>
            <a:off x="609600" y="48132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冻结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P0.6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观测可靠性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24E7243-78F1-A17B-6A24-D9ECF1D3EF46}"/>
              </a:ext>
            </a:extLst>
          </p:cNvPr>
          <p:cNvSpPr txBox="1"/>
          <p:nvPr/>
        </p:nvSpPr>
        <p:spPr>
          <a:xfrm>
            <a:off x="609600" y="5283199"/>
            <a:ext cx="52070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明确源版本、处理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对照、共享对照误差和采集成本。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个分层实际为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pooled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样本。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C32430B-89A8-E8FB-30E4-D4011D12226D}"/>
              </a:ext>
            </a:extLst>
          </p:cNvPr>
          <p:cNvSpPr txBox="1"/>
          <p:nvPr/>
        </p:nvSpPr>
        <p:spPr>
          <a:xfrm>
            <a:off x="6731000" y="4813299"/>
            <a:ext cx="4851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按端点评测知识与反馈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AA323C-E6E1-FEF6-2278-347212CCCCF7}"/>
              </a:ext>
            </a:extLst>
          </p:cNvPr>
          <p:cNvSpPr txBox="1"/>
          <p:nvPr/>
        </p:nvSpPr>
        <p:spPr>
          <a:xfrm>
            <a:off x="6731000" y="5283199"/>
            <a:ext cx="48514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借鉴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选择方向明确的有效关系，借鉴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保留引用和代码。用同工具预算比较，记录有益与有害更新。</a:t>
            </a:r>
          </a:p>
        </p:txBody>
      </p:sp>
    </p:spTree>
    <p:extLst>
      <p:ext uri="{BB962C8B-B14F-4D97-AF65-F5344CB8AC3E}">
        <p14:creationId xmlns:p14="http://schemas.microsoft.com/office/powerpoint/2010/main" val="3386817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8479</Words>
  <Application>Microsoft Office PowerPoint</Application>
  <PresentationFormat>自定义</PresentationFormat>
  <Paragraphs>250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淼 郑</dc:creator>
  <cp:lastModifiedBy>淼 郑</cp:lastModifiedBy>
  <cp:revision>1</cp:revision>
  <dcterms:created xsi:type="dcterms:W3CDTF">2026-10-10T07:18:49Z</dcterms:created>
  <dcterms:modified xsi:type="dcterms:W3CDTF">2026-10-10T07:18:49Z</dcterms:modified>
</cp:coreProperties>
</file>