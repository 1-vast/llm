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6271A-394A-4D21-B27B-A34B93668D6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974F-38E2-4295-972A-0B12CEC8C5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960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汇报日期沿用</a:t>
            </a:r>
            <a:r>
              <a:rPr lang="en-US" altLang="zh-CN"/>
              <a:t>1009</a:t>
            </a:r>
            <a:r>
              <a:rPr lang="zh-CN" altLang="en-US"/>
              <a:t>，项目资料截至</a:t>
            </a:r>
            <a:r>
              <a:rPr lang="en-US" altLang="zh-CN"/>
              <a:t>2026-10-10</a:t>
            </a:r>
            <a:r>
              <a:rPr lang="zh-CN" altLang="en-US"/>
              <a:t>。两篇论文各用</a:t>
            </a:r>
            <a:r>
              <a:rPr lang="en-US" altLang="zh-CN"/>
              <a:t>5</a:t>
            </a:r>
            <a:r>
              <a:rPr lang="zh-CN" altLang="en-US"/>
              <a:t>页解释背景与已有进展、具体缺口、方法、实验与本篇推进。方法启发</a:t>
            </a:r>
            <a:r>
              <a:rPr lang="en-US" altLang="zh-CN"/>
              <a:t>2</a:t>
            </a:r>
            <a:r>
              <a:rPr lang="zh-CN" altLang="en-US"/>
              <a:t>页与</a:t>
            </a:r>
            <a:r>
              <a:rPr lang="en-US" altLang="zh-CN"/>
              <a:t>MAESTRO2</a:t>
            </a:r>
            <a:r>
              <a:rPr lang="zh-CN" altLang="en-US"/>
              <a:t>页相互独立。所有应用设计标注为建议。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68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knowledge-driven framework for predicting single-cell responses for unprofiled drugs</a:t>
            </a:r>
            <a:r>
              <a:rPr lang="zh-CN" altLang="en-US"/>
              <a:t>。
本页先讲研究发展，再定位论文缺口，避免把任务定义当作创新。单细胞药物扰动图谱使研究者有数据学习药物对细胞的影响，但全药物</a:t>
            </a:r>
            <a:r>
              <a:rPr lang="en-US" altLang="zh-CN"/>
              <a:t>×</a:t>
            </a:r>
            <a:r>
              <a:rPr lang="zh-CN" altLang="en-US"/>
              <a:t>细胞</a:t>
            </a:r>
            <a:r>
              <a:rPr lang="en-US" altLang="zh-CN"/>
              <a:t>×</a:t>
            </a:r>
            <a:r>
              <a:rPr lang="zh-CN" altLang="en-US"/>
              <a:t>剂量空间不可能都被测量。只使用类别</a:t>
            </a:r>
            <a:r>
              <a:rPr lang="en-US" altLang="zh-CN"/>
              <a:t>ID</a:t>
            </a:r>
            <a:r>
              <a:rPr lang="zh-CN" altLang="en-US"/>
              <a:t>的方法依赖训练中见过的药物；分子条件化方法例如</a:t>
            </a:r>
            <a:r>
              <a:rPr lang="en-US" altLang="zh-CN"/>
              <a:t>chemCPA</a:t>
            </a:r>
            <a:r>
              <a:rPr lang="zh-CN" altLang="en-US"/>
              <a:t>通过结构编码让未测分子至少拥有表示，这是已有进展。另一方面，</a:t>
            </a:r>
            <a:r>
              <a:rPr lang="en-US" altLang="zh-CN"/>
              <a:t>STATE</a:t>
            </a:r>
            <a:r>
              <a:rPr lang="zh-CN" altLang="en-US"/>
              <a:t>类型基础模型提供细胞与基因上下文。两条路线分别加强分子和细胞表示，却没有自动建立药物</a:t>
            </a:r>
            <a:r>
              <a:rPr lang="en-US" altLang="zh-CN"/>
              <a:t>–</a:t>
            </a:r>
            <a:r>
              <a:rPr lang="zh-CN" altLang="en-US"/>
              <a:t>靶点作用类型与蛋白功能之间的关系。论文提出将这些公共关系用于知识预训练，使结构表示具有机制相关的归纳偏置。需要强调：结构模型并非完全没有生物信息，而是其仅靠响应监督难以系统约束机制。所谓最新进展在本次汇报中指这篇</a:t>
            </a:r>
            <a:r>
              <a:rPr lang="en-US" altLang="zh-CN"/>
              <a:t>2026</a:t>
            </a:r>
            <a:r>
              <a:rPr lang="zh-CN" altLang="en-US"/>
              <a:t>论文报告的推进，不代表实时检索后的领域排名。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596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回答：不依赖目标药物的扰动实验，能否通过公共属性与关系学习对新分子可用的表示？第二阶段回答：已知细胞状态、剂量和机制相关分子表示后，如何把条件映射成转录响应？阶段一采用跨模态与关系对比学习，阶段二采用监督预测。预测输入的药物可以由结构编码，不要求存在训练药物的类别</a:t>
            </a:r>
            <a:r>
              <a:rPr lang="en-US" altLang="zh-CN"/>
              <a:t>ID</a:t>
            </a:r>
            <a:r>
              <a:rPr lang="zh-CN" altLang="en-US"/>
              <a:t>。</a:t>
            </a:r>
            <a:r>
              <a:rPr lang="en-US" altLang="zh-CN"/>
              <a:t>scRNA-seq</a:t>
            </a:r>
            <a:r>
              <a:rPr lang="zh-CN" altLang="en-US"/>
              <a:t>是破坏性测量，处理与对照通常为不同细胞群体，因此这里比较处理群体与预测群体，而非观测同一个细胞给药前后的真实轨迹。两类评测任务很关键：未见组合允许药物在其他背景出现；未测药物移除所有响应，并在</a:t>
            </a:r>
            <a:r>
              <a:rPr lang="en-US" altLang="zh-CN"/>
              <a:t>MAP-KG</a:t>
            </a:r>
            <a:r>
              <a:rPr lang="zh-CN" altLang="en-US"/>
              <a:t>预训练时去除实体、别名和关联边。二者难度与信息条件不同。各数据集内部训练</a:t>
            </a:r>
            <a:r>
              <a:rPr lang="en-US" altLang="zh-CN"/>
              <a:t>/</a:t>
            </a:r>
            <a:r>
              <a:rPr lang="zh-CN" altLang="en-US"/>
              <a:t>留出，并不是跨数据集直接迁移。知识表示提供归纳偏置，实际细胞响应仍需监督训练，不能将图谱关系当成细胞内已经验证的因果。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27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第一阶段知识预训练不需要细胞扰动响应。</a:t>
            </a:r>
            <a:r>
              <a:rPr lang="en-US" altLang="zh-CN"/>
              <a:t>MAP-KG</a:t>
            </a:r>
            <a:r>
              <a:rPr lang="zh-CN" altLang="en-US"/>
              <a:t>有</a:t>
            </a:r>
            <a:r>
              <a:rPr lang="en-US" altLang="zh-CN"/>
              <a:t>428,192</a:t>
            </a:r>
            <a:r>
              <a:rPr lang="zh-CN" altLang="en-US"/>
              <a:t>条药物</a:t>
            </a:r>
            <a:r>
              <a:rPr lang="en-US" altLang="zh-CN"/>
              <a:t>–</a:t>
            </a:r>
            <a:r>
              <a:rPr lang="zh-CN" altLang="en-US"/>
              <a:t>基因边与</a:t>
            </a:r>
            <a:r>
              <a:rPr lang="en-US" altLang="zh-CN"/>
              <a:t>266,054</a:t>
            </a:r>
            <a:r>
              <a:rPr lang="zh-CN" altLang="en-US"/>
              <a:t>条基因</a:t>
            </a:r>
            <a:r>
              <a:rPr lang="en-US" altLang="zh-CN"/>
              <a:t>–</a:t>
            </a:r>
            <a:r>
              <a:rPr lang="zh-CN" altLang="en-US"/>
              <a:t>基因边。节点规范嵌入来自实体名称文本</a:t>
            </a:r>
            <a:r>
              <a:rPr lang="en-US" altLang="zh-CN"/>
              <a:t>BioBERT</a:t>
            </a:r>
            <a:r>
              <a:rPr lang="zh-CN" altLang="en-US"/>
              <a:t>。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冻结，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适配。节点内正例为该实体结构、序列或描述，节点间正例为其关系条件化邻居表示。关系编码</a:t>
            </a:r>
            <a:r>
              <a:rPr lang="en-US" altLang="zh-CN"/>
              <a:t>z_r=BioBERT(r)</a:t>
            </a:r>
            <a:r>
              <a:rPr lang="zh-CN" altLang="en-US"/>
              <a:t>，</a:t>
            </a:r>
            <a:r>
              <a:rPr lang="en-US" altLang="zh-CN"/>
              <a:t>MLP</a:t>
            </a:r>
            <a:r>
              <a:rPr lang="zh-CN" altLang="en-US"/>
              <a:t>的拼接顺序保留头</a:t>
            </a:r>
            <a:r>
              <a:rPr lang="en-US" altLang="zh-CN"/>
              <a:t>/</a:t>
            </a:r>
            <a:r>
              <a:rPr lang="zh-CN" altLang="en-US"/>
              <a:t>尾角色。双向</a:t>
            </a:r>
            <a:r>
              <a:rPr lang="en-US" altLang="zh-CN"/>
              <a:t>InfoNCE</a:t>
            </a:r>
            <a:r>
              <a:rPr lang="zh-CN" altLang="en-US"/>
              <a:t>对一批配对</a:t>
            </a:r>
            <a:r>
              <a:rPr lang="en-US" altLang="zh-CN"/>
              <a:t>(z_i,z'_i)</a:t>
            </a:r>
            <a:r>
              <a:rPr lang="zh-CN" altLang="en-US"/>
              <a:t>优化：</a:t>
            </a:r>
            <a:r>
              <a:rPr lang="en-US" altLang="zh-CN"/>
              <a:t>L=-mean_i{log[exp(sim(z_i,z'_i)/tau)/sum_k exp(sim(z_i,z'_k)/tau)] + log[exp(sim(z_i,z'_i)/tau)/sum_k exp(sim(z_k,z'_i)/tau)]}</a:t>
            </a:r>
            <a:r>
              <a:rPr lang="zh-CN" altLang="en-US"/>
              <a:t>。直观解释是识别正确的实体属性</a:t>
            </a:r>
            <a:r>
              <a:rPr lang="en-US" altLang="zh-CN"/>
              <a:t>/</a:t>
            </a:r>
            <a:r>
              <a:rPr lang="zh-CN" altLang="en-US"/>
              <a:t>关系配对，形成跨模态且机制相关的几何邻域。关系角色的编码构成归纳偏置，不能把图谱中的关联自动升级为因果证据。图来自论文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681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T,h=STATE(x)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来自</a:t>
            </a:r>
            <a:r>
              <a:rPr lang="en-US" altLang="zh-CN"/>
              <a:t>SPECIAL token</a:t>
            </a:r>
            <a:r>
              <a:rPr lang="zh-CN" altLang="en-US"/>
              <a:t>。</a:t>
            </a:r>
            <a:r>
              <a:rPr lang="en-US" altLang="zh-CN"/>
              <a:t>T_fuse=MLP([T,Z_seq])</a:t>
            </a:r>
            <a:r>
              <a:rPr lang="zh-CN" altLang="en-US"/>
              <a:t>，对应基因序列</a:t>
            </a:r>
            <a:r>
              <a:rPr lang="en-US" altLang="zh-CN"/>
              <a:t>/</a:t>
            </a:r>
            <a:r>
              <a:rPr lang="zh-CN" altLang="en-US"/>
              <a:t>知识按身份对齐。药物结构</a:t>
            </a:r>
            <a:r>
              <a:rPr lang="en-US" altLang="zh-CN"/>
              <a:t>z_mol</a:t>
            </a:r>
            <a:r>
              <a:rPr lang="zh-CN" altLang="en-US"/>
              <a:t>乘以施加剂量的</a:t>
            </a:r>
            <a:r>
              <a:rPr lang="en-US" altLang="zh-CN"/>
              <a:t>log</a:t>
            </a:r>
            <a:r>
              <a:rPr lang="zh-CN" altLang="en-US"/>
              <a:t>变换</a:t>
            </a:r>
            <a:r>
              <a:rPr lang="en-US" altLang="zh-CN"/>
              <a:t>δ</a:t>
            </a:r>
            <a:r>
              <a:rPr lang="zh-CN" altLang="en-US"/>
              <a:t>，</a:t>
            </a:r>
            <a:r>
              <a:rPr lang="en-US" altLang="zh-CN"/>
              <a:t>Transformer</a:t>
            </a:r>
            <a:r>
              <a:rPr lang="zh-CN" altLang="en-US"/>
              <a:t>输入</a:t>
            </a:r>
            <a:r>
              <a:rPr lang="en-US" altLang="zh-CN"/>
              <a:t>[δ z_mol,h,T_fuse]</a:t>
            </a:r>
            <a:r>
              <a:rPr lang="zh-CN" altLang="en-US"/>
              <a:t>，取细胞位置输出</a:t>
            </a:r>
            <a:r>
              <a:rPr lang="en-US" altLang="zh-CN"/>
              <a:t>h_hat</a:t>
            </a:r>
            <a:r>
              <a:rPr lang="zh-CN" altLang="en-US"/>
              <a:t>，再由</a:t>
            </a:r>
            <a:r>
              <a:rPr lang="en-US" altLang="zh-CN"/>
              <a:t>MLP</a:t>
            </a:r>
            <a:r>
              <a:rPr lang="zh-CN" altLang="en-US"/>
              <a:t>解码表达</a:t>
            </a:r>
            <a:r>
              <a:rPr lang="en-US" altLang="zh-CN"/>
              <a:t>x_hat</a:t>
            </a:r>
            <a:r>
              <a:rPr lang="zh-CN" altLang="en-US"/>
              <a:t>。表达预处理限定</a:t>
            </a:r>
            <a:r>
              <a:rPr lang="en-US" altLang="zh-CN"/>
              <a:t>19,790</a:t>
            </a:r>
            <a:r>
              <a:rPr lang="zh-CN" altLang="en-US"/>
              <a:t>人类蛋白编码基因、总</a:t>
            </a:r>
            <a:r>
              <a:rPr lang="en-US" altLang="zh-CN"/>
              <a:t>UMI</a:t>
            </a:r>
            <a:r>
              <a:rPr lang="zh-CN" altLang="en-US"/>
              <a:t>归一化到</a:t>
            </a:r>
            <a:r>
              <a:rPr lang="en-US" altLang="zh-CN"/>
              <a:t>10,000</a:t>
            </a:r>
            <a:r>
              <a:rPr lang="zh-CN" altLang="en-US"/>
              <a:t>再</a:t>
            </a:r>
            <a:r>
              <a:rPr lang="en-US" altLang="zh-CN"/>
              <a:t>log1p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输入为每细胞高表达的</a:t>
            </a:r>
            <a:r>
              <a:rPr lang="en-US" altLang="zh-CN"/>
              <a:t>2,048</a:t>
            </a:r>
            <a:r>
              <a:rPr lang="zh-CN" altLang="en-US"/>
              <a:t>基因</a:t>
            </a:r>
            <a:r>
              <a:rPr lang="en-US" altLang="zh-CN"/>
              <a:t>token</a:t>
            </a:r>
            <a:r>
              <a:rPr lang="zh-CN" altLang="en-US"/>
              <a:t>，并采用软分箱。双损失匹配真实处理群体均值：嵌入误差除以</a:t>
            </a:r>
            <a:r>
              <a:rPr lang="en-US" altLang="zh-CN"/>
              <a:t>d</a:t>
            </a:r>
            <a:r>
              <a:rPr lang="zh-CN" altLang="en-US"/>
              <a:t>，表达误差除以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λ</a:t>
            </a:r>
            <a:r>
              <a:rPr lang="zh-CN" altLang="en-US"/>
              <a:t>权衡。真实扰动群体先由</a:t>
            </a:r>
            <a:r>
              <a:rPr lang="en-US" altLang="zh-CN"/>
              <a:t>STATE</a:t>
            </a:r>
            <a:r>
              <a:rPr lang="zh-CN" altLang="en-US"/>
              <a:t>编码形成嵌入监督。群体均值损失可减少噪声，却不保证完整单细胞分布或每个细胞的真实轨迹。模型输入药物是</a:t>
            </a:r>
            <a:r>
              <a:rPr lang="en-US" altLang="zh-CN"/>
              <a:t>SMILES</a:t>
            </a:r>
            <a:r>
              <a:rPr lang="zh-CN" altLang="en-US"/>
              <a:t>，因而对新分子可以计算嵌入，无须药物类别</a:t>
            </a:r>
            <a:r>
              <a:rPr lang="en-US" altLang="zh-CN"/>
              <a:t>ID</a:t>
            </a:r>
            <a:r>
              <a:rPr lang="zh-CN" altLang="en-US"/>
              <a:t>。图来自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44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评测在</a:t>
            </a:r>
            <a:r>
              <a:rPr lang="en-US" altLang="zh-CN"/>
              <a:t>Tahoe</a:t>
            </a:r>
            <a:r>
              <a:rPr lang="zh-CN" altLang="en-US"/>
              <a:t>六条选定细胞系（原图谱</a:t>
            </a:r>
            <a:r>
              <a:rPr lang="en-US" altLang="zh-CN"/>
              <a:t>50</a:t>
            </a:r>
            <a:r>
              <a:rPr lang="zh-CN" altLang="en-US"/>
              <a:t>条、</a:t>
            </a:r>
            <a:r>
              <a:rPr lang="en-US" altLang="zh-CN"/>
              <a:t>379</a:t>
            </a:r>
            <a:r>
              <a:rPr lang="zh-CN" altLang="en-US"/>
              <a:t>药）、</a:t>
            </a:r>
            <a:r>
              <a:rPr lang="en-US" altLang="zh-CN"/>
              <a:t>OP3</a:t>
            </a:r>
            <a:r>
              <a:rPr lang="zh-CN" altLang="en-US"/>
              <a:t>六种免疫类型</a:t>
            </a:r>
            <a:r>
              <a:rPr lang="en-US" altLang="zh-CN"/>
              <a:t>144</a:t>
            </a:r>
            <a:r>
              <a:rPr lang="zh-CN" altLang="en-US"/>
              <a:t>化合物及</a:t>
            </a:r>
            <a:r>
              <a:rPr lang="en-US" altLang="zh-CN"/>
              <a:t>SciPlex3</a:t>
            </a:r>
            <a:r>
              <a:rPr lang="zh-CN" altLang="en-US"/>
              <a:t>三条癌系</a:t>
            </a:r>
            <a:r>
              <a:rPr lang="en-US" altLang="zh-CN"/>
              <a:t>187</a:t>
            </a:r>
            <a:r>
              <a:rPr lang="zh-CN" altLang="en-US"/>
              <a:t>化合物内部进行。比较</a:t>
            </a:r>
            <a:r>
              <a:rPr lang="en-US" altLang="zh-CN"/>
              <a:t>trainMean</a:t>
            </a:r>
            <a:r>
              <a:rPr lang="zh-CN" altLang="en-US"/>
              <a:t>、</a:t>
            </a:r>
            <a:r>
              <a:rPr lang="en-US" altLang="zh-CN"/>
              <a:t>chemCPA</a:t>
            </a:r>
            <a:r>
              <a:rPr lang="zh-CN" altLang="en-US"/>
              <a:t>、</a:t>
            </a:r>
            <a:r>
              <a:rPr lang="en-US" altLang="zh-CN"/>
              <a:t>CRISP</a:t>
            </a:r>
            <a:r>
              <a:rPr lang="zh-CN" altLang="en-US"/>
              <a:t>、</a:t>
            </a:r>
            <a:r>
              <a:rPr lang="en-US" altLang="zh-CN"/>
              <a:t>PRnet</a:t>
            </a:r>
            <a:r>
              <a:rPr lang="zh-CN" altLang="en-US"/>
              <a:t>、</a:t>
            </a:r>
            <a:r>
              <a:rPr lang="en-US" altLang="zh-CN"/>
              <a:t>XPert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的</a:t>
            </a:r>
            <a:r>
              <a:rPr lang="en-US" altLang="zh-CN"/>
              <a:t>ID</a:t>
            </a:r>
            <a:r>
              <a:rPr lang="zh-CN" altLang="en-US"/>
              <a:t>型表示不用于未测药物任务。</a:t>
            </a:r>
            <a:r>
              <a:rPr lang="en-US" altLang="zh-CN"/>
              <a:t>Pearson delta</a:t>
            </a:r>
            <a:r>
              <a:rPr lang="zh-CN" altLang="en-US"/>
              <a:t>比较相对对照的表达变化；还评估方向准确率、药物区分度、</a:t>
            </a:r>
            <a:r>
              <a:rPr lang="en-US" altLang="zh-CN"/>
              <a:t>MSE</a:t>
            </a:r>
            <a:r>
              <a:rPr lang="zh-CN" altLang="en-US"/>
              <a:t>与</a:t>
            </a:r>
            <a:r>
              <a:rPr lang="en-US" altLang="zh-CN"/>
              <a:t>Wasserstein</a:t>
            </a:r>
            <a:r>
              <a:rPr lang="zh-CN" altLang="en-US"/>
              <a:t>，基因集合有</a:t>
            </a:r>
            <a:r>
              <a:rPr lang="en-US" altLang="zh-CN"/>
              <a:t>top50 DEG</a:t>
            </a:r>
            <a:r>
              <a:rPr lang="zh-CN" altLang="en-US"/>
              <a:t>和</a:t>
            </a:r>
            <a:r>
              <a:rPr lang="en-US" altLang="zh-CN"/>
              <a:t>top2000 HVG</a:t>
            </a:r>
            <a:r>
              <a:rPr lang="zh-CN" altLang="en-US"/>
              <a:t>。三个未测药物相对最强基线提升分别</a:t>
            </a:r>
            <a:r>
              <a:rPr lang="en-US" altLang="zh-CN"/>
              <a:t>11.8%</a:t>
            </a:r>
            <a:r>
              <a:rPr lang="zh-CN" altLang="en-US"/>
              <a:t>、</a:t>
            </a:r>
            <a:r>
              <a:rPr lang="en-US" altLang="zh-CN"/>
              <a:t>19.8%</a:t>
            </a:r>
            <a:r>
              <a:rPr lang="zh-CN" altLang="en-US"/>
              <a:t>、</a:t>
            </a:r>
            <a:r>
              <a:rPr lang="en-US" altLang="zh-CN"/>
              <a:t>10.4%</a:t>
            </a:r>
            <a:r>
              <a:rPr lang="zh-CN" altLang="en-US"/>
              <a:t>，是相对百分比而非百分点。</a:t>
            </a:r>
            <a:r>
              <a:rPr lang="en-US" altLang="zh-CN"/>
              <a:t>SciPlex3</a:t>
            </a:r>
            <a:r>
              <a:rPr lang="zh-CN" altLang="en-US"/>
              <a:t>、</a:t>
            </a:r>
            <a:r>
              <a:rPr lang="en-US" altLang="zh-CN"/>
              <a:t>OP3</a:t>
            </a:r>
            <a:r>
              <a:rPr lang="zh-CN" altLang="en-US"/>
              <a:t>平均</a:t>
            </a:r>
            <a:r>
              <a:rPr lang="en-US" altLang="zh-CN"/>
              <a:t>r</a:t>
            </a:r>
            <a:r>
              <a:rPr lang="zh-CN" altLang="en-US"/>
              <a:t>分别</a:t>
            </a:r>
            <a:r>
              <a:rPr lang="en-US" altLang="zh-CN"/>
              <a:t>0.827</a:t>
            </a:r>
            <a:r>
              <a:rPr lang="zh-CN" altLang="en-US"/>
              <a:t>、</a:t>
            </a:r>
            <a:r>
              <a:rPr lang="en-US" altLang="zh-CN"/>
              <a:t>0.861</a:t>
            </a:r>
            <a:r>
              <a:rPr lang="zh-CN" altLang="en-US"/>
              <a:t>。组合外推</a:t>
            </a:r>
            <a:r>
              <a:rPr lang="en-US" altLang="zh-CN"/>
              <a:t>Tahoe+12.3%</a:t>
            </a:r>
            <a:r>
              <a:rPr lang="zh-CN" altLang="en-US"/>
              <a:t>、</a:t>
            </a:r>
            <a:r>
              <a:rPr lang="en-US" altLang="zh-CN"/>
              <a:t>SciPlex3+6.6%</a:t>
            </a:r>
            <a:r>
              <a:rPr lang="zh-CN" altLang="en-US"/>
              <a:t>。</a:t>
            </a:r>
            <a:r>
              <a:rPr lang="en-US" altLang="zh-CN"/>
              <a:t>MAP-KG</a:t>
            </a:r>
            <a:r>
              <a:rPr lang="zh-CN" altLang="en-US"/>
              <a:t>比</a:t>
            </a:r>
            <a:r>
              <a:rPr lang="en-US" altLang="zh-CN"/>
              <a:t>PrimeKG PDCorr+11.4%</a:t>
            </a:r>
            <a:r>
              <a:rPr lang="zh-CN" altLang="en-US"/>
              <a:t>，去掉药物</a:t>
            </a:r>
            <a:r>
              <a:rPr lang="en-US" altLang="zh-CN"/>
              <a:t>–</a:t>
            </a:r>
            <a:r>
              <a:rPr lang="zh-CN" altLang="en-US"/>
              <a:t>基因边最受损，支持关系贡献，但比较也可能受知识规模影响，若归因知识质量还需同规模对照。</a:t>
            </a:r>
            <a:r>
              <a:rPr lang="en-US" altLang="zh-CN"/>
              <a:t>A549</a:t>
            </a:r>
            <a:r>
              <a:rPr lang="zh-CN" altLang="en-US"/>
              <a:t>通过预测转录谱和</a:t>
            </a:r>
            <a:r>
              <a:rPr lang="en-US" altLang="zh-CN"/>
              <a:t>GSEA</a:t>
            </a:r>
            <a:r>
              <a:rPr lang="zh-CN" altLang="en-US"/>
              <a:t>进行计算筛选，</a:t>
            </a:r>
            <a:r>
              <a:rPr lang="en-US" altLang="zh-CN"/>
              <a:t>58</a:t>
            </a:r>
            <a:r>
              <a:rPr lang="zh-CN" altLang="en-US"/>
              <a:t>候选中</a:t>
            </a:r>
            <a:r>
              <a:rPr lang="en-US" altLang="zh-CN"/>
              <a:t>4/5</a:t>
            </a:r>
            <a:r>
              <a:rPr lang="zh-CN" altLang="en-US"/>
              <a:t>已批</a:t>
            </a:r>
            <a:r>
              <a:rPr lang="en-US" altLang="zh-CN"/>
              <a:t>NSCLC</a:t>
            </a:r>
            <a:r>
              <a:rPr lang="zh-CN" altLang="en-US"/>
              <a:t>药进入前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。这是计算可用性证据，没有新的药效湿实验。论文推进的是新分子的转录响应外推，不是证明临床发现成功。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7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multi-agent system for automating scientific discovery</a:t>
            </a:r>
            <a:r>
              <a:rPr lang="zh-CN" altLang="en-US"/>
              <a:t>。
与</a:t>
            </a:r>
            <a:r>
              <a:rPr lang="en-US" altLang="zh-CN"/>
              <a:t>MAP</a:t>
            </a:r>
            <a:r>
              <a:rPr lang="zh-CN" altLang="en-US"/>
              <a:t>不同，本篇不训练药物响应预测器，而是组织科学发现的工作过程。已有文献问答、跨领域证据整合与假设生成系统扩展了模型在科研中的用途；代码执行又提供数据分析能力。论文关心的缺口是这些能力如何连接：候选必须接受实验检验，原始数据需要质量控制和可执行分析，新的观察应能推动下一轮假设。</a:t>
            </a:r>
            <a:r>
              <a:rPr lang="en-US" altLang="zh-CN"/>
              <a:t>Robin</a:t>
            </a:r>
            <a:r>
              <a:rPr lang="zh-CN" altLang="en-US"/>
              <a:t>不是只输出一份研究建议，而是在</a:t>
            </a:r>
            <a:r>
              <a:rPr lang="en-US" altLang="zh-CN"/>
              <a:t>dAMD</a:t>
            </a:r>
            <a:r>
              <a:rPr lang="zh-CN" altLang="en-US"/>
              <a:t>药物再利用中完成两轮实验反馈案例。</a:t>
            </a:r>
            <a:r>
              <a:rPr lang="en-US" altLang="zh-CN"/>
              <a:t>RPE</a:t>
            </a:r>
            <a:r>
              <a:rPr lang="zh-CN" altLang="en-US"/>
              <a:t>吞噬光感受器外节有助于维持视网膜健康，研究选择增强吞噬作为疾病相关、可测的目标，但功能改善不自动等同于患者获益。初筛人类选用</a:t>
            </a:r>
            <a:r>
              <a:rPr lang="en-US" altLang="zh-CN"/>
              <a:t>ARPE19</a:t>
            </a:r>
            <a:r>
              <a:rPr lang="zh-CN" altLang="en-US"/>
              <a:t>和</a:t>
            </a:r>
            <a:r>
              <a:rPr lang="en-US" altLang="zh-CN"/>
              <a:t>pHrodo</a:t>
            </a:r>
            <a:r>
              <a:rPr lang="zh-CN" altLang="en-US"/>
              <a:t>微球，给药</a:t>
            </a:r>
            <a:r>
              <a:rPr lang="en-US" altLang="zh-CN"/>
              <a:t>1h</a:t>
            </a:r>
            <a:r>
              <a:rPr lang="zh-CN" altLang="en-US"/>
              <a:t>、底物</a:t>
            </a:r>
            <a:r>
              <a:rPr lang="en-US" altLang="zh-CN"/>
              <a:t>3h</a:t>
            </a:r>
            <a:r>
              <a:rPr lang="zh-CN" altLang="en-US"/>
              <a:t>，底物进入酸性环境发光，流式</a:t>
            </a:r>
            <a:r>
              <a:rPr lang="en-US" altLang="zh-CN"/>
              <a:t>MFI</a:t>
            </a:r>
            <a:r>
              <a:rPr lang="zh-CN" altLang="en-US"/>
              <a:t>反映其信号。后面需要排除死细胞、背景和模型局限。研究者制定协议并执行湿实验，因此应描述为部分自动化、实验反馈驱动的发现过程。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454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Crow</a:t>
            </a:r>
            <a:r>
              <a:rPr lang="zh-CN" altLang="en-US"/>
              <a:t>和</a:t>
            </a:r>
            <a:r>
              <a:rPr lang="en-US" altLang="zh-CN"/>
              <a:t>Falcon</a:t>
            </a:r>
            <a:r>
              <a:rPr lang="zh-CN" altLang="en-US"/>
              <a:t>采用</a:t>
            </a:r>
            <a:r>
              <a:rPr lang="en-US" altLang="zh-CN"/>
              <a:t>PaperQA2</a:t>
            </a:r>
            <a:r>
              <a:rPr lang="zh-CN" altLang="en-US"/>
              <a:t>检索文献，也访问临床试验及</a:t>
            </a:r>
            <a:r>
              <a:rPr lang="en-US" altLang="zh-CN"/>
              <a:t>OpenTargets</a:t>
            </a:r>
            <a:r>
              <a:rPr lang="zh-CN" altLang="en-US"/>
              <a:t>。</a:t>
            </a:r>
            <a:r>
              <a:rPr lang="en-US" altLang="zh-CN"/>
              <a:t>Crow</a:t>
            </a:r>
            <a:r>
              <a:rPr lang="zh-CN" altLang="en-US"/>
              <a:t>快速回答疾病、机制、测量方法，</a:t>
            </a:r>
            <a:r>
              <a:rPr lang="en-US" altLang="zh-CN"/>
              <a:t>Falcon</a:t>
            </a:r>
            <a:r>
              <a:rPr lang="zh-CN" altLang="en-US"/>
              <a:t>对候选深入评价药理依据与局限。</a:t>
            </a:r>
            <a:r>
              <a:rPr lang="en-US" altLang="zh-CN"/>
              <a:t>Robin</a:t>
            </a:r>
            <a:r>
              <a:rPr lang="zh-CN" altLang="en-US"/>
              <a:t>协调器基于</a:t>
            </a:r>
            <a:r>
              <a:rPr lang="en-US" altLang="zh-CN"/>
              <a:t>o4-mini</a:t>
            </a:r>
            <a:r>
              <a:rPr lang="zh-CN" altLang="en-US"/>
              <a:t>，成对裁判为</a:t>
            </a:r>
            <a:r>
              <a:rPr lang="en-US" altLang="zh-CN"/>
              <a:t>ClaudeSonnet3.7</a:t>
            </a:r>
            <a:r>
              <a:rPr lang="zh-CN" altLang="en-US"/>
              <a:t>。先形成</a:t>
            </a:r>
            <a:r>
              <a:rPr lang="en-US" altLang="zh-CN"/>
              <a:t>10</a:t>
            </a:r>
            <a:r>
              <a:rPr lang="zh-CN" altLang="en-US"/>
              <a:t>份机制</a:t>
            </a:r>
            <a:r>
              <a:rPr lang="en-US" altLang="zh-CN"/>
              <a:t>/</a:t>
            </a:r>
            <a:r>
              <a:rPr lang="zh-CN" altLang="en-US"/>
              <a:t>实验报告，再排序选择实验方向、生成</a:t>
            </a:r>
            <a:r>
              <a:rPr lang="en-US" altLang="zh-CN"/>
              <a:t>30</a:t>
            </a:r>
            <a:r>
              <a:rPr lang="zh-CN" altLang="en-US"/>
              <a:t>个假设，以</a:t>
            </a:r>
            <a:r>
              <a:rPr lang="en-US" altLang="zh-CN"/>
              <a:t>Falcon</a:t>
            </a:r>
            <a:r>
              <a:rPr lang="zh-CN" altLang="en-US"/>
              <a:t>报告评估，研究者审核选择并执行实验。最多</a:t>
            </a:r>
            <a:r>
              <a:rPr lang="en-US" altLang="zh-CN"/>
              <a:t>25</a:t>
            </a:r>
            <a:r>
              <a:rPr lang="zh-CN" altLang="en-US"/>
              <a:t>项时比较所有配对，否则随机</a:t>
            </a:r>
            <a:r>
              <a:rPr lang="en-US" altLang="zh-CN"/>
              <a:t>300</a:t>
            </a:r>
            <a:r>
              <a:rPr lang="zh-CN" altLang="en-US"/>
              <a:t>对；</a:t>
            </a:r>
            <a:r>
              <a:rPr lang="en-US" altLang="zh-CN"/>
              <a:t>BTL</a:t>
            </a:r>
            <a:r>
              <a:rPr lang="zh-CN" altLang="en-US"/>
              <a:t>把成对偏好拟合为相对强度</a:t>
            </a:r>
            <a:r>
              <a:rPr lang="en-US" altLang="zh-CN"/>
              <a:t>s</a:t>
            </a:r>
            <a:r>
              <a:rPr lang="zh-CN" altLang="en-US"/>
              <a:t>，概率为</a:t>
            </a:r>
            <a:r>
              <a:rPr lang="en-US" altLang="zh-CN"/>
              <a:t>s_i/(s_i+s_j)</a:t>
            </a:r>
            <a:r>
              <a:rPr lang="zh-CN" altLang="en-US"/>
              <a:t>，排序不表示实测效应。</a:t>
            </a:r>
            <a:r>
              <a:rPr lang="en-US" altLang="zh-CN"/>
              <a:t>Finch</a:t>
            </a:r>
            <a:r>
              <a:rPr lang="zh-CN" altLang="en-US"/>
              <a:t>接受原始</a:t>
            </a:r>
            <a:r>
              <a:rPr lang="en-US" altLang="zh-CN"/>
              <a:t>FCS</a:t>
            </a:r>
            <a:r>
              <a:rPr lang="zh-CN" altLang="en-US"/>
              <a:t>或</a:t>
            </a:r>
            <a:r>
              <a:rPr lang="en-US" altLang="zh-CN"/>
              <a:t>RNA</a:t>
            </a:r>
            <a:r>
              <a:rPr lang="zh-CN" altLang="en-US"/>
              <a:t>数据，在</a:t>
            </a:r>
            <a:r>
              <a:rPr lang="en-US" altLang="zh-CN"/>
              <a:t>Jupyter</a:t>
            </a:r>
            <a:r>
              <a:rPr lang="zh-CN" altLang="en-US"/>
              <a:t>用</a:t>
            </a:r>
            <a:r>
              <a:rPr lang="en-US" altLang="zh-CN"/>
              <a:t>edit_cell</a:t>
            </a:r>
            <a:r>
              <a:rPr lang="zh-CN" altLang="en-US"/>
              <a:t>修改并执行代码，以</a:t>
            </a:r>
            <a:r>
              <a:rPr lang="en-US" altLang="zh-CN"/>
              <a:t>submit_answer</a:t>
            </a:r>
            <a:r>
              <a:rPr lang="zh-CN" altLang="en-US"/>
              <a:t>提交结论。</a:t>
            </a:r>
            <a:r>
              <a:rPr lang="en-US" altLang="zh-CN"/>
              <a:t>8</a:t>
            </a:r>
            <a:r>
              <a:rPr lang="zh-CN" altLang="en-US"/>
              <a:t>条独立分析轨迹的共识有助于发现分析一致性，却受相同模型、提示和数据的共同偏差约束，不能代替独立培养或供者。新观察返回协调器构成下一轮输入。图中人类湿实验环节不可省略。论文创新是把这些环节在真实案例中接起来，代理数量本身不是科学发现有效性的证明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921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第一轮前五候选为</a:t>
            </a:r>
            <a:r>
              <a:rPr lang="en-US" altLang="zh-CN"/>
              <a:t>exendin4</a:t>
            </a:r>
            <a:r>
              <a:rPr lang="zh-CN" altLang="en-US"/>
              <a:t>、</a:t>
            </a:r>
            <a:r>
              <a:rPr lang="en-US" altLang="zh-CN"/>
              <a:t>fingolimod</a:t>
            </a:r>
            <a:r>
              <a:rPr lang="zh-CN" altLang="en-US"/>
              <a:t>、</a:t>
            </a:r>
            <a:r>
              <a:rPr lang="en-US" altLang="zh-CN"/>
              <a:t>MFGE8</a:t>
            </a:r>
            <a:r>
              <a:rPr lang="zh-CN" altLang="en-US"/>
              <a:t>、</a:t>
            </a:r>
            <a:r>
              <a:rPr lang="en-US" altLang="zh-CN"/>
              <a:t>Y27632</a:t>
            </a:r>
            <a:r>
              <a:rPr lang="zh-CN" altLang="en-US"/>
              <a:t>、</a:t>
            </a:r>
            <a:r>
              <a:rPr lang="en-US" altLang="zh-CN"/>
              <a:t>AICAR</a:t>
            </a:r>
            <a:r>
              <a:rPr lang="zh-CN" altLang="en-US"/>
              <a:t>与</a:t>
            </a:r>
            <a:r>
              <a:rPr lang="en-US" altLang="zh-CN"/>
              <a:t>TUDCA</a:t>
            </a:r>
            <a:r>
              <a:rPr lang="zh-CN" altLang="en-US"/>
              <a:t>组合，</a:t>
            </a:r>
            <a:r>
              <a:rPr lang="en-US" altLang="zh-CN"/>
              <a:t>MFGE8</a:t>
            </a:r>
            <a:r>
              <a:rPr lang="zh-CN" altLang="en-US"/>
              <a:t>有既有吞噬增强证据作为阳性参照。系统最初建议</a:t>
            </a:r>
            <a:r>
              <a:rPr lang="en-US" altLang="zh-CN"/>
              <a:t>ROS</a:t>
            </a:r>
            <a:r>
              <a:rPr lang="zh-CN" altLang="en-US"/>
              <a:t>与原代</a:t>
            </a:r>
            <a:r>
              <a:rPr lang="en-US" altLang="zh-CN"/>
              <a:t>/</a:t>
            </a:r>
            <a:r>
              <a:rPr lang="zh-CN" altLang="en-US"/>
              <a:t>干细胞分化</a:t>
            </a:r>
            <a:r>
              <a:rPr lang="en-US" altLang="zh-CN"/>
              <a:t>RPE</a:t>
            </a:r>
            <a:r>
              <a:rPr lang="zh-CN" altLang="en-US"/>
              <a:t>，但人类选择更易获得微球和</a:t>
            </a:r>
            <a:r>
              <a:rPr lang="en-US" altLang="zh-CN"/>
              <a:t>ARPE19</a:t>
            </a:r>
            <a:r>
              <a:rPr lang="zh-CN" altLang="en-US"/>
              <a:t>加速验证。</a:t>
            </a:r>
            <a:r>
              <a:rPr lang="en-US" altLang="zh-CN"/>
              <a:t>FCS</a:t>
            </a:r>
            <a:r>
              <a:rPr lang="zh-CN" altLang="en-US"/>
              <a:t>通过</a:t>
            </a:r>
            <a:r>
              <a:rPr lang="en-US" altLang="zh-CN"/>
              <a:t>FSC/SSC</a:t>
            </a:r>
            <a:r>
              <a:rPr lang="zh-CN" altLang="en-US"/>
              <a:t>排碎片，</a:t>
            </a:r>
            <a:r>
              <a:rPr lang="en-US" altLang="zh-CN"/>
              <a:t>FSC-A/H</a:t>
            </a:r>
            <a:r>
              <a:rPr lang="zh-CN" altLang="en-US"/>
              <a:t>选单细胞，</a:t>
            </a:r>
            <a:r>
              <a:rPr lang="en-US" altLang="zh-CN"/>
              <a:t>DAPI</a:t>
            </a:r>
            <a:r>
              <a:rPr lang="zh-CN" altLang="en-US"/>
              <a:t>排死细胞，再比较归一化</a:t>
            </a:r>
            <a:r>
              <a:rPr lang="en-US" altLang="zh-CN"/>
              <a:t>MFI</a:t>
            </a:r>
            <a:r>
              <a:rPr lang="zh-CN" altLang="en-US"/>
              <a:t>。</a:t>
            </a:r>
            <a:r>
              <a:rPr lang="en-US" altLang="zh-CN"/>
              <a:t>n3</a:t>
            </a:r>
            <a:r>
              <a:rPr lang="zh-CN" altLang="en-US"/>
              <a:t>孔，</a:t>
            </a:r>
            <a:r>
              <a:rPr lang="en-US" altLang="zh-CN"/>
              <a:t>Dunnett</a:t>
            </a:r>
            <a:r>
              <a:rPr lang="zh-CN" altLang="en-US"/>
              <a:t>检验对</a:t>
            </a:r>
            <a:r>
              <a:rPr lang="en-US" altLang="zh-CN"/>
              <a:t>DMSO</a:t>
            </a:r>
            <a:r>
              <a:rPr lang="zh-CN" altLang="en-US"/>
              <a:t>。</a:t>
            </a:r>
            <a:r>
              <a:rPr lang="en-US" altLang="zh-CN"/>
              <a:t>Y27632</a:t>
            </a:r>
            <a:r>
              <a:rPr lang="zh-CN" altLang="en-US"/>
              <a:t>命中、人类同数据分析支持后，</a:t>
            </a:r>
            <a:r>
              <a:rPr lang="en-US" altLang="zh-CN"/>
              <a:t>Robin</a:t>
            </a:r>
            <a:r>
              <a:rPr lang="zh-CN" altLang="en-US"/>
              <a:t>提出</a:t>
            </a:r>
            <a:r>
              <a:rPr lang="en-US" altLang="zh-CN"/>
              <a:t>RNAseq</a:t>
            </a:r>
            <a:r>
              <a:rPr lang="zh-CN" altLang="en-US"/>
              <a:t>。</a:t>
            </a:r>
            <a:r>
              <a:rPr lang="en-US" altLang="zh-CN"/>
              <a:t>Finch</a:t>
            </a:r>
            <a:r>
              <a:rPr lang="zh-CN" altLang="en-US"/>
              <a:t>差异与</a:t>
            </a:r>
            <a:r>
              <a:rPr lang="en-US" altLang="zh-CN"/>
              <a:t>GO</a:t>
            </a:r>
            <a:r>
              <a:rPr lang="zh-CN" altLang="en-US"/>
              <a:t>分析显示细胞骨架、小</a:t>
            </a:r>
            <a:r>
              <a:rPr lang="en-US" altLang="zh-CN"/>
              <a:t>GTP</a:t>
            </a:r>
            <a:r>
              <a:rPr lang="zh-CN" altLang="en-US"/>
              <a:t>酶和自噬相关转录变化；</a:t>
            </a:r>
            <a:r>
              <a:rPr lang="en-US" altLang="zh-CN"/>
              <a:t>8</a:t>
            </a:r>
            <a:r>
              <a:rPr lang="zh-CN" altLang="en-US"/>
              <a:t>路径中超过</a:t>
            </a:r>
            <a:r>
              <a:rPr lang="en-US" altLang="zh-CN"/>
              <a:t>50%</a:t>
            </a:r>
            <a:r>
              <a:rPr lang="zh-CN" altLang="en-US"/>
              <a:t>识别相同显著</a:t>
            </a:r>
            <a:r>
              <a:rPr lang="en-US" altLang="zh-CN"/>
              <a:t>DEG</a:t>
            </a:r>
            <a:r>
              <a:rPr lang="zh-CN" altLang="en-US"/>
              <a:t>。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，编码脂质外排泵，可能连接吞噬后的脂质处理与</a:t>
            </a:r>
            <a:r>
              <a:rPr lang="en-US" altLang="zh-CN"/>
              <a:t>RPE</a:t>
            </a:r>
            <a:r>
              <a:rPr lang="zh-CN" altLang="en-US"/>
              <a:t>健康。火山图来自</a:t>
            </a:r>
            <a:r>
              <a:rPr lang="en-US" altLang="zh-CN"/>
              <a:t>Fig.3b</a:t>
            </a:r>
            <a:r>
              <a:rPr lang="zh-CN" altLang="en-US"/>
              <a:t>。批量</a:t>
            </a:r>
            <a:r>
              <a:rPr lang="en-US" altLang="zh-CN"/>
              <a:t>RNA</a:t>
            </a:r>
            <a:r>
              <a:rPr lang="zh-CN" altLang="en-US"/>
              <a:t>结果是机制关联，应通过敲低</a:t>
            </a:r>
            <a:r>
              <a:rPr lang="en-US" altLang="zh-CN"/>
              <a:t>/</a:t>
            </a:r>
            <a:r>
              <a:rPr lang="zh-CN" altLang="en-US"/>
              <a:t>救援及功能复测检验</a:t>
            </a:r>
            <a:r>
              <a:rPr lang="en-US" altLang="zh-CN"/>
              <a:t>ABCA1</a:t>
            </a:r>
            <a:r>
              <a:rPr lang="zh-CN" altLang="en-US"/>
              <a:t>必要</a:t>
            </a:r>
            <a:r>
              <a:rPr lang="en-US" altLang="zh-CN"/>
              <a:t>/</a:t>
            </a:r>
            <a:r>
              <a:rPr lang="zh-CN" altLang="en-US"/>
              <a:t>充分性，此类实验是建议而非论文已完成。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790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第二轮十药由实验反馈与文献综合提出，</a:t>
            </a:r>
            <a:r>
              <a:rPr lang="en-US" altLang="zh-CN"/>
              <a:t>ripasudil</a:t>
            </a:r>
            <a:r>
              <a:rPr lang="zh-CN" altLang="en-US"/>
              <a:t>是在日本批准用于青光眼的</a:t>
            </a:r>
            <a:r>
              <a:rPr lang="en-US" altLang="zh-CN"/>
              <a:t>ROCK</a:t>
            </a:r>
            <a:r>
              <a:rPr lang="zh-CN" altLang="en-US"/>
              <a:t>抑制剂，相比研究分子</a:t>
            </a:r>
            <a:r>
              <a:rPr lang="en-US" altLang="zh-CN"/>
              <a:t>Y27632</a:t>
            </a:r>
            <a:r>
              <a:rPr lang="zh-CN" altLang="en-US"/>
              <a:t>有再利用背景。</a:t>
            </a:r>
            <a:r>
              <a:rPr lang="en-US" altLang="zh-CN"/>
              <a:t>ARPE19</a:t>
            </a:r>
            <a:r>
              <a:rPr lang="zh-CN" altLang="en-US"/>
              <a:t>读数为</a:t>
            </a:r>
            <a:r>
              <a:rPr lang="en-US" altLang="zh-CN"/>
              <a:t>1.89×vehicle</a:t>
            </a:r>
            <a:r>
              <a:rPr lang="zh-CN" altLang="en-US"/>
              <a:t>，人类分析</a:t>
            </a:r>
            <a:r>
              <a:rPr lang="en-US" altLang="zh-CN"/>
              <a:t>1.75×</a:t>
            </a:r>
            <a:r>
              <a:rPr lang="zh-CN" altLang="en-US"/>
              <a:t>，不能读成净增加</a:t>
            </a:r>
            <a:r>
              <a:rPr lang="en-US" altLang="zh-CN"/>
              <a:t>189%</a:t>
            </a:r>
            <a:r>
              <a:rPr lang="zh-CN" altLang="en-US"/>
              <a:t>。原代</a:t>
            </a:r>
            <a:r>
              <a:rPr lang="en-US" altLang="zh-CN"/>
              <a:t>RPE-SC</a:t>
            </a:r>
            <a:r>
              <a:rPr lang="zh-CN" altLang="en-US"/>
              <a:t>来自</a:t>
            </a:r>
            <a:r>
              <a:rPr lang="en-US" altLang="zh-CN"/>
              <a:t>&gt;60</a:t>
            </a:r>
            <a:r>
              <a:rPr lang="zh-CN" altLang="en-US"/>
              <a:t>岁单供者，牛</a:t>
            </a:r>
            <a:r>
              <a:rPr lang="en-US" altLang="zh-CN"/>
              <a:t>ROS</a:t>
            </a:r>
            <a:r>
              <a:rPr lang="zh-CN" altLang="en-US"/>
              <a:t>替代微球，</a:t>
            </a:r>
            <a:r>
              <a:rPr lang="en-US" altLang="zh-CN"/>
              <a:t>n4</a:t>
            </a:r>
            <a:r>
              <a:rPr lang="zh-CN" altLang="en-US"/>
              <a:t>孔筛选</a:t>
            </a:r>
            <a:r>
              <a:rPr lang="en-US" altLang="zh-CN"/>
              <a:t>/</a:t>
            </a:r>
            <a:r>
              <a:rPr lang="zh-CN" altLang="en-US"/>
              <a:t>剂量响应支持</a:t>
            </a:r>
            <a:r>
              <a:rPr lang="en-US" altLang="zh-CN"/>
              <a:t>ripasudil</a:t>
            </a:r>
            <a:r>
              <a:rPr lang="zh-CN" altLang="en-US"/>
              <a:t>和</a:t>
            </a:r>
            <a:r>
              <a:rPr lang="en-US" altLang="zh-CN"/>
              <a:t>Y27632</a:t>
            </a:r>
            <a:r>
              <a:rPr lang="zh-CN" altLang="en-US"/>
              <a:t>。上清</a:t>
            </a:r>
            <a:r>
              <a:rPr lang="en-US" altLang="zh-CN"/>
              <a:t>LDH</a:t>
            </a:r>
            <a:r>
              <a:rPr lang="zh-CN" altLang="en-US"/>
              <a:t>补充毒性读数，</a:t>
            </a:r>
            <a:r>
              <a:rPr lang="en-US" altLang="zh-CN"/>
              <a:t>Y27632</a:t>
            </a:r>
            <a:r>
              <a:rPr lang="zh-CN" altLang="en-US"/>
              <a:t>剂量与</a:t>
            </a:r>
            <a:r>
              <a:rPr lang="en-US" altLang="zh-CN"/>
              <a:t>LDH</a:t>
            </a:r>
            <a:r>
              <a:rPr lang="zh-CN" altLang="en-US"/>
              <a:t>无相关，</a:t>
            </a:r>
            <a:r>
              <a:rPr lang="en-US" altLang="zh-CN"/>
              <a:t>ripasudil</a:t>
            </a:r>
            <a:r>
              <a:rPr lang="zh-CN" altLang="en-US"/>
              <a:t>为负相关。</a:t>
            </a:r>
            <a:r>
              <a:rPr lang="en-US" altLang="zh-CN"/>
              <a:t>KL001</a:t>
            </a:r>
            <a:r>
              <a:rPr lang="zh-CN" altLang="en-US"/>
              <a:t>通过防止</a:t>
            </a:r>
            <a:r>
              <a:rPr lang="en-US" altLang="zh-CN"/>
              <a:t>CRY</a:t>
            </a:r>
            <a:r>
              <a:rPr lang="zh-CN" altLang="en-US"/>
              <a:t>蛋白泛素依赖降解稳定蛋白，依据</a:t>
            </a:r>
            <a:r>
              <a:rPr lang="en-US" altLang="zh-CN"/>
              <a:t>RPE</a:t>
            </a:r>
            <a:r>
              <a:rPr lang="zh-CN" altLang="en-US"/>
              <a:t>吞噬昼夜节律联系成为候选并命中。原代有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</a:t>
            </a:r>
            <a:r>
              <a:rPr lang="en-US" altLang="zh-CN"/>
              <a:t>ripasudil</a:t>
            </a:r>
            <a:r>
              <a:rPr lang="zh-CN" altLang="en-US"/>
              <a:t>均引起</a:t>
            </a:r>
            <a:r>
              <a:rPr lang="en-US" altLang="zh-CN"/>
              <a:t>ABCA1</a:t>
            </a:r>
            <a:r>
              <a:rPr lang="zh-CN" altLang="en-US"/>
              <a:t>上调，扩展机制一致性但尚未验证</a:t>
            </a:r>
            <a:r>
              <a:rPr lang="en-US" altLang="zh-CN"/>
              <a:t>ABCA1</a:t>
            </a:r>
            <a:r>
              <a:rPr lang="zh-CN" altLang="en-US"/>
              <a:t>因果。展示图来自</a:t>
            </a:r>
            <a:r>
              <a:rPr lang="en-US" altLang="zh-CN"/>
              <a:t>Fig.4b–c</a:t>
            </a:r>
            <a:r>
              <a:rPr lang="zh-CN" altLang="en-US"/>
              <a:t>。生物实验单位包括培养</a:t>
            </a:r>
            <a:r>
              <a:rPr lang="en-US" altLang="zh-CN"/>
              <a:t>/</a:t>
            </a:r>
            <a:r>
              <a:rPr lang="zh-CN" altLang="en-US"/>
              <a:t>供者，单供者多个孔不能扩大成人群证据。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338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BixBench</a:t>
            </a:r>
            <a:r>
              <a:rPr lang="zh-CN" altLang="en-US"/>
              <a:t>均值</a:t>
            </a:r>
            <a:r>
              <a:rPr lang="en-US" altLang="zh-CN"/>
              <a:t>±</a:t>
            </a:r>
            <a:r>
              <a:rPr lang="zh-CN" altLang="en-US"/>
              <a:t>标准误，</a:t>
            </a:r>
            <a:r>
              <a:rPr lang="en-US" altLang="zh-CN"/>
              <a:t>n3</a:t>
            </a:r>
            <a:r>
              <a:rPr lang="zh-CN" altLang="en-US"/>
              <a:t>运行，选定</a:t>
            </a:r>
            <a:r>
              <a:rPr lang="en-US" altLang="zh-CN"/>
              <a:t>170</a:t>
            </a:r>
            <a:r>
              <a:rPr lang="zh-CN" altLang="en-US"/>
              <a:t>问题；</a:t>
            </a:r>
            <a:r>
              <a:rPr lang="en-US" altLang="zh-CN"/>
              <a:t>Finch</a:t>
            </a:r>
            <a:r>
              <a:rPr lang="zh-CN" altLang="en-US"/>
              <a:t>总体</a:t>
            </a:r>
            <a:r>
              <a:rPr lang="en-US" altLang="zh-CN"/>
              <a:t>22.8±1.7%</a:t>
            </a:r>
            <a:r>
              <a:rPr lang="zh-CN" altLang="en-US"/>
              <a:t>，</a:t>
            </a:r>
            <a:r>
              <a:rPr lang="en-US" altLang="zh-CN"/>
              <a:t>Sonnet3.7</a:t>
            </a:r>
            <a:r>
              <a:rPr lang="zh-CN" altLang="en-US"/>
              <a:t>无</a:t>
            </a:r>
            <a:r>
              <a:rPr lang="en-US" altLang="zh-CN"/>
              <a:t>agent</a:t>
            </a:r>
            <a:r>
              <a:rPr lang="zh-CN" altLang="en-US"/>
              <a:t>框架</a:t>
            </a:r>
            <a:r>
              <a:rPr lang="en-US" altLang="zh-CN"/>
              <a:t>1.6±1.2%</a:t>
            </a:r>
            <a:r>
              <a:rPr lang="zh-CN" altLang="en-US"/>
              <a:t>，生物统计</a:t>
            </a:r>
            <a:r>
              <a:rPr lang="en-US" altLang="zh-CN"/>
              <a:t>47.9±1.5%</a:t>
            </a:r>
            <a:r>
              <a:rPr lang="zh-CN" altLang="en-US"/>
              <a:t>、生物信息</a:t>
            </a:r>
            <a:r>
              <a:rPr lang="en-US" altLang="zh-CN"/>
              <a:t>15.3±2.0%</a:t>
            </a:r>
            <a:r>
              <a:rPr lang="zh-CN" altLang="en-US"/>
              <a:t>。这是系统工具流程比较而非相同工具多智能体数量的干净消融。任务特定专家</a:t>
            </a:r>
            <a:r>
              <a:rPr lang="en-US" altLang="zh-CN"/>
              <a:t>rubric RNAseq86%</a:t>
            </a:r>
            <a:r>
              <a:rPr lang="zh-CN" altLang="en-US"/>
              <a:t>、</a:t>
            </a:r>
            <a:r>
              <a:rPr lang="en-US" altLang="zh-CN"/>
              <a:t>flow100%</a:t>
            </a:r>
            <a:r>
              <a:rPr lang="zh-CN" altLang="en-US"/>
              <a:t>也只是遵从评分，不代表所有真实任务准确率。文献检查</a:t>
            </a:r>
            <a:r>
              <a:rPr lang="en-US" altLang="zh-CN"/>
              <a:t>Crow15</a:t>
            </a:r>
            <a:r>
              <a:rPr lang="zh-CN" altLang="en-US"/>
              <a:t>方案零虚构，</a:t>
            </a:r>
            <a:r>
              <a:rPr lang="en-US" altLang="zh-CN"/>
              <a:t>o4mini44.5±6.37%</a:t>
            </a:r>
            <a:r>
              <a:rPr lang="zh-CN" altLang="en-US"/>
              <a:t>虚构，支持源证据检索。候选质量消融由</a:t>
            </a:r>
            <a:r>
              <a:rPr lang="en-US" altLang="zh-CN"/>
              <a:t>LLM</a:t>
            </a:r>
            <a:r>
              <a:rPr lang="zh-CN" altLang="en-US"/>
              <a:t>评审，仍有评审偏差。</a:t>
            </a:r>
            <a:r>
              <a:rPr lang="en-US" altLang="zh-CN"/>
              <a:t>Robin</a:t>
            </a:r>
            <a:r>
              <a:rPr lang="zh-CN" altLang="en-US"/>
              <a:t>调用顺序几乎固定，后续作者精简为</a:t>
            </a:r>
            <a:r>
              <a:rPr lang="en-US" altLang="zh-CN"/>
              <a:t>notebook</a:t>
            </a:r>
            <a:r>
              <a:rPr lang="zh-CN" altLang="en-US"/>
              <a:t>，不能宣称自由自主规划已建立。</a:t>
            </a:r>
            <a:r>
              <a:rPr lang="en-US" altLang="zh-CN"/>
              <a:t>8</a:t>
            </a:r>
            <a:r>
              <a:rPr lang="zh-CN" altLang="en-US"/>
              <a:t>路径共识不能消除相同数据、相同提示、相同模型的共同错误。时间收益为作者估计，</a:t>
            </a:r>
            <a:r>
              <a:rPr lang="en-US" altLang="zh-CN"/>
              <a:t>551</a:t>
            </a:r>
            <a:r>
              <a:rPr lang="zh-CN" altLang="en-US"/>
              <a:t>论文约</a:t>
            </a:r>
            <a:r>
              <a:rPr lang="en-US" altLang="zh-CN"/>
              <a:t>30min</a:t>
            </a:r>
            <a:r>
              <a:rPr lang="zh-CN" altLang="en-US"/>
              <a:t>，</a:t>
            </a:r>
            <a:r>
              <a:rPr lang="en-US" altLang="zh-CN"/>
              <a:t>359–424</a:t>
            </a:r>
            <a:r>
              <a:rPr lang="zh-CN" altLang="en-US"/>
              <a:t>人工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&lt;2</a:t>
            </a:r>
            <a:r>
              <a:rPr lang="zh-CN" altLang="en-US"/>
              <a:t>认知</a:t>
            </a:r>
            <a:r>
              <a:rPr lang="en-US" altLang="zh-CN"/>
              <a:t>h</a:t>
            </a:r>
            <a:r>
              <a:rPr lang="zh-CN" altLang="en-US"/>
              <a:t>没有受控时间</a:t>
            </a:r>
            <a:r>
              <a:rPr lang="en-US" altLang="zh-CN"/>
              <a:t>benchmark</a:t>
            </a:r>
            <a:r>
              <a:rPr lang="zh-CN" altLang="en-US"/>
              <a:t>。单任务</a:t>
            </a:r>
            <a:r>
              <a:rPr lang="en-US" altLang="zh-CN"/>
              <a:t>DeepResearch</a:t>
            </a:r>
            <a:r>
              <a:rPr lang="zh-CN" altLang="en-US"/>
              <a:t>候选</a:t>
            </a:r>
            <a:r>
              <a:rPr lang="en-US" altLang="zh-CN"/>
              <a:t>17</a:t>
            </a:r>
            <a:r>
              <a:rPr lang="zh-CN" altLang="en-US"/>
              <a:t>独特无命中也无法普遍证明系统优势。主要科学贡献为有文献依据的跨领域候选和湿实验反馈更新。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41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本页为独立通用方案，与任何特定项目当前实现无关。</a:t>
            </a:r>
            <a:r>
              <a:rPr lang="en-US" altLang="zh-CN"/>
              <a:t>MAP</a:t>
            </a:r>
            <a:r>
              <a:rPr lang="zh-CN" altLang="en-US"/>
              <a:t>提供用结构与机制相关关系生成条件响应的思路，</a:t>
            </a:r>
            <a:r>
              <a:rPr lang="en-US" altLang="zh-CN"/>
              <a:t>Robin</a:t>
            </a:r>
            <a:r>
              <a:rPr lang="zh-CN" altLang="en-US"/>
              <a:t>提供把文献、实验和可执行分析衔接的思路。最小数据契约包括统一药物</a:t>
            </a:r>
            <a:r>
              <a:rPr lang="en-US" altLang="zh-CN"/>
              <a:t>/</a:t>
            </a:r>
            <a:r>
              <a:rPr lang="zh-CN" altLang="en-US"/>
              <a:t>基因身份、作用方向、物种</a:t>
            </a:r>
            <a:r>
              <a:rPr lang="en-US" altLang="zh-CN"/>
              <a:t>/</a:t>
            </a:r>
            <a:r>
              <a:rPr lang="zh-CN" altLang="en-US"/>
              <a:t>细胞、剂量</a:t>
            </a:r>
            <a:r>
              <a:rPr lang="en-US" altLang="zh-CN"/>
              <a:t>/</a:t>
            </a:r>
            <a:r>
              <a:rPr lang="zh-CN" altLang="en-US"/>
              <a:t>时间、引用等级、预测</a:t>
            </a:r>
            <a:r>
              <a:rPr lang="en-US" altLang="zh-CN"/>
              <a:t>/</a:t>
            </a:r>
            <a:r>
              <a:rPr lang="zh-CN" altLang="en-US"/>
              <a:t>观察区分、原始数据版本、对照和单位、</a:t>
            </a:r>
            <a:r>
              <a:rPr lang="en-US" altLang="zh-CN"/>
              <a:t>QC</a:t>
            </a:r>
            <a:r>
              <a:rPr lang="zh-CN" altLang="en-US"/>
              <a:t>、效应与区间、成本及失败</a:t>
            </a:r>
            <a:r>
              <a:rPr lang="en-US" altLang="zh-CN"/>
              <a:t>/</a:t>
            </a:r>
            <a:r>
              <a:rPr lang="zh-CN" altLang="en-US"/>
              <a:t>停止理由。可用不确定性与机制分歧选择实验，但必须先确认不确定性经过校准。</a:t>
            </a:r>
            <a:r>
              <a:rPr lang="en-US" altLang="zh-CN"/>
              <a:t>ROCK</a:t>
            </a:r>
            <a:r>
              <a:rPr lang="zh-CN" altLang="en-US"/>
              <a:t>例子为设计演示，不声称新候选已有效。功能命中后</a:t>
            </a:r>
            <a:r>
              <a:rPr lang="en-US" altLang="zh-CN"/>
              <a:t>RNA</a:t>
            </a:r>
            <a:r>
              <a:rPr lang="zh-CN" altLang="en-US"/>
              <a:t>给出关联，再用抑制</a:t>
            </a:r>
            <a:r>
              <a:rPr lang="en-US" altLang="zh-CN"/>
              <a:t>/</a:t>
            </a:r>
            <a:r>
              <a:rPr lang="zh-CN" altLang="en-US"/>
              <a:t>敲低</a:t>
            </a:r>
            <a:r>
              <a:rPr lang="en-US" altLang="zh-CN"/>
              <a:t>/</a:t>
            </a:r>
            <a:r>
              <a:rPr lang="zh-CN" altLang="en-US"/>
              <a:t>救援区分机制因果。避免将预测转录恢复等同于真实功能改善。候选名单中的每条记录需支持第三方查回证据与重跑分析。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093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本页是可证伪的最小评测设计。知识比较应同时控制结构信息、图谱规模与关系置换，外推药物及相关边不进入预训练。预测比较先用真实</a:t>
            </a:r>
            <a:r>
              <a:rPr lang="en-US" altLang="zh-CN"/>
              <a:t>RNA</a:t>
            </a:r>
            <a:r>
              <a:rPr lang="zh-CN" altLang="en-US"/>
              <a:t>替代预测测上限，如果同条件真实</a:t>
            </a:r>
            <a:r>
              <a:rPr lang="en-US" altLang="zh-CN"/>
              <a:t>RNA</a:t>
            </a:r>
            <a:r>
              <a:rPr lang="zh-CN" altLang="en-US"/>
              <a:t>也不能提高功能决策，则复杂预测模型缺乏该端点的信息收益。策略比较应固定</a:t>
            </a:r>
            <a:r>
              <a:rPr lang="en-US" altLang="zh-CN"/>
              <a:t>B</a:t>
            </a:r>
            <a:r>
              <a:rPr lang="zh-CN" altLang="en-US"/>
              <a:t>、药物菜单、初始数据、工具、条件与动作，设置确定性、</a:t>
            </a:r>
            <a:r>
              <a:rPr lang="en-US" altLang="zh-CN"/>
              <a:t>LLM</a:t>
            </a:r>
            <a:r>
              <a:rPr lang="zh-CN" altLang="en-US"/>
              <a:t>、无更新</a:t>
            </a:r>
            <a:r>
              <a:rPr lang="en-US" altLang="zh-CN"/>
              <a:t>/</a:t>
            </a:r>
            <a:r>
              <a:rPr lang="zh-CN" altLang="en-US"/>
              <a:t>不追加实验及廉价先验。预算是所有采集与调用的成本，不能仅按轮数。终局效用可以定义为固定</a:t>
            </a:r>
            <a:r>
              <a:rPr lang="en-US" altLang="zh-CN"/>
              <a:t>k</a:t>
            </a:r>
            <a:r>
              <a:rPr lang="zh-CN" altLang="en-US"/>
              <a:t>入选的平均功能效应及预注册毒性约束，另报每总成本有效命中、假阳性和错误淘汰。独立性以供者</a:t>
            </a:r>
            <a:r>
              <a:rPr lang="en-US" altLang="zh-CN"/>
              <a:t>/</a:t>
            </a:r>
            <a:r>
              <a:rPr lang="zh-CN" altLang="en-US"/>
              <a:t>培养批次等真实单位定义，不能把细胞、孔或</a:t>
            </a:r>
            <a:r>
              <a:rPr lang="en-US" altLang="zh-CN"/>
              <a:t>8</a:t>
            </a:r>
            <a:r>
              <a:rPr lang="zh-CN" altLang="en-US"/>
              <a:t>分析轨迹扩大为生物学</a:t>
            </a:r>
            <a:r>
              <a:rPr lang="en-US" altLang="zh-CN"/>
              <a:t>n</a:t>
            </a:r>
            <a:r>
              <a:rPr lang="zh-CN" altLang="en-US"/>
              <a:t>。置信区间按背景</a:t>
            </a:r>
            <a:r>
              <a:rPr lang="en-US" altLang="zh-CN"/>
              <a:t>/</a:t>
            </a:r>
            <a:r>
              <a:rPr lang="zh-CN" altLang="en-US"/>
              <a:t>独立单位重采样，并预先声明最低有用效益与停止条件。功能读数与</a:t>
            </a:r>
            <a:r>
              <a:rPr lang="en-US" altLang="zh-CN"/>
              <a:t>RNA</a:t>
            </a:r>
            <a:r>
              <a:rPr lang="zh-CN" altLang="en-US"/>
              <a:t>需绑定同培养单元、剂量、时间和共享对照，避免跨实验的无证据桥接。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573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MAESTRO</a:t>
            </a:r>
            <a:r>
              <a:rPr lang="zh-CN" altLang="en-US"/>
              <a:t>独立部分。</a:t>
            </a:r>
            <a:r>
              <a:rPr lang="en-US" altLang="zh-CN"/>
              <a:t>0927</a:t>
            </a:r>
            <a:r>
              <a:rPr lang="zh-CN" altLang="en-US"/>
              <a:t>主要瓶颈为</a:t>
            </a:r>
            <a:r>
              <a:rPr lang="en-US" altLang="zh-CN"/>
              <a:t>76–82%</a:t>
            </a:r>
            <a:r>
              <a:rPr lang="zh-CN" altLang="en-US"/>
              <a:t>动作菜单难以区分，独立单位功效不足和选择优势未建立。当前已有可执行</a:t>
            </a:r>
            <a:r>
              <a:rPr lang="en-US" altLang="zh-CN"/>
              <a:t>agent–decision–virtual-cell</a:t>
            </a:r>
            <a:r>
              <a:rPr lang="zh-CN" altLang="en-US"/>
              <a:t>两轮反馈合同、持久化、预算、重试与重启。坐标扩展</a:t>
            </a:r>
            <a:r>
              <a:rPr lang="en-US" altLang="zh-CN"/>
              <a:t>c44/c45</a:t>
            </a:r>
            <a:r>
              <a:rPr lang="zh-CN" altLang="en-US"/>
              <a:t>唯一匹配</a:t>
            </a:r>
            <a:r>
              <a:rPr lang="en-US" altLang="zh-CN"/>
              <a:t>39/39</a:t>
            </a:r>
            <a:r>
              <a:rPr lang="zh-CN" altLang="en-US"/>
              <a:t>对全部</a:t>
            </a:r>
            <a:r>
              <a:rPr lang="en-US" altLang="zh-CN"/>
              <a:t>62710</a:t>
            </a:r>
            <a:r>
              <a:rPr lang="zh-CN" altLang="en-US"/>
              <a:t>基因，</a:t>
            </a:r>
            <a:r>
              <a:rPr lang="en-US" altLang="zh-CN"/>
              <a:t>log1p(stored normalizedX)</a:t>
            </a:r>
            <a:r>
              <a:rPr lang="zh-CN" altLang="en-US"/>
              <a:t>不变，容差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，独立块状算术复核一致。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暴露细胞</a:t>
            </a:r>
            <a:r>
              <a:rPr lang="en-US" altLang="zh-CN"/>
              <a:t>0RNA</a:t>
            </a:r>
            <a:r>
              <a:rPr lang="zh-CN" altLang="en-US"/>
              <a:t>字节，</a:t>
            </a:r>
            <a:r>
              <a:rPr lang="en-US" altLang="zh-CN"/>
              <a:t>c45</a:t>
            </a:r>
            <a:r>
              <a:rPr lang="zh-CN" altLang="en-US"/>
              <a:t>十一细胞</a:t>
            </a:r>
            <a:r>
              <a:rPr lang="en-US" altLang="zh-CN"/>
              <a:t>133564</a:t>
            </a:r>
            <a:r>
              <a:rPr lang="zh-CN" altLang="en-US"/>
              <a:t>表达字节，相对</a:t>
            </a:r>
            <a:r>
              <a:rPr lang="en-US" altLang="zh-CN"/>
              <a:t>340068</a:t>
            </a:r>
            <a:r>
              <a:rPr lang="zh-CN" altLang="en-US"/>
              <a:t>减少</a:t>
            </a:r>
            <a:r>
              <a:rPr lang="en-US" altLang="zh-CN"/>
              <a:t>60.7%</a:t>
            </a:r>
            <a:r>
              <a:rPr lang="zh-CN" altLang="en-US"/>
              <a:t>。认证只覆盖两个文件</a:t>
            </a:r>
            <a:r>
              <a:rPr lang="en-US" altLang="zh-CN"/>
              <a:t>39</a:t>
            </a:r>
            <a:r>
              <a:rPr lang="zh-CN" altLang="en-US"/>
              <a:t>端点，不能认证完整</a:t>
            </a:r>
            <a:r>
              <a:rPr lang="en-US" altLang="zh-CN"/>
              <a:t>2000</a:t>
            </a:r>
            <a:r>
              <a:rPr lang="zh-CN" altLang="en-US"/>
              <a:t>基因或</a:t>
            </a:r>
            <a:r>
              <a:rPr lang="en-US" altLang="zh-CN"/>
              <a:t>checkpoint</a:t>
            </a:r>
            <a:r>
              <a:rPr lang="zh-CN" altLang="en-US"/>
              <a:t>输出轴。表型研究</a:t>
            </a:r>
            <a:r>
              <a:rPr lang="en-US" altLang="zh-CN"/>
              <a:t>40</a:t>
            </a:r>
            <a:r>
              <a:rPr lang="zh-CN" altLang="en-US"/>
              <a:t>参考背景</a:t>
            </a:r>
            <a:r>
              <a:rPr lang="en-US" altLang="zh-CN"/>
              <a:t>5checkpoint</a:t>
            </a:r>
            <a:r>
              <a:rPr lang="zh-CN" altLang="en-US"/>
              <a:t>留出背景，</a:t>
            </a:r>
            <a:r>
              <a:rPr lang="en-US" altLang="zh-CN"/>
              <a:t>G1</a:t>
            </a:r>
            <a:r>
              <a:rPr lang="zh-CN" altLang="en-US"/>
              <a:t>的</a:t>
            </a:r>
            <a:r>
              <a:rPr lang="en-US" altLang="zh-CN"/>
              <a:t>S_cells</a:t>
            </a:r>
            <a:r>
              <a:rPr lang="zh-CN" altLang="en-US"/>
              <a:t>平均</a:t>
            </a:r>
            <a:r>
              <a:rPr lang="en-US" altLang="zh-CN"/>
              <a:t>r.3495417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.0959951</a:t>
            </a:r>
            <a:r>
              <a:rPr lang="zh-CN" altLang="en-US"/>
              <a:t>，差</a:t>
            </a:r>
            <a:r>
              <a:rPr lang="en-US" altLang="zh-CN"/>
              <a:t>.2535466</a:t>
            </a:r>
            <a:r>
              <a:rPr lang="zh-CN" altLang="en-US"/>
              <a:t>，</a:t>
            </a:r>
            <a:r>
              <a:rPr lang="en-US" altLang="zh-CN"/>
              <a:t>CI[.1564786,.3672753]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</a:t>
            </a:r>
            <a:r>
              <a:rPr lang="en-US" altLang="zh-CN"/>
              <a:t>E1 STATE kernel r.0722125 vsB.2984267</a:t>
            </a:r>
            <a:r>
              <a:rPr lang="zh-CN" altLang="en-US"/>
              <a:t>，差</a:t>
            </a:r>
            <a:r>
              <a:rPr lang="en-US" altLang="zh-CN"/>
              <a:t>-.2262142</a:t>
            </a:r>
            <a:r>
              <a:rPr lang="zh-CN" altLang="en-US"/>
              <a:t>；真实</a:t>
            </a:r>
            <a:r>
              <a:rPr lang="en-US" altLang="zh-CN"/>
              <a:t>RNA</a:t>
            </a:r>
            <a:r>
              <a:rPr lang="zh-CN" altLang="en-US"/>
              <a:t>参考上限比</a:t>
            </a:r>
            <a:r>
              <a:rPr lang="en-US" altLang="zh-CN"/>
              <a:t>B</a:t>
            </a:r>
            <a:r>
              <a:rPr lang="zh-CN" altLang="en-US"/>
              <a:t>仅</a:t>
            </a:r>
            <a:r>
              <a:rPr lang="en-US" altLang="zh-CN"/>
              <a:t>.0029597</a:t>
            </a:r>
            <a:r>
              <a:rPr lang="zh-CN" altLang="en-US"/>
              <a:t>，低于预注册</a:t>
            </a:r>
            <a:r>
              <a:rPr lang="en-US" altLang="zh-CN"/>
              <a:t>.05</a:t>
            </a:r>
            <a:r>
              <a:rPr lang="zh-CN" altLang="en-US"/>
              <a:t>最低收益，门控拒绝。曾暴露背景和参考预训练重叠意味着开发证据，不是独立盲测。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953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r>
              <a:rPr lang="zh-CN" altLang="en-US"/>
              <a:t>预购买停止从</a:t>
            </a:r>
            <a:r>
              <a:rPr lang="en-US" altLang="zh-CN"/>
              <a:t>129</a:t>
            </a:r>
            <a:r>
              <a:rPr lang="zh-CN" altLang="en-US"/>
              <a:t>降</a:t>
            </a:r>
            <a:r>
              <a:rPr lang="en-US" altLang="zh-CN"/>
              <a:t>35</a:t>
            </a:r>
            <a:r>
              <a:rPr lang="zh-CN" altLang="en-US"/>
              <a:t>，</a:t>
            </a:r>
            <a:r>
              <a:rPr lang="en-US" altLang="zh-CN"/>
              <a:t>94</a:t>
            </a:r>
            <a:r>
              <a:rPr lang="zh-CN" altLang="en-US"/>
              <a:t>次节省</a:t>
            </a:r>
            <a:r>
              <a:rPr lang="en-US" altLang="zh-CN"/>
              <a:t>72.9%</a:t>
            </a:r>
            <a:r>
              <a:rPr lang="zh-CN" altLang="en-US"/>
              <a:t>，最终匹配动作不变，</a:t>
            </a:r>
            <a:r>
              <a:rPr lang="en-US" altLang="zh-CN"/>
              <a:t>total</a:t>
            </a:r>
            <a:r>
              <a:rPr lang="zh-CN" altLang="en-US"/>
              <a:t>模拟</a:t>
            </a:r>
            <a:r>
              <a:rPr lang="en-US" altLang="zh-CN"/>
              <a:t>profiles774</a:t>
            </a:r>
            <a:r>
              <a:rPr lang="zh-CN" altLang="en-US"/>
              <a:t>至</a:t>
            </a:r>
            <a:r>
              <a:rPr lang="en-US" altLang="zh-CN"/>
              <a:t>680</a:t>
            </a:r>
            <a:r>
              <a:rPr lang="zh-CN" altLang="en-US"/>
              <a:t>，无更新</a:t>
            </a:r>
            <a:r>
              <a:rPr lang="en-US" altLang="zh-CN"/>
              <a:t>645</a:t>
            </a:r>
            <a:r>
              <a:rPr lang="zh-CN" altLang="en-US"/>
              <a:t>。不能据节省认定净实验信息价值或</a:t>
            </a:r>
            <a:r>
              <a:rPr lang="en-US" altLang="zh-CN"/>
              <a:t>LLM</a:t>
            </a:r>
            <a:r>
              <a:rPr lang="zh-CN" altLang="en-US"/>
              <a:t>优势。</a:t>
            </a:r>
            <a:r>
              <a:rPr lang="en-US" altLang="zh-CN"/>
              <a:t>BvsZ top10</a:t>
            </a:r>
            <a:r>
              <a:rPr lang="zh-CN" altLang="en-US"/>
              <a:t>生存选择性效用</a:t>
            </a:r>
            <a:r>
              <a:rPr lang="en-US" altLang="zh-CN"/>
              <a:t>+.5580816log2</a:t>
            </a:r>
            <a:r>
              <a:rPr lang="zh-CN" altLang="en-US"/>
              <a:t>，</a:t>
            </a:r>
            <a:r>
              <a:rPr lang="en-US" altLang="zh-CN"/>
              <a:t>CI[.2352212,.8191470]</a:t>
            </a:r>
            <a:r>
              <a:rPr lang="zh-CN" altLang="en-US"/>
              <a:t>，五背景均更好。</a:t>
            </a:r>
            <a:r>
              <a:rPr lang="en-US" altLang="zh-CN"/>
              <a:t>B</a:t>
            </a:r>
            <a:r>
              <a:rPr lang="zh-CN" altLang="en-US"/>
              <a:t>为基础相似性迁移，</a:t>
            </a:r>
            <a:r>
              <a:rPr lang="en-US" altLang="zh-CN"/>
              <a:t>Z</a:t>
            </a:r>
            <a:r>
              <a:rPr lang="zh-CN" altLang="en-US"/>
              <a:t>为通用药物强度排序，该改善来自廉价基线。</a:t>
            </a:r>
            <a:r>
              <a:rPr lang="en-US" altLang="zh-CN"/>
              <a:t>P0.6</a:t>
            </a:r>
            <a:r>
              <a:rPr lang="zh-CN" altLang="en-US"/>
              <a:t>需新冻结协议，绑定源版本、端点、排除、处理</a:t>
            </a:r>
            <a:r>
              <a:rPr lang="en-US" altLang="zh-CN"/>
              <a:t>/</a:t>
            </a:r>
            <a:r>
              <a:rPr lang="zh-CN" altLang="en-US"/>
              <a:t>对照行、实际组数、参考权重、共享对照误差、来源重复</a:t>
            </a:r>
            <a:r>
              <a:rPr lang="en-US" altLang="zh-CN"/>
              <a:t>estimand</a:t>
            </a:r>
            <a:r>
              <a:rPr lang="zh-CN" altLang="en-US"/>
              <a:t>和确切成本，</a:t>
            </a:r>
            <a:r>
              <a:rPr lang="en-US" altLang="zh-CN"/>
              <a:t>24</a:t>
            </a:r>
            <a:r>
              <a:rPr lang="zh-CN" altLang="en-US"/>
              <a:t>线</a:t>
            </a:r>
            <a:r>
              <a:rPr lang="en-US" altLang="zh-CN"/>
              <a:t>/</a:t>
            </a:r>
            <a:r>
              <a:rPr lang="zh-CN" altLang="en-US"/>
              <a:t>板分层为</a:t>
            </a:r>
            <a:r>
              <a:rPr lang="en-US" altLang="zh-CN"/>
              <a:t>12pooledsamples</a:t>
            </a:r>
            <a:r>
              <a:rPr lang="zh-CN" altLang="en-US"/>
              <a:t>。全局</a:t>
            </a:r>
            <a:r>
              <a:rPr lang="en-US" altLang="zh-CN"/>
              <a:t>24h</a:t>
            </a:r>
            <a:r>
              <a:rPr lang="zh-CN" altLang="en-US"/>
              <a:t>记录已有，逐样本时间</a:t>
            </a:r>
            <a:r>
              <a:rPr lang="en-US" altLang="zh-CN"/>
              <a:t>/</a:t>
            </a:r>
            <a:r>
              <a:rPr lang="zh-CN" altLang="en-US"/>
              <a:t>第三来源缺失，未解锁执行。未来</a:t>
            </a:r>
            <a:r>
              <a:rPr lang="en-US" altLang="zh-CN"/>
              <a:t>MAP</a:t>
            </a:r>
            <a:r>
              <a:rPr lang="zh-CN" altLang="en-US"/>
              <a:t>知识应用应分开关系方向与类型，控制结构</a:t>
            </a:r>
            <a:r>
              <a:rPr lang="en-US" altLang="zh-CN"/>
              <a:t>/</a:t>
            </a:r>
            <a:r>
              <a:rPr lang="zh-CN" altLang="en-US"/>
              <a:t>打乱知识；</a:t>
            </a:r>
            <a:r>
              <a:rPr lang="en-US" altLang="zh-CN"/>
              <a:t>Robin</a:t>
            </a:r>
            <a:r>
              <a:rPr lang="zh-CN" altLang="en-US"/>
              <a:t>反馈应用保留引用、代码、失败并预注册停止，以</a:t>
            </a:r>
            <a:r>
              <a:rPr lang="en-US" altLang="zh-CN"/>
              <a:t>sameinformation/tool/budget</a:t>
            </a:r>
            <a:r>
              <a:rPr lang="zh-CN" altLang="en-US"/>
              <a:t>确定性策略和无更新比较，终局效用、损害、成本和独立单位逐项验收。当前知识反馈和</a:t>
            </a:r>
            <a:r>
              <a:rPr lang="en-US" altLang="zh-CN"/>
              <a:t>LLM</a:t>
            </a:r>
            <a:r>
              <a:rPr lang="zh-CN" altLang="en-US"/>
              <a:t>独立科学决策收益未建立，未来方向不是现成整合成功。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21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8E373-B3F4-A934-08B8-7CA3A57A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C0CD17-9CCB-1E86-12CB-AE53946B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A6ACA-CD0C-753B-4600-A03B171B1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A5077-F350-AC17-A3D8-26ECCB3B2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802D2-C3EC-BD5A-C4AE-A1C74D91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93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311B6-6E88-6C45-B57D-D939D0EA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3D42F-3322-4A1F-73B1-37076C3AF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5C53D-333D-5057-BA50-549ED72A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47B5BC-4CC4-3C98-4EFF-0A0EBD46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E5D1E-27D0-4DAB-C684-F2429A9F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4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AC850-3AAB-C23C-7D91-15A8D6C5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BA117-91A7-D1C4-57E4-2E7DCB7CB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73DB9B-3F4A-FBE5-B750-219DC423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74496-D0DB-B5D2-3894-B9242C58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0133F2-09E3-4173-CFDA-E6C9A4F7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68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50259-BAED-4B12-129E-F08B96E3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50413-4050-1CD7-FD6F-AD89F290D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AF7C2A-6C69-ED65-5CA5-72591FC6C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AE9025-2A15-5665-5085-73560403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847A21-BC3D-3627-6725-2486C982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C88302-CE93-8D2F-7FC5-37554F2CD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22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81138-863A-6AC2-BF0A-AB6BC4E5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C6D279-3098-09F8-590B-154FC43F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6E23B6-0DCD-516D-DEFE-9CCAF161B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152887-4AC5-8743-2B30-2B84D1567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1B2695-ADFF-83FE-5DEE-9C38FA7C6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E10E6A-1F49-CEA2-286E-AD9EE23B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DE0502-707E-CD3E-DB55-E2CCB3BFB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CE3869-8E47-0C55-93AD-40CD6A08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29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FE69D-F234-FC0E-8069-134D483B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C6B4C8-8AC0-6000-2073-95C3355A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45ACA2-9D8F-FAD9-D4FD-16607DD6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B68D81-8078-1500-5A30-4900B230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4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115376-B067-3124-1D11-27B12BD5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636E5-4ADE-FB1A-EB0D-F9B5FB13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BDD26B-E4F6-A09A-D560-EA64939D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5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0339A-BC42-D82D-F90A-DBEC166B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639965-9E2C-8635-236E-B471E002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3A9D18-84C7-CDDD-B4A9-72CDEDD34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93708C-63B9-F98D-71BE-93A8280A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BE9DF3-5F7F-B467-DAA2-D4500CD3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1CFE12-54BA-BEEA-51CA-0E66DBF9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01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DF734-EE9E-6DCB-6AB5-26366751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EAD319-A36C-6FF9-0410-E7E9AFFD07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F78F38-6135-87C9-91DC-BB22C9F21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BB7A62-63B4-E0BF-3A08-954354F7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50CE8B-D888-A90B-E99E-6417E3B9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D900D-359C-055C-7A95-D3D4EDC2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1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FF93-89AC-2E30-D7CA-36DD33C6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3D9C59-E374-545A-6FB0-F4E7F3578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EC81A-3ED3-54C3-794B-DC7C9F97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4F86C-25A7-F1C6-75C3-D8D8BC82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F6D22D-649B-0D45-92CF-720166FB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B101A4-5F50-73DD-74FB-38E627138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03A7B3-703E-A992-459D-274791A06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7EBB7-4A81-9138-3287-0A17EC6B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90C44F-FFBE-A067-85E6-D4FC5D31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91079-E5B5-A8D0-9CC2-28088D07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B591F5-C45E-B65B-D36D-8A9D9620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44574B-A71F-0E1F-7474-1D949ABBF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15BA4-6D9F-EAF1-7E53-F7127F3D5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3C330-12A4-93F4-8743-0F172CBC1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20F6F-8600-4B59-39EA-6638EF1BE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66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39B124-7A9F-E0D2-8616-95A5806CEF41}"/>
              </a:ext>
            </a:extLst>
          </p:cNvPr>
          <p:cNvSpPr txBox="1"/>
          <p:nvPr/>
        </p:nvSpPr>
        <p:spPr>
          <a:xfrm>
            <a:off x="736600" y="609599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组会论文汇报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BC7F43-A283-0641-E566-5BC137D5D757}"/>
              </a:ext>
            </a:extLst>
          </p:cNvPr>
          <p:cNvSpPr txBox="1"/>
          <p:nvPr/>
        </p:nvSpPr>
        <p:spPr>
          <a:xfrm>
            <a:off x="736600" y="1816099"/>
            <a:ext cx="106934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未测药物的响应预测
与实验驱动的科学发现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5ABA3-EBDB-8A0F-9B01-F45015908279}"/>
              </a:ext>
            </a:extLst>
          </p:cNvPr>
          <p:cNvSpPr txBox="1"/>
          <p:nvPr/>
        </p:nvSpPr>
        <p:spPr>
          <a:xfrm>
            <a:off x="762000" y="3809999"/>
            <a:ext cx="1060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22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：研究背景、已有进展、方法与实验验证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2E0CC45-B95E-19EF-5B70-67610349F156}"/>
              </a:ext>
            </a:extLst>
          </p:cNvPr>
          <p:cNvCxnSpPr/>
          <p:nvPr/>
        </p:nvCxnSpPr>
        <p:spPr>
          <a:xfrm>
            <a:off x="762000" y="4813300"/>
            <a:ext cx="10668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83B9B15-8145-F3F4-54A2-E0255985D423}"/>
              </a:ext>
            </a:extLst>
          </p:cNvPr>
          <p:cNvSpPr txBox="1"/>
          <p:nvPr/>
        </p:nvSpPr>
        <p:spPr>
          <a:xfrm>
            <a:off x="762000" y="5143499"/>
            <a:ext cx="10414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MAP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：知识预训练与新药物响应预测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Robin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：文献假设、数据分析与两轮实验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通用方法设计与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</a:t>
            </a:r>
          </a:p>
        </p:txBody>
      </p:sp>
    </p:spTree>
    <p:extLst>
      <p:ext uri="{BB962C8B-B14F-4D97-AF65-F5344CB8AC3E}">
        <p14:creationId xmlns:p14="http://schemas.microsoft.com/office/powerpoint/2010/main" val="43071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25D073-64F3-145C-6A66-E90A569EB90F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研究背景与已有进展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A16F7-214F-076B-2861-26364488176E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响应预测已能利用分子结构，未测药物仍难外推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DC2037-89F2-C108-CDCF-D47ACE4C8B97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研究对象：给定细胞背景、药物和剂量，预测给药后各基因的表达变化，为候选筛选提供信息。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B7BEC84-0ADB-94D2-C54C-F8C1FE219A4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1C2E08C-9F4D-90C0-05ED-54183BCF1B00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Introduction / Methods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；背景按论文相关工作概括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7FA239-45C4-FFE8-BC4A-F16D700B2E3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5AA321-8D71-4C40-DFDF-8CE8FF1AE967}"/>
              </a:ext>
            </a:extLst>
          </p:cNvPr>
          <p:cNvSpPr txBox="1"/>
          <p:nvPr/>
        </p:nvSpPr>
        <p:spPr>
          <a:xfrm>
            <a:off x="609600" y="1993899"/>
            <a:ext cx="5181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已有研究逐步补齐了什么？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4EB95E-EF47-038A-62D7-C7854A4C25B3}"/>
              </a:ext>
            </a:extLst>
          </p:cNvPr>
          <p:cNvSpPr txBox="1"/>
          <p:nvPr/>
        </p:nvSpPr>
        <p:spPr>
          <a:xfrm>
            <a:off x="609600" y="25907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实测扰动图谱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1C9BF0-29B4-7D7A-6E68-13E218386F0C}"/>
              </a:ext>
            </a:extLst>
          </p:cNvPr>
          <p:cNvSpPr txBox="1"/>
          <p:nvPr/>
        </p:nvSpPr>
        <p:spPr>
          <a:xfrm>
            <a:off x="609600" y="3060699"/>
            <a:ext cx="5181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单细胞测序记录药物处理后的响应，提供细胞背景与药物效应的训练样本；但测量组合仍然稀疏。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8038D1-E578-D15C-B086-68E021D9D978}"/>
              </a:ext>
            </a:extLst>
          </p:cNvPr>
          <p:cNvSpPr txBox="1"/>
          <p:nvPr/>
        </p:nvSpPr>
        <p:spPr>
          <a:xfrm>
            <a:off x="609600" y="39750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分子条件化预测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32F0D5-F45A-4B06-B632-019401ADC40C}"/>
              </a:ext>
            </a:extLst>
          </p:cNvPr>
          <p:cNvSpPr txBox="1"/>
          <p:nvPr/>
        </p:nvSpPr>
        <p:spPr>
          <a:xfrm>
            <a:off x="609600" y="4444999"/>
            <a:ext cx="5181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chemCPA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等方法引入结构表示，使新分子可以被编码，缓解“药物只有类别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ID”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的限制。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D15BDA-A5B1-BB57-A791-F9046B00FCE7}"/>
              </a:ext>
            </a:extLst>
          </p:cNvPr>
          <p:cNvSpPr txBox="1"/>
          <p:nvPr/>
        </p:nvSpPr>
        <p:spPr>
          <a:xfrm>
            <a:off x="609600" y="52577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单细胞基础表示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2EA42A-B533-F1A4-AE82-921148416D06}"/>
              </a:ext>
            </a:extLst>
          </p:cNvPr>
          <p:cNvSpPr txBox="1"/>
          <p:nvPr/>
        </p:nvSpPr>
        <p:spPr>
          <a:xfrm>
            <a:off x="609600" y="5727699"/>
            <a:ext cx="51816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等模型提供细胞与基因表征，增强细胞状态建模；新药物的作用关系仍需额外信息。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65306B-8426-E185-2406-2F72231C9232}"/>
              </a:ext>
            </a:extLst>
          </p:cNvPr>
          <p:cNvSpPr txBox="1"/>
          <p:nvPr/>
        </p:nvSpPr>
        <p:spPr>
          <a:xfrm>
            <a:off x="6451600" y="19938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这些进展留下的关键缺口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2AD632-F94A-7CD5-D3A5-8F567D14A068}"/>
              </a:ext>
            </a:extLst>
          </p:cNvPr>
          <p:cNvSpPr txBox="1"/>
          <p:nvPr/>
        </p:nvSpPr>
        <p:spPr>
          <a:xfrm>
            <a:off x="6451600" y="2666999"/>
            <a:ext cx="5130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1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新分子能被编码，响应为何仍难预测？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408A42-7CA2-E4C9-319D-CDBA8D24FFA6}"/>
              </a:ext>
            </a:extLst>
          </p:cNvPr>
          <p:cNvSpPr txBox="1"/>
          <p:nvPr/>
        </p:nvSpPr>
        <p:spPr>
          <a:xfrm>
            <a:off x="6451600" y="3733799"/>
            <a:ext cx="5130800" cy="1371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结构表示提供化学特征，但不显式约束它作用于哪些靶点、是抑制还是激活，以及与哪些基因功能相关。稀疏响应数据难以独自补齐这些关系。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42E8D90-9507-F3A0-536D-A79FB0ABE209}"/>
              </a:ext>
            </a:extLst>
          </p:cNvPr>
          <p:cNvCxnSpPr/>
          <p:nvPr/>
        </p:nvCxnSpPr>
        <p:spPr>
          <a:xfrm>
            <a:off x="6451600" y="5257800"/>
            <a:ext cx="5130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1E1FDAD-11F6-9D28-E4FF-65092EE4E208}"/>
              </a:ext>
            </a:extLst>
          </p:cNvPr>
          <p:cNvSpPr txBox="1"/>
          <p:nvPr/>
        </p:nvSpPr>
        <p:spPr>
          <a:xfrm>
            <a:off x="6451600" y="5486399"/>
            <a:ext cx="5130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的切入点：先用公共知识学习机制相关的药物／蛋白表示，再学习细胞条件下的响应。</a:t>
            </a:r>
          </a:p>
        </p:txBody>
      </p:sp>
    </p:spTree>
    <p:extLst>
      <p:ext uri="{BB962C8B-B14F-4D97-AF65-F5344CB8AC3E}">
        <p14:creationId xmlns:p14="http://schemas.microsoft.com/office/powerpoint/2010/main" val="4186248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CE45C6-8BF2-D59E-EEC5-4FF44BEB0324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核心思想与总体流程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860E33-7D35-1608-1E7F-9A81B8543D7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把机制知识先学进表示，再预测细胞响应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724A80-FFAC-19CA-CF38-656C2B7E640E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核心思路：用大量公共实体与关系补充稀缺的扰动监督；知识预训练与响应训练承担不同任务。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95C08E-142E-FF9A-088A-75A70DBC7794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F56B8F4-A281-B142-380B-3DDC5B21E8C4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EC6F03-D1F2-0845-C4BB-5560F9BA8A7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BEC22B-4768-3312-3BBC-38FE809D380C}"/>
              </a:ext>
            </a:extLst>
          </p:cNvPr>
          <p:cNvSpPr/>
          <p:nvPr/>
        </p:nvSpPr>
        <p:spPr>
          <a:xfrm>
            <a:off x="609600" y="2032000"/>
            <a:ext cx="33020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4336F9-6683-04BE-5C27-91B4C8C8D332}"/>
              </a:ext>
            </a:extLst>
          </p:cNvPr>
          <p:cNvSpPr txBox="1"/>
          <p:nvPr/>
        </p:nvSpPr>
        <p:spPr>
          <a:xfrm>
            <a:off x="762000" y="2158999"/>
            <a:ext cx="2997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阶段一：知识预训练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4B2653-57FA-28D3-A681-26ACDD82E53B}"/>
              </a:ext>
            </a:extLst>
          </p:cNvPr>
          <p:cNvSpPr txBox="1"/>
          <p:nvPr/>
        </p:nvSpPr>
        <p:spPr>
          <a:xfrm>
            <a:off x="762000" y="2603499"/>
            <a:ext cx="2997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名称、结构、蛋白序列、功能注释与有向关系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9B647D-D5DB-E024-5D4C-B974C7A7A4E4}"/>
              </a:ext>
            </a:extLst>
          </p:cNvPr>
          <p:cNvSpPr/>
          <p:nvPr/>
        </p:nvSpPr>
        <p:spPr>
          <a:xfrm>
            <a:off x="4508500" y="2032000"/>
            <a:ext cx="32893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B48AE-BF4E-38A6-0CA6-0C935E30FDDF}"/>
              </a:ext>
            </a:extLst>
          </p:cNvPr>
          <p:cNvSpPr txBox="1"/>
          <p:nvPr/>
        </p:nvSpPr>
        <p:spPr>
          <a:xfrm>
            <a:off x="4660900" y="2158999"/>
            <a:ext cx="2984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知识增强的实体表示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823330-C1D4-B87E-6B97-F1575D4087E9}"/>
              </a:ext>
            </a:extLst>
          </p:cNvPr>
          <p:cNvSpPr txBox="1"/>
          <p:nvPr/>
        </p:nvSpPr>
        <p:spPr>
          <a:xfrm>
            <a:off x="4660900" y="2603499"/>
            <a:ext cx="29845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同一实体的多模态对应；药物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基因作用关系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0D09C2-6281-129B-5726-012FB8B6DED6}"/>
              </a:ext>
            </a:extLst>
          </p:cNvPr>
          <p:cNvSpPr/>
          <p:nvPr/>
        </p:nvSpPr>
        <p:spPr>
          <a:xfrm>
            <a:off x="8394700" y="2032000"/>
            <a:ext cx="31877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413DBB-8B47-9C93-BDEF-5E305B4B8602}"/>
              </a:ext>
            </a:extLst>
          </p:cNvPr>
          <p:cNvSpPr txBox="1"/>
          <p:nvPr/>
        </p:nvSpPr>
        <p:spPr>
          <a:xfrm>
            <a:off x="8547100" y="21589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阶段二：响应训练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5E0E0F-13A1-3602-80F9-202084D5683D}"/>
              </a:ext>
            </a:extLst>
          </p:cNvPr>
          <p:cNvSpPr txBox="1"/>
          <p:nvPr/>
        </p:nvSpPr>
        <p:spPr>
          <a:xfrm>
            <a:off x="8547100" y="2603499"/>
            <a:ext cx="28829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融合细胞状态与剂量，用已测处理群体监督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5AAE9F-56F0-38C7-C820-07823C23A60F}"/>
              </a:ext>
            </a:extLst>
          </p:cNvPr>
          <p:cNvCxnSpPr/>
          <p:nvPr/>
        </p:nvCxnSpPr>
        <p:spPr>
          <a:xfrm>
            <a:off x="3911600" y="2755900"/>
            <a:ext cx="5969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413A6D4-5FFE-AEE2-1D7A-CA99C3CC1E42}"/>
              </a:ext>
            </a:extLst>
          </p:cNvPr>
          <p:cNvCxnSpPr/>
          <p:nvPr/>
        </p:nvCxnSpPr>
        <p:spPr>
          <a:xfrm>
            <a:off x="7797800" y="2755900"/>
            <a:ext cx="5969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3032129-45B2-D799-A048-B767C488ED34}"/>
              </a:ext>
            </a:extLst>
          </p:cNvPr>
          <p:cNvSpPr txBox="1"/>
          <p:nvPr/>
        </p:nvSpPr>
        <p:spPr>
          <a:xfrm>
            <a:off x="609600" y="3822699"/>
            <a:ext cx="109728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预测时：对照细胞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+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新药物结构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剂量  →  给药后表达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  → 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相对对照的响应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Δx̂</a:t>
            </a:r>
            <a:endParaRPr lang="zh-CN" altLang="en-US" sz="19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22BFEF5-C98B-E1E1-DC53-732E5D0ADDE2}"/>
              </a:ext>
            </a:extLst>
          </p:cNvPr>
          <p:cNvCxnSpPr/>
          <p:nvPr/>
        </p:nvCxnSpPr>
        <p:spPr>
          <a:xfrm>
            <a:off x="609600" y="46482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CB4B6D0-8071-D6D0-DC9D-0BC5ED81825C}"/>
              </a:ext>
            </a:extLst>
          </p:cNvPr>
          <p:cNvSpPr txBox="1"/>
          <p:nvPr/>
        </p:nvSpPr>
        <p:spPr>
          <a:xfrm>
            <a:off x="609600" y="49148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未见组合：考察配对泛化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6244F3-86F0-D3BB-0D69-06066AE6F2E8}"/>
              </a:ext>
            </a:extLst>
          </p:cNvPr>
          <p:cNvSpPr txBox="1"/>
          <p:nvPr/>
        </p:nvSpPr>
        <p:spPr>
          <a:xfrm>
            <a:off x="609600" y="5384799"/>
            <a:ext cx="5207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药物在其他背景已测，目标细胞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药物配对留出；每个背景留出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5%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配对。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9F0ED7-C32E-A75B-78C0-8D16C61320E0}"/>
              </a:ext>
            </a:extLst>
          </p:cNvPr>
          <p:cNvSpPr txBox="1"/>
          <p:nvPr/>
        </p:nvSpPr>
        <p:spPr>
          <a:xfrm>
            <a:off x="6451600" y="49148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未测药物：考察分子外推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F4B1362-010F-61C8-A711-534676F020F0}"/>
              </a:ext>
            </a:extLst>
          </p:cNvPr>
          <p:cNvSpPr txBox="1"/>
          <p:nvPr/>
        </p:nvSpPr>
        <p:spPr>
          <a:xfrm>
            <a:off x="6451600" y="5384799"/>
            <a:ext cx="5130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整种药物的响应全部留出；知识预训练也移除其实体、别名和关联边，避免记住测试对象。</a:t>
            </a:r>
          </a:p>
        </p:txBody>
      </p:sp>
    </p:spTree>
    <p:extLst>
      <p:ext uri="{BB962C8B-B14F-4D97-AF65-F5344CB8AC3E}">
        <p14:creationId xmlns:p14="http://schemas.microsoft.com/office/powerpoint/2010/main" val="149218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0CA368-8AB0-749B-A396-C7D4FF08A56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方法一：知识预训练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0BCAEB-9E8B-671E-4CDE-722A82051C76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如何把结构、功能与靶点关系学进同一表示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946112-6E91-1EB9-67FD-68ABCD4E1B07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整合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个资源：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187,089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22,924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个基因、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694,246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AB88F0D-B8CF-9B4D-7287-8EDF0F83EE52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F920D9D-C59C-DDF1-9CD1-12E3D5B360A8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1a–b / Methods, equations 2–5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2C9DF7-3326-F7DF-017D-6DFD34CC4358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D24885-3403-C1BF-6740-05C56E1623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922081"/>
            <a:ext cx="5156200" cy="27979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30C5F53-E636-A4B6-18ED-D2F5B605C37C}"/>
              </a:ext>
            </a:extLst>
          </p:cNvPr>
          <p:cNvSpPr txBox="1"/>
          <p:nvPr/>
        </p:nvSpPr>
        <p:spPr>
          <a:xfrm>
            <a:off x="609600" y="4952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跨模态编码器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25CA04-5D19-B968-FCB8-F1C6E775D0F7}"/>
              </a:ext>
            </a:extLst>
          </p:cNvPr>
          <p:cNvSpPr txBox="1"/>
          <p:nvPr/>
        </p:nvSpPr>
        <p:spPr>
          <a:xfrm>
            <a:off x="609600" y="5333999"/>
            <a:ext cx="5105400" cy="901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名称与注释：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BioBERT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MoleculeSTM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；蛋白序列：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ESM-2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后两者冻结，训练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适配器。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433833-F48F-9211-A500-F7E42C14328B}"/>
              </a:ext>
            </a:extLst>
          </p:cNvPr>
          <p:cNvSpPr txBox="1"/>
          <p:nvPr/>
        </p:nvSpPr>
        <p:spPr>
          <a:xfrm>
            <a:off x="6261100" y="20065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节点内：同一个实体的属性对齐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163150-39FD-916D-F49C-83DFBAD73623}"/>
              </a:ext>
            </a:extLst>
          </p:cNvPr>
          <p:cNvSpPr txBox="1"/>
          <p:nvPr/>
        </p:nvSpPr>
        <p:spPr>
          <a:xfrm>
            <a:off x="6261100" y="2476499"/>
            <a:ext cx="53213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以名称文本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为规范表示，拉近结构、蛋白序列和功能描述。同一实体是正例，批内其他实体是负例。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B1E2B9-4403-0AC5-5799-1C5AAA011DE0}"/>
              </a:ext>
            </a:extLst>
          </p:cNvPr>
          <p:cNvSpPr txBox="1"/>
          <p:nvPr/>
        </p:nvSpPr>
        <p:spPr>
          <a:xfrm>
            <a:off x="6261100" y="35940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节点间：关系条件化的邻居对齐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B202E9-1B54-DA80-098B-A5F585F8A06F}"/>
              </a:ext>
            </a:extLst>
          </p:cNvPr>
          <p:cNvSpPr txBox="1"/>
          <p:nvPr/>
        </p:nvSpPr>
        <p:spPr>
          <a:xfrm>
            <a:off x="6261100" y="4063999"/>
            <a:ext cx="53213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先编码“抑制”等关系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，再用有序拼接区分源实体与目标实体，让表示保留作用方向。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0F7485-68C3-C8FA-EB9F-C1F853E814E8}"/>
              </a:ext>
            </a:extLst>
          </p:cNvPr>
          <p:cNvSpPr txBox="1"/>
          <p:nvPr/>
        </p:nvSpPr>
        <p:spPr>
          <a:xfrm>
            <a:off x="6261100" y="4622799"/>
            <a:ext cx="53213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例：二甲双胍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抑制→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MT-ND1</a:t>
            </a:r>
            <a:endParaRPr lang="zh-CN" altLang="en-US" sz="150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0696F0-C6C1-3F62-9A87-95A1EBDC4A24}"/>
              </a:ext>
            </a:extLst>
          </p:cNvPr>
          <p:cNvSpPr txBox="1"/>
          <p:nvPr/>
        </p:nvSpPr>
        <p:spPr>
          <a:xfrm>
            <a:off x="6261100" y="4952999"/>
            <a:ext cx="53213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zᵢ→ⱼ = MLP([zᵢ, zᵣ])
zⱼ←ᵢ = MLP([zᵣ, zⱼ])</a:t>
            </a:r>
            <a:endParaRPr lang="zh-CN" altLang="en-US" sz="20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6CD92B-B96D-86E1-0708-35FDEB89FF44}"/>
              </a:ext>
            </a:extLst>
          </p:cNvPr>
          <p:cNvSpPr txBox="1"/>
          <p:nvPr/>
        </p:nvSpPr>
        <p:spPr>
          <a:xfrm>
            <a:off x="6261100" y="5791199"/>
            <a:ext cx="53213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对比学习（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InfoNCE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）拉近正确配对、区分错误配对，为新分子响应预测提供机制相关先验。</a:t>
            </a:r>
          </a:p>
        </p:txBody>
      </p:sp>
    </p:spTree>
    <p:extLst>
      <p:ext uri="{BB962C8B-B14F-4D97-AF65-F5344CB8AC3E}">
        <p14:creationId xmlns:p14="http://schemas.microsoft.com/office/powerpoint/2010/main" val="108896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E5C709-031E-F344-4E33-5694912994FD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方法二：条件响应预测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7359E7-5E1E-9B4E-ECC0-E40DE027CA3F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相同药物为何在不同细胞中产生不同响应？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0E7C41-A505-2409-80A2-687744AC2959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细胞提供背景，蛋白知识提供基因功能，药物与剂量提供扰动条件，模型联合学习它们的作用。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0DEF6E3-FFBB-6C6F-1E78-28B2C7AFFC95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F07E670-B04A-D0C4-551A-5873FAE81FB9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1c / Methods, equations 6–12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358D5C-6499-E848-9882-B8A478250578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BDFD91-602C-D7E6-5490-B48F106209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32517"/>
            <a:ext cx="3683000" cy="343746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2968E63-CAE7-BAF5-5F72-27ADA07D9800}"/>
              </a:ext>
            </a:extLst>
          </p:cNvPr>
          <p:cNvSpPr txBox="1"/>
          <p:nvPr/>
        </p:nvSpPr>
        <p:spPr>
          <a:xfrm>
            <a:off x="4800600" y="1955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输入：细胞状态与基因功能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396F82-083E-EE60-0FBD-7A157351DE4C}"/>
              </a:ext>
            </a:extLst>
          </p:cNvPr>
          <p:cNvSpPr txBox="1"/>
          <p:nvPr/>
        </p:nvSpPr>
        <p:spPr>
          <a:xfrm>
            <a:off x="4800600" y="2425699"/>
            <a:ext cx="6781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，得到全局细胞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h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T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和对应蛋白知识。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2E56A-E703-7E87-5E9A-7978285B8327}"/>
              </a:ext>
            </a:extLst>
          </p:cNvPr>
          <p:cNvSpPr txBox="1"/>
          <p:nvPr/>
        </p:nvSpPr>
        <p:spPr>
          <a:xfrm>
            <a:off x="4800600" y="3352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建模：条件之间如何相互影响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013E96D-5DDD-F656-5690-21C7DD1D1872}"/>
              </a:ext>
            </a:extLst>
          </p:cNvPr>
          <p:cNvSpPr txBox="1"/>
          <p:nvPr/>
        </p:nvSpPr>
        <p:spPr>
          <a:xfrm>
            <a:off x="4800600" y="3822699"/>
            <a:ext cx="6781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分子编码得到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zₘₒₗ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，按对数剂量 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缩放。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联合处理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zₘₒₗ, h, T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E38F78-B24B-9388-438D-8320AFB02272}"/>
              </a:ext>
            </a:extLst>
          </p:cNvPr>
          <p:cNvSpPr txBox="1"/>
          <p:nvPr/>
        </p:nvSpPr>
        <p:spPr>
          <a:xfrm>
            <a:off x="4800600" y="45973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输出与监督：给药后的表达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94D47A-8EEE-CF83-D43A-12D2E8DBFCDF}"/>
              </a:ext>
            </a:extLst>
          </p:cNvPr>
          <p:cNvSpPr txBox="1"/>
          <p:nvPr/>
        </p:nvSpPr>
        <p:spPr>
          <a:xfrm>
            <a:off x="4800600" y="5067299"/>
            <a:ext cx="6781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ĥ⁽ᵖ⁾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解码为表达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x̂⁽ᵖ⁾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。同时匹配处理群体的平均表达和平均细胞嵌入。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A6C98B-ABBF-01D4-2909-5F0FB3396BB8}"/>
              </a:ext>
            </a:extLst>
          </p:cNvPr>
          <p:cNvSpPr txBox="1"/>
          <p:nvPr/>
        </p:nvSpPr>
        <p:spPr>
          <a:xfrm>
            <a:off x="609600" y="5854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 = ‖mean(ĥ) − mean(h)‖² / d + λ · ‖mean(x̂) − mean(x)‖² / G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29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3923C90-DD95-F2C3-92AE-756F6F33B658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实验、结果与本篇进展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4CB944-0657-1E72-C937-3B225790FC02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严格留出新药物后，机制知识仍改善响应预测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2D57C2-AD95-80C0-8022-3A939A1C5E91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实验问题：未测分子的变化能否预测？哪些知识有贡献？预测响应是否有助于候选排序？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752CFDD-5DE6-5048-B474-EDB10C27A908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AEA9A23-51A2-54AD-9A17-5A6259BAABB3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Fig. 2–5 / Methods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；图表为论文数字重绘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3717E9-4B78-DD26-51C5-8DAB3B28F675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580516-672A-B3A6-BC3C-2DE95A280531}"/>
              </a:ext>
            </a:extLst>
          </p:cNvPr>
          <p:cNvSpPr txBox="1"/>
          <p:nvPr/>
        </p:nvSpPr>
        <p:spPr>
          <a:xfrm>
            <a:off x="609600" y="1930399"/>
            <a:ext cx="596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怎么验证“预测了药物效应”？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9AAF0F-B83C-20A5-0E93-912590494E21}"/>
              </a:ext>
            </a:extLst>
          </p:cNvPr>
          <p:cNvSpPr txBox="1"/>
          <p:nvPr/>
        </p:nvSpPr>
        <p:spPr>
          <a:xfrm>
            <a:off x="609600" y="2451099"/>
            <a:ext cx="59690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Δ = corr(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预测均值−对照均值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实测均值−对照均值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。先减对照，避免基础表达掩盖响应误差。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F41771-3F7B-0E3F-02BF-4ED4386F3CB2}"/>
              </a:ext>
            </a:extLst>
          </p:cNvPr>
          <p:cNvSpPr txBox="1"/>
          <p:nvPr/>
        </p:nvSpPr>
        <p:spPr>
          <a:xfrm>
            <a:off x="609600" y="3505199"/>
            <a:ext cx="596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相对最强基线的提升：</a:t>
            </a:r>
            <a:r>
              <a:rPr lang="en-US" altLang="zh-CN" sz="1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17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个差异表达基因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740A6E-F853-F90F-D74F-836D0CCBD6D7}"/>
              </a:ext>
            </a:extLst>
          </p:cNvPr>
          <p:cNvSpPr txBox="1"/>
          <p:nvPr/>
        </p:nvSpPr>
        <p:spPr>
          <a:xfrm>
            <a:off x="609600" y="402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0506F3-F562-2840-ABAB-687627BA14E6}"/>
              </a:ext>
            </a:extLst>
          </p:cNvPr>
          <p:cNvSpPr/>
          <p:nvPr/>
        </p:nvSpPr>
        <p:spPr>
          <a:xfrm>
            <a:off x="2044700" y="4038600"/>
            <a:ext cx="16484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8F4A0A-6548-BA95-FA02-332AB76AF44E}"/>
              </a:ext>
            </a:extLst>
          </p:cNvPr>
          <p:cNvSpPr txBox="1"/>
          <p:nvPr/>
        </p:nvSpPr>
        <p:spPr>
          <a:xfrm>
            <a:off x="3858260" y="402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+11.8%</a:t>
            </a:r>
            <a:endParaRPr lang="zh-CN" altLang="en-US" sz="17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402C08-7BAE-10AB-2A52-AFD09921EF59}"/>
              </a:ext>
            </a:extLst>
          </p:cNvPr>
          <p:cNvSpPr txBox="1"/>
          <p:nvPr/>
        </p:nvSpPr>
        <p:spPr>
          <a:xfrm>
            <a:off x="609600" y="4660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OP3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E0309C-C655-DE90-7860-2F736A60DE6C}"/>
              </a:ext>
            </a:extLst>
          </p:cNvPr>
          <p:cNvSpPr/>
          <p:nvPr/>
        </p:nvSpPr>
        <p:spPr>
          <a:xfrm>
            <a:off x="2044700" y="4673600"/>
            <a:ext cx="27660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2D8395-7CFE-6073-AEEE-797AC7FEE241}"/>
              </a:ext>
            </a:extLst>
          </p:cNvPr>
          <p:cNvSpPr txBox="1"/>
          <p:nvPr/>
        </p:nvSpPr>
        <p:spPr>
          <a:xfrm>
            <a:off x="4975860" y="4660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+19.8%</a:t>
            </a:r>
            <a:endParaRPr lang="zh-CN" altLang="en-US" sz="17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BF9AAE-5EF9-E9EC-F41D-B5C653A6FA75}"/>
              </a:ext>
            </a:extLst>
          </p:cNvPr>
          <p:cNvSpPr txBox="1"/>
          <p:nvPr/>
        </p:nvSpPr>
        <p:spPr>
          <a:xfrm>
            <a:off x="609600" y="529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7E15C4-8615-A851-B375-F3FF830FBB42}"/>
              </a:ext>
            </a:extLst>
          </p:cNvPr>
          <p:cNvSpPr/>
          <p:nvPr/>
        </p:nvSpPr>
        <p:spPr>
          <a:xfrm>
            <a:off x="2044700" y="5308600"/>
            <a:ext cx="145288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253E41-2E3A-0CB3-F2AF-75AA07852CC4}"/>
              </a:ext>
            </a:extLst>
          </p:cNvPr>
          <p:cNvSpPr txBox="1"/>
          <p:nvPr/>
        </p:nvSpPr>
        <p:spPr>
          <a:xfrm>
            <a:off x="3662680" y="529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+10.4%</a:t>
            </a:r>
            <a:endParaRPr lang="zh-CN" altLang="en-US" sz="17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D62F3D-56A9-342C-1469-0A32ADF05270}"/>
              </a:ext>
            </a:extLst>
          </p:cNvPr>
          <p:cNvSpPr txBox="1"/>
          <p:nvPr/>
        </p:nvSpPr>
        <p:spPr>
          <a:xfrm>
            <a:off x="609600" y="5829299"/>
            <a:ext cx="596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Tahoe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条选定细胞系；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OP3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种免疫细胞；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SciPlex3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条癌细胞系。均为数据集内部留出。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62473F-FAB8-1953-7094-AC35ABCE9CAB}"/>
              </a:ext>
            </a:extLst>
          </p:cNvPr>
          <p:cNvSpPr txBox="1"/>
          <p:nvPr/>
        </p:nvSpPr>
        <p:spPr>
          <a:xfrm>
            <a:off x="7315200" y="19430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消融回答：机制关系有没有用？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D4E4AD-73E9-D3FF-D60F-F6F70D92CCE5}"/>
              </a:ext>
            </a:extLst>
          </p:cNvPr>
          <p:cNvSpPr txBox="1"/>
          <p:nvPr/>
        </p:nvSpPr>
        <p:spPr>
          <a:xfrm>
            <a:off x="7315200" y="2412999"/>
            <a:ext cx="4267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</a:t>
            </a:r>
            <a:r>
              <a:rPr lang="el-GR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；去掉药物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基因边下降最大，支持靶点关系的贡献。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4D2DEA-6A81-0D80-3C84-EB154EDD78E9}"/>
              </a:ext>
            </a:extLst>
          </p:cNvPr>
          <p:cNvSpPr txBox="1"/>
          <p:nvPr/>
        </p:nvSpPr>
        <p:spPr>
          <a:xfrm>
            <a:off x="7315200" y="34162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应用回答：能否辅助候选排序？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1712B3-0608-16D5-AB03-523832B60163}"/>
              </a:ext>
            </a:extLst>
          </p:cNvPr>
          <p:cNvSpPr txBox="1"/>
          <p:nvPr/>
        </p:nvSpPr>
        <p:spPr>
          <a:xfrm>
            <a:off x="7315200" y="3886199"/>
            <a:ext cx="42672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A549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：预测表达 → 通路富集 → 排序。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药物进入前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5C7141B-CCF3-38C0-1C8A-8F78D36E1B08}"/>
              </a:ext>
            </a:extLst>
          </p:cNvPr>
          <p:cNvSpPr txBox="1"/>
          <p:nvPr/>
        </p:nvSpPr>
        <p:spPr>
          <a:xfrm>
            <a:off x="7315200" y="49275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本篇推进与尚未解决的问题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FCA9AE-8BC2-AC79-85DA-21AEEDF2DAB2}"/>
              </a:ext>
            </a:extLst>
          </p:cNvPr>
          <p:cNvSpPr txBox="1"/>
          <p:nvPr/>
        </p:nvSpPr>
        <p:spPr>
          <a:xfrm>
            <a:off x="7315200" y="5397499"/>
            <a:ext cx="4267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推进：机制知识增强未测分子的转录外推。边界：计算排序尚未经新药效实验验证；群体均值准确不保证单细胞分布准确。</a:t>
            </a:r>
          </a:p>
        </p:txBody>
      </p:sp>
    </p:spTree>
    <p:extLst>
      <p:ext uri="{BB962C8B-B14F-4D97-AF65-F5344CB8AC3E}">
        <p14:creationId xmlns:p14="http://schemas.microsoft.com/office/powerpoint/2010/main" val="1731130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8EC4AE4-47C8-6AED-DA24-8F7AA08AE53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研究背景与已有进展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06B03A-60B6-DA1D-CC4A-4CDDE8F82BA6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科学智能体已能提出假设，实验结果如何改变假设？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81680E-5837-CE52-8590-45649B635A09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研究对象：药物再利用。论文以干性年龄相关性黄斑变性（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dAMD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吞噬功能为案例。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A82B2F9-1E9D-266D-E839-10E4AD03DE64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F1574D6-205B-AA46-9796-5685C3EAD6EE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Introduction / Fig. 1–2 / Discussion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AE8B1E-EC66-BC99-9114-68E9731D5500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90231-6757-1048-4007-9B37367147C4}"/>
              </a:ext>
            </a:extLst>
          </p:cNvPr>
          <p:cNvSpPr txBox="1"/>
          <p:nvPr/>
        </p:nvSpPr>
        <p:spPr>
          <a:xfrm>
            <a:off x="609600" y="19811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已有进展：从问答走向研究辅助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5CB50F-E548-5E04-981F-38BCCAFB53B1}"/>
              </a:ext>
            </a:extLst>
          </p:cNvPr>
          <p:cNvSpPr txBox="1"/>
          <p:nvPr/>
        </p:nvSpPr>
        <p:spPr>
          <a:xfrm>
            <a:off x="609600" y="24510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文献智能体能检索、整合跨领域信息；假设生成系统能提出候选；代码工具使模型能够参与科学数据分析。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AA71E8-D6AA-12A6-D56C-E000D79D0198}"/>
              </a:ext>
            </a:extLst>
          </p:cNvPr>
          <p:cNvSpPr txBox="1"/>
          <p:nvPr/>
        </p:nvSpPr>
        <p:spPr>
          <a:xfrm>
            <a:off x="609600" y="38353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仍有断点：报告之后怎样继续？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EE0E3E-D7AC-2E89-A821-D38084A44D2E}"/>
              </a:ext>
            </a:extLst>
          </p:cNvPr>
          <p:cNvSpPr txBox="1"/>
          <p:nvPr/>
        </p:nvSpPr>
        <p:spPr>
          <a:xfrm>
            <a:off x="609600" y="43052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文献依据不足以判断候选是否有效。原始数据分析、机制解释与下一轮假设更新常被分开，缺少真实实验串联的验证。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294E5A-5823-EB36-D1BB-05793DA23487}"/>
              </a:ext>
            </a:extLst>
          </p:cNvPr>
          <p:cNvSpPr txBox="1"/>
          <p:nvPr/>
        </p:nvSpPr>
        <p:spPr>
          <a:xfrm>
            <a:off x="609600" y="5575299"/>
            <a:ext cx="5207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的切入点：让检索与分析分工协作，围绕真实实验反馈连续推进候选。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C8B474-8EAC-5793-D825-1E0186CA43DB}"/>
              </a:ext>
            </a:extLst>
          </p:cNvPr>
          <p:cNvSpPr txBox="1"/>
          <p:nvPr/>
        </p:nvSpPr>
        <p:spPr>
          <a:xfrm>
            <a:off x="6451600" y="19811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把疾病需求转成可检验的功能目标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C99211-C501-BAAC-044F-4680429E7E55}"/>
              </a:ext>
            </a:extLst>
          </p:cNvPr>
          <p:cNvSpPr txBox="1"/>
          <p:nvPr/>
        </p:nvSpPr>
        <p:spPr>
          <a:xfrm>
            <a:off x="6451600" y="2590799"/>
            <a:ext cx="51308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</a:t>
            </a:r>
            <a:r>
              <a:rPr lang="zh-CN" altLang="en-US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：视网膜色素上皮，清理光感受器外节。论文选择增强其吞噬功能，寻找已有药物的新用途。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93C7FCE-E452-FC30-A38F-0954D507CC2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3738256"/>
            <a:ext cx="5130800" cy="142618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1E04081-CAB4-D673-3F0F-819F5164D4D5}"/>
              </a:ext>
            </a:extLst>
          </p:cNvPr>
          <p:cNvSpPr txBox="1"/>
          <p:nvPr/>
        </p:nvSpPr>
        <p:spPr>
          <a:xfrm>
            <a:off x="6451600" y="5410199"/>
            <a:ext cx="5130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给药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h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，底物孵育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h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。流式平均荧光强度（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）反映酸性溶酶体信号，按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溶剂对照归一化。</a:t>
            </a:r>
          </a:p>
        </p:txBody>
      </p:sp>
    </p:spTree>
    <p:extLst>
      <p:ext uri="{BB962C8B-B14F-4D97-AF65-F5344CB8AC3E}">
        <p14:creationId xmlns:p14="http://schemas.microsoft.com/office/powerpoint/2010/main" val="325835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57BA726-F511-9616-4E4C-AB090124E3F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系统创新与方法流程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04202A-CBD3-2E7B-A205-4F8C602B3307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检索形成可测试候选，执行分析推动下一轮更新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6BF26A-AADC-D3E6-B6D0-B9AF7A266929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创新在工作衔接：有来源的假设、可运行的数据分析与真实实验反馈共同构成发现过程。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AA6F6A4-CD43-CD50-B2D9-FC23020E8D7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C83D827-B409-D81D-41C7-CAB18357D896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1 / Methods: Robin and Finch implementation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CEFD16-8B08-A53D-3C29-011AD452335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25AD28-145E-43F9-8628-602BFCD6EC70}"/>
              </a:ext>
            </a:extLst>
          </p:cNvPr>
          <p:cNvSpPr/>
          <p:nvPr/>
        </p:nvSpPr>
        <p:spPr>
          <a:xfrm>
            <a:off x="6096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2E9E65-D3C5-9920-FBB3-DD25FFEEF482}"/>
              </a:ext>
            </a:extLst>
          </p:cNvPr>
          <p:cNvSpPr txBox="1"/>
          <p:nvPr/>
        </p:nvSpPr>
        <p:spPr>
          <a:xfrm>
            <a:off x="7620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：机制检索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A4DF55-0F65-933E-6DDD-1A4814775015}"/>
              </a:ext>
            </a:extLst>
          </p:cNvPr>
          <p:cNvSpPr txBox="1"/>
          <p:nvPr/>
        </p:nvSpPr>
        <p:spPr>
          <a:xfrm>
            <a:off x="7620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机制与实验模型报告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D58331-189C-8527-7B75-B138DA7F872F}"/>
              </a:ext>
            </a:extLst>
          </p:cNvPr>
          <p:cNvSpPr/>
          <p:nvPr/>
        </p:nvSpPr>
        <p:spPr>
          <a:xfrm>
            <a:off x="34417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F487B3-D9C4-843B-D889-F630EAF4ECCC}"/>
              </a:ext>
            </a:extLst>
          </p:cNvPr>
          <p:cNvSpPr txBox="1"/>
          <p:nvPr/>
        </p:nvSpPr>
        <p:spPr>
          <a:xfrm>
            <a:off x="35941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：审查候选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AC8189-94B0-DA95-5F98-C2ACEAF5FA70}"/>
              </a:ext>
            </a:extLst>
          </p:cNvPr>
          <p:cNvSpPr txBox="1"/>
          <p:nvPr/>
        </p:nvSpPr>
        <p:spPr>
          <a:xfrm>
            <a:off x="35941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药理证据与局限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6C0613-2DA4-34A0-E166-26728132C361}"/>
              </a:ext>
            </a:extLst>
          </p:cNvPr>
          <p:cNvSpPr/>
          <p:nvPr/>
        </p:nvSpPr>
        <p:spPr>
          <a:xfrm>
            <a:off x="62738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5EE07A-9E93-A32E-594E-171085AD68DB}"/>
              </a:ext>
            </a:extLst>
          </p:cNvPr>
          <p:cNvSpPr txBox="1"/>
          <p:nvPr/>
        </p:nvSpPr>
        <p:spPr>
          <a:xfrm>
            <a:off x="64262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研究者：执行实验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A4EFF4-CF26-2101-BE11-C48EC4968908}"/>
              </a:ext>
            </a:extLst>
          </p:cNvPr>
          <p:cNvSpPr txBox="1"/>
          <p:nvPr/>
        </p:nvSpPr>
        <p:spPr>
          <a:xfrm>
            <a:off x="64262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选药、协议与湿实验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1EF91A-CF1D-871A-D5FE-DA604108F795}"/>
              </a:ext>
            </a:extLst>
          </p:cNvPr>
          <p:cNvSpPr/>
          <p:nvPr/>
        </p:nvSpPr>
        <p:spPr>
          <a:xfrm>
            <a:off x="91186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DFDA01-D780-3A76-2A1F-F7F3142A940B}"/>
              </a:ext>
            </a:extLst>
          </p:cNvPr>
          <p:cNvSpPr txBox="1"/>
          <p:nvPr/>
        </p:nvSpPr>
        <p:spPr>
          <a:xfrm>
            <a:off x="92710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：分析新数据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B05406-38E9-2D1C-0492-DD6B83BA0932}"/>
              </a:ext>
            </a:extLst>
          </p:cNvPr>
          <p:cNvSpPr txBox="1"/>
          <p:nvPr/>
        </p:nvSpPr>
        <p:spPr>
          <a:xfrm>
            <a:off x="92710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FCS / 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endParaRPr lang="zh-CN" altLang="en-US" sz="1700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B6FC605-6BA4-6413-1501-574E17862E59}"/>
              </a:ext>
            </a:extLst>
          </p:cNvPr>
          <p:cNvCxnSpPr/>
          <p:nvPr/>
        </p:nvCxnSpPr>
        <p:spPr>
          <a:xfrm>
            <a:off x="30607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E38EDB4-483C-1B2C-C8D8-0678B95430C8}"/>
              </a:ext>
            </a:extLst>
          </p:cNvPr>
          <p:cNvCxnSpPr/>
          <p:nvPr/>
        </p:nvCxnSpPr>
        <p:spPr>
          <a:xfrm>
            <a:off x="58928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DE84856-6D30-C0F2-66AE-A3DDE244D8E4}"/>
              </a:ext>
            </a:extLst>
          </p:cNvPr>
          <p:cNvCxnSpPr/>
          <p:nvPr/>
        </p:nvCxnSpPr>
        <p:spPr>
          <a:xfrm>
            <a:off x="87376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D53F31D-0F4F-2B62-E918-20EE6E68D666}"/>
              </a:ext>
            </a:extLst>
          </p:cNvPr>
          <p:cNvCxnSpPr/>
          <p:nvPr/>
        </p:nvCxnSpPr>
        <p:spPr>
          <a:xfrm>
            <a:off x="103505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5C76202-6BAF-05D3-E12D-DC4167D563EB}"/>
              </a:ext>
            </a:extLst>
          </p:cNvPr>
          <p:cNvCxnSpPr/>
          <p:nvPr/>
        </p:nvCxnSpPr>
        <p:spPr>
          <a:xfrm flipH="1">
            <a:off x="4648200" y="3492500"/>
            <a:ext cx="57023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98E62D-FBFF-75B5-08FA-366BC97FB565}"/>
              </a:ext>
            </a:extLst>
          </p:cNvPr>
          <p:cNvCxnSpPr/>
          <p:nvPr/>
        </p:nvCxnSpPr>
        <p:spPr>
          <a:xfrm flipV="1">
            <a:off x="46482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64AD4E5-8F65-893A-6B10-7B9389BCBB53}"/>
              </a:ext>
            </a:extLst>
          </p:cNvPr>
          <p:cNvSpPr txBox="1"/>
          <p:nvPr/>
        </p:nvSpPr>
        <p:spPr>
          <a:xfrm>
            <a:off x="609600" y="3416299"/>
            <a:ext cx="8102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协调器综合新观察，调整候选与后续实验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34DE5-AA4A-D0D4-AD1E-CA43F9770383}"/>
              </a:ext>
            </a:extLst>
          </p:cNvPr>
          <p:cNvSpPr txBox="1"/>
          <p:nvPr/>
        </p:nvSpPr>
        <p:spPr>
          <a:xfrm>
            <a:off x="609600" y="39877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如何把大量文献转成待测清单？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D2EA2D-9D1D-90B8-A698-966B23617AEA}"/>
              </a:ext>
            </a:extLst>
          </p:cNvPr>
          <p:cNvSpPr txBox="1"/>
          <p:nvPr/>
        </p:nvSpPr>
        <p:spPr>
          <a:xfrm>
            <a:off x="609600" y="4457699"/>
            <a:ext cx="5207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个机制／实验报告 → 成对比较选读数 →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个药物假设 →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Falcon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深入评估 → 研究者选择实际测试对象。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CB401B7-4F70-F638-727C-8FC3713145A4}"/>
              </a:ext>
            </a:extLst>
          </p:cNvPr>
          <p:cNvSpPr txBox="1"/>
          <p:nvPr/>
        </p:nvSpPr>
        <p:spPr>
          <a:xfrm>
            <a:off x="609600" y="5613399"/>
            <a:ext cx="5207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BTL</a:t>
            </a:r>
            <a:r>
              <a:rPr lang="zh-CN" altLang="en-US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P(i </a:t>
            </a:r>
            <a:r>
              <a:rPr lang="zh-CN" altLang="en-US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 </a:t>
            </a: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j) = sᵢ / (sᵢ + sⱼ)</a:t>
            </a:r>
            <a:endParaRPr lang="zh-CN" altLang="en-US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6E70FB-FD79-6F8E-E623-3172A17BCBC1}"/>
              </a:ext>
            </a:extLst>
          </p:cNvPr>
          <p:cNvSpPr txBox="1"/>
          <p:nvPr/>
        </p:nvSpPr>
        <p:spPr>
          <a:xfrm>
            <a:off x="609600" y="6057900"/>
            <a:ext cx="520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13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：候选的相对偏好强度，由成对评审拟合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048FB24-31D7-235E-9104-CF502754B42D}"/>
              </a:ext>
            </a:extLst>
          </p:cNvPr>
          <p:cNvSpPr txBox="1"/>
          <p:nvPr/>
        </p:nvSpPr>
        <p:spPr>
          <a:xfrm>
            <a:off x="6451600" y="39877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如何从原始数据形成可复核结论？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6A097ED-C2DF-A1D6-475B-81DF31F0C129}"/>
              </a:ext>
            </a:extLst>
          </p:cNvPr>
          <p:cNvSpPr txBox="1"/>
          <p:nvPr/>
        </p:nvSpPr>
        <p:spPr>
          <a:xfrm>
            <a:off x="6451600" y="4457699"/>
            <a:ext cx="5130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edit_cell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编写并执行代码，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条独立分析轨迹后综合结论；保留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notebook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、统计与结果可以追查。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5D2D7AD-E492-87CC-600E-66181B2C7C07}"/>
              </a:ext>
            </a:extLst>
          </p:cNvPr>
          <p:cNvSpPr txBox="1"/>
          <p:nvPr/>
        </p:nvSpPr>
        <p:spPr>
          <a:xfrm>
            <a:off x="6451600" y="5689599"/>
            <a:ext cx="5130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名次衡量文献依据；药效由实验检验。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条分析轨迹检查分析一致性，不能当作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个生物学重复。</a:t>
            </a:r>
          </a:p>
        </p:txBody>
      </p:sp>
    </p:spTree>
    <p:extLst>
      <p:ext uri="{BB962C8B-B14F-4D97-AF65-F5344CB8AC3E}">
        <p14:creationId xmlns:p14="http://schemas.microsoft.com/office/powerpoint/2010/main" val="260520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80EF91-C169-2A33-1A86-7C24481C55D7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第一轮实验与原始数据分析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4794C4-ACF7-AD1B-31CA-3941C6E66E2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第一轮：功能命中如何变成下一步机制问题？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E4DBDA-538D-1807-18E8-3F4F2CD20C8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初筛从排序中测试前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个候选，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MFGE8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作为已知吞噬促进的阳性参照。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104BA0-0238-802F-0D9B-BBE456D49C8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21499B3-642E-2DDA-2055-E6A91625557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2c–f / Fig. 3 / RPE phagocytosis assay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B05495-93C6-A40B-97D1-C865DF8A63F8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D02E3BB-EF64-2BBE-90C3-D74C234C7D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5" y="1993900"/>
            <a:ext cx="4272430" cy="3378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CD2D117-7B4C-6018-86C7-91AD3838E747}"/>
              </a:ext>
            </a:extLst>
          </p:cNvPr>
          <p:cNvSpPr txBox="1"/>
          <p:nvPr/>
        </p:nvSpPr>
        <p:spPr>
          <a:xfrm>
            <a:off x="609600" y="5587999"/>
            <a:ext cx="4749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横轴为 </a:t>
            </a:r>
            <a:r>
              <a:rPr lang="en-US" altLang="zh-CN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log₂FC</a:t>
            </a: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，纵轴为 −</a:t>
            </a:r>
            <a:r>
              <a:rPr lang="en-US" altLang="zh-CN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log₁₀P</a:t>
            </a:r>
            <a:r>
              <a:rPr lang="zh-CN" altLang="en-US" sz="16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。红色表示上调，蓝色表示下调。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4C5DBC-8D18-8D67-2B41-0AF131FC4588}"/>
              </a:ext>
            </a:extLst>
          </p:cNvPr>
          <p:cNvSpPr txBox="1"/>
          <p:nvPr/>
        </p:nvSpPr>
        <p:spPr>
          <a:xfrm>
            <a:off x="5981700" y="19684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流式确认功能命中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E3C3CE-9512-C4A4-A148-EAFF3F0A8898}"/>
              </a:ext>
            </a:extLst>
          </p:cNvPr>
          <p:cNvSpPr txBox="1"/>
          <p:nvPr/>
        </p:nvSpPr>
        <p:spPr>
          <a:xfrm>
            <a:off x="5981700" y="2438399"/>
            <a:ext cx="56007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去除碎片、双细胞和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DAPI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阳性死细胞，比较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的吞噬增强由人工复分析确认。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C46E8C-522B-3C1D-11AE-917C981CC277}"/>
              </a:ext>
            </a:extLst>
          </p:cNvPr>
          <p:cNvSpPr txBox="1"/>
          <p:nvPr/>
        </p:nvSpPr>
        <p:spPr>
          <a:xfrm>
            <a:off x="5981700" y="35813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命中推动后续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RNA-seq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E0C6E4-2657-067A-4B71-A033C65B728F}"/>
              </a:ext>
            </a:extLst>
          </p:cNvPr>
          <p:cNvSpPr txBox="1"/>
          <p:nvPr/>
        </p:nvSpPr>
        <p:spPr>
          <a:xfrm>
            <a:off x="5981700" y="4051299"/>
            <a:ext cx="56007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既有机制是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抑制调节肌动蛋白。新数据发现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倍上调，并富集肌动蛋白、小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GTP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酶和自噬相关程序。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5509C1-3975-B169-AEE1-360145A9A208}"/>
              </a:ext>
            </a:extLst>
          </p:cNvPr>
          <p:cNvSpPr txBox="1"/>
          <p:nvPr/>
        </p:nvSpPr>
        <p:spPr>
          <a:xfrm>
            <a:off x="5981700" y="51688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分析生成下一步假设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DC0C6A-1B57-6F63-A023-395914C4DD1B}"/>
              </a:ext>
            </a:extLst>
          </p:cNvPr>
          <p:cNvSpPr txBox="1"/>
          <p:nvPr/>
        </p:nvSpPr>
        <p:spPr>
          <a:xfrm>
            <a:off x="5981700" y="5638799"/>
            <a:ext cx="56007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编码脂质外排泵，连接脂质稳态与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功能。它提供可检验机制线索，尚需干预实验建立因果。</a:t>
            </a:r>
          </a:p>
        </p:txBody>
      </p:sp>
    </p:spTree>
    <p:extLst>
      <p:ext uri="{BB962C8B-B14F-4D97-AF65-F5344CB8AC3E}">
        <p14:creationId xmlns:p14="http://schemas.microsoft.com/office/powerpoint/2010/main" val="2896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439F76-1E12-93CA-60C0-DA198EC61A07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第二轮候选与验证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EE289C-DE9F-B79B-F5AD-2199D6496D0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第二轮：从研究化合物推进到获批药物再利用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3F3301-898E-CB89-AD4D-8AAF4F79239C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是已获批治疗青光眼的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抑制剂。研究者测试第二轮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种候选，再用原代细胞复核。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77F67F-5B07-68D9-67C0-012C2C364D3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4C680CB-07B1-CDBA-F11A-C8232D8AE060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Fig. 4 / RPE-SC validation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D1A2D-7399-1F45-70BE-26BB0BFA87A9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2BA479A-5F9E-B88F-46CE-5139D1501D9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" y="2006600"/>
            <a:ext cx="6461679" cy="2362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F2A8FDD-1291-E775-9E74-528045831F97}"/>
              </a:ext>
            </a:extLst>
          </p:cNvPr>
          <p:cNvSpPr txBox="1"/>
          <p:nvPr/>
        </p:nvSpPr>
        <p:spPr>
          <a:xfrm>
            <a:off x="609600" y="4610099"/>
            <a:ext cx="65151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ARPE-19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为对照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1.89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92945B-DF75-C913-1FA8-8DEBF8E428F3}"/>
              </a:ext>
            </a:extLst>
          </p:cNvPr>
          <p:cNvSpPr txBox="1"/>
          <p:nvPr/>
        </p:nvSpPr>
        <p:spPr>
          <a:xfrm>
            <a:off x="609600" y="5219699"/>
            <a:ext cx="65151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剂量响应曲线支持更高效力。人工复分析为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1.75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倍，均为相对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的倍数。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E071BB-7E05-B5FE-5C52-8864490011C6}"/>
              </a:ext>
            </a:extLst>
          </p:cNvPr>
          <p:cNvSpPr txBox="1"/>
          <p:nvPr/>
        </p:nvSpPr>
        <p:spPr>
          <a:xfrm>
            <a:off x="7708900" y="19938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模型升级：原代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RPE-SC + ROS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BD2D52-3FD9-4274-AEC9-7C8254BEC7CA}"/>
              </a:ext>
            </a:extLst>
          </p:cNvPr>
          <p:cNvSpPr txBox="1"/>
          <p:nvPr/>
        </p:nvSpPr>
        <p:spPr>
          <a:xfrm>
            <a:off x="7708900" y="24637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&gt;60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岁供者获得细胞，以牛光感受器外节替代微球。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再次命中（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孔）。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BA76D7-2B78-A3E2-9193-AD9947ABABF1}"/>
              </a:ext>
            </a:extLst>
          </p:cNvPr>
          <p:cNvSpPr txBox="1"/>
          <p:nvPr/>
        </p:nvSpPr>
        <p:spPr>
          <a:xfrm>
            <a:off x="7708900" y="40004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跨领域线索：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也命中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896B8D-FD49-85E8-AA77-868BD00E6ABB}"/>
              </a:ext>
            </a:extLst>
          </p:cNvPr>
          <p:cNvSpPr txBox="1"/>
          <p:nvPr/>
        </p:nvSpPr>
        <p:spPr>
          <a:xfrm>
            <a:off x="7708900" y="44703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昼夜节律调控启发候选。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稳定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CRY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蛋白，抑制其泛素依赖降解。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上调也在原代细胞复现。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4BE929-1949-711E-AD3C-CA602C36DCC8}"/>
              </a:ext>
            </a:extLst>
          </p:cNvPr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证据推进到细胞模型、底物和剂量复核。单供者的孔重复不足以证明人群泛化，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ABCA1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因果与临床疗效仍待验证。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90644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280F2D-16CD-E242-78C9-CD0F8690709B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系统评测与方法评价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CA6BE6-5285-C666-5C1C-0CC8965805B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本篇推进了实验反馈，也检验了组件能力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003E76-1114-5FFD-2408-364958B27F9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组件消融、外部任务和生物实验回答不同问题，需要分别解读。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2742DB1-6CA1-7B1C-AA58-A7098D33D17B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A9820F0-095F-257F-8608-F2DADCD7FA14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Ghareeb et al., 2026, Extended Data Fig. 4–6 / Methods / Discussion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8895AE-55AF-FF28-E9DE-D15F8F42A9D4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19F801-F3A3-9B8A-E1BC-4764F4DFFA10}"/>
              </a:ext>
            </a:extLst>
          </p:cNvPr>
          <p:cNvSpPr txBox="1"/>
          <p:nvPr/>
        </p:nvSpPr>
        <p:spPr>
          <a:xfrm>
            <a:off x="609600" y="1968499"/>
            <a:ext cx="6286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BixBench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正确率（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170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题，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次运行）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E1FA23-4697-501D-2538-2155405E90A7}"/>
              </a:ext>
            </a:extLst>
          </p:cNvPr>
          <p:cNvSpPr txBox="1"/>
          <p:nvPr/>
        </p:nvSpPr>
        <p:spPr>
          <a:xfrm>
            <a:off x="609600" y="2755899"/>
            <a:ext cx="1473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Finch</a:t>
            </a:r>
            <a:endParaRPr lang="zh-CN" altLang="en-US" b="1">
              <a:solidFill>
                <a:srgbClr val="26383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714CA0-19BD-F222-7399-BE79F4827576}"/>
              </a:ext>
            </a:extLst>
          </p:cNvPr>
          <p:cNvSpPr/>
          <p:nvPr/>
        </p:nvSpPr>
        <p:spPr>
          <a:xfrm>
            <a:off x="2273300" y="2717800"/>
            <a:ext cx="3474720" cy="3683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C81441-A1B8-5444-1778-B3E9FF6985C4}"/>
              </a:ext>
            </a:extLst>
          </p:cNvPr>
          <p:cNvSpPr txBox="1"/>
          <p:nvPr/>
        </p:nvSpPr>
        <p:spPr>
          <a:xfrm>
            <a:off x="3860800" y="2730499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22.8 ± 1.7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EB2199-2AA6-2528-5F19-07B0C21A5010}"/>
              </a:ext>
            </a:extLst>
          </p:cNvPr>
          <p:cNvSpPr txBox="1"/>
          <p:nvPr/>
        </p:nvSpPr>
        <p:spPr>
          <a:xfrm>
            <a:off x="609600" y="3530599"/>
            <a:ext cx="15494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Sonnet 3.7
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无工具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E4D13B-6832-5F79-8ADE-EF1FE289BF69}"/>
              </a:ext>
            </a:extLst>
          </p:cNvPr>
          <p:cNvSpPr/>
          <p:nvPr/>
        </p:nvSpPr>
        <p:spPr>
          <a:xfrm>
            <a:off x="2273300" y="3594100"/>
            <a:ext cx="243840" cy="3683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7F6FEF-76B4-A909-8EDD-0824FFDCE661}"/>
              </a:ext>
            </a:extLst>
          </p:cNvPr>
          <p:cNvSpPr txBox="1"/>
          <p:nvPr/>
        </p:nvSpPr>
        <p:spPr>
          <a:xfrm>
            <a:off x="2679700" y="3606799"/>
            <a:ext cx="229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1.6 ± 1.2</a:t>
            </a:r>
            <a:endParaRPr lang="zh-CN" altLang="en-US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79BD49-944F-5123-D6B1-1E8BC6469EFE}"/>
              </a:ext>
            </a:extLst>
          </p:cNvPr>
          <p:cNvSpPr txBox="1"/>
          <p:nvPr/>
        </p:nvSpPr>
        <p:spPr>
          <a:xfrm>
            <a:off x="609600" y="4368799"/>
            <a:ext cx="610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生物统计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47.9%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，生物信息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15.3%</a:t>
            </a:r>
            <a:endParaRPr lang="zh-CN" altLang="en-US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6FF2F6-B75C-2CB6-1723-EF8BF2A19566}"/>
              </a:ext>
            </a:extLst>
          </p:cNvPr>
          <p:cNvSpPr txBox="1"/>
          <p:nvPr/>
        </p:nvSpPr>
        <p:spPr>
          <a:xfrm>
            <a:off x="609600" y="4940299"/>
            <a:ext cx="61595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工具执行显著改善表现，但多步分析仍弱。比较同时改变工具和流程，尚不能单独归因于多智能体分工。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A346B5-C972-ACC7-70CD-AF29C6B10BFF}"/>
              </a:ext>
            </a:extLst>
          </p:cNvPr>
          <p:cNvSpPr txBox="1"/>
          <p:nvPr/>
        </p:nvSpPr>
        <p:spPr>
          <a:xfrm>
            <a:off x="7416800" y="19811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文献检索确实减少虚构引用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42957A-6201-CCF5-999D-2BD42F92E50D}"/>
              </a:ext>
            </a:extLst>
          </p:cNvPr>
          <p:cNvSpPr txBox="1"/>
          <p:nvPr/>
        </p:nvSpPr>
        <p:spPr>
          <a:xfrm>
            <a:off x="7416800" y="2451099"/>
            <a:ext cx="4165600" cy="1066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o4-mini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的实验方案虚构引用率为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44.5% ± 6.37%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份方案未见虚构。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ED8AED1-45E4-0A95-270C-B3395FAEE7BC}"/>
              </a:ext>
            </a:extLst>
          </p:cNvPr>
          <p:cNvSpPr txBox="1"/>
          <p:nvPr/>
        </p:nvSpPr>
        <p:spPr>
          <a:xfrm>
            <a:off x="7416800" y="38226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结果留下的研究问题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D5A83B-5EDF-6FC4-91DB-762E06B63C0D}"/>
              </a:ext>
            </a:extLst>
          </p:cNvPr>
          <p:cNvSpPr txBox="1"/>
          <p:nvPr/>
        </p:nvSpPr>
        <p:spPr>
          <a:xfrm>
            <a:off x="7416800" y="4292599"/>
            <a:ext cx="4165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调用顺序几乎固定：自主规划增益尚不明确。分析轨迹共享数据与模型：共识之外仍需人工复核和独立实验。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76D21A-F3A1-1061-04DE-5FBCD3DF0E53}"/>
              </a:ext>
            </a:extLst>
          </p:cNvPr>
          <p:cNvSpPr txBox="1"/>
          <p:nvPr/>
        </p:nvSpPr>
        <p:spPr>
          <a:xfrm>
            <a:off x="609600" y="5968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最新推进：在真实再利用案例中完成两轮反馈和功能复核。自主规划、独立供者及临床疗效仍需验证。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52246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4F6AEA-D11E-3A2E-355F-3DCCCEEC4322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最小可执行方案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7352C1-8D3E-8713-DDB9-487BE7D94599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通用方案：知识预测与实验反馈的组合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419A9F-C872-AEBD-3579-27AE8A105227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候选携带条件记录、机制证据与反证标准，实验产生的新观察进入下一轮更新。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C439661-DBAB-B391-D3F9-45B632BC350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FE82C2B-0BCA-A79F-D6C9-5B6B7EC84A9F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以下为系统设计建议，依据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，尚需验证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9EC3CD-0984-7F3E-820B-B0AD850A7D4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95A117-03B0-F2F2-3BF3-5A81E3A8A765}"/>
              </a:ext>
            </a:extLst>
          </p:cNvPr>
          <p:cNvSpPr/>
          <p:nvPr/>
        </p:nvSpPr>
        <p:spPr>
          <a:xfrm>
            <a:off x="6096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53C143-687C-4706-B426-43B117AFB0B5}"/>
              </a:ext>
            </a:extLst>
          </p:cNvPr>
          <p:cNvSpPr txBox="1"/>
          <p:nvPr/>
        </p:nvSpPr>
        <p:spPr>
          <a:xfrm>
            <a:off x="7620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知识与细胞条件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F1E3FA-7208-D822-C195-322A2FE28DDD}"/>
              </a:ext>
            </a:extLst>
          </p:cNvPr>
          <p:cNvSpPr txBox="1"/>
          <p:nvPr/>
        </p:nvSpPr>
        <p:spPr>
          <a:xfrm>
            <a:off x="7620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结构、有向靶点关系、细胞、剂量、时间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04AF15-C60D-47C6-B334-4B73BA401EFA}"/>
              </a:ext>
            </a:extLst>
          </p:cNvPr>
          <p:cNvSpPr/>
          <p:nvPr/>
        </p:nvSpPr>
        <p:spPr>
          <a:xfrm>
            <a:off x="44958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6AC864-A6F8-8DB4-3882-0A10919EA2AA}"/>
              </a:ext>
            </a:extLst>
          </p:cNvPr>
          <p:cNvSpPr txBox="1"/>
          <p:nvPr/>
        </p:nvSpPr>
        <p:spPr>
          <a:xfrm>
            <a:off x="46482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响应与实验假设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E20B8D-40EB-4AEA-E815-2FFBDB18A677}"/>
              </a:ext>
            </a:extLst>
          </p:cNvPr>
          <p:cNvSpPr txBox="1"/>
          <p:nvPr/>
        </p:nvSpPr>
        <p:spPr>
          <a:xfrm>
            <a:off x="46482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预测转录变化，选择能区分机制的功能读数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A93D76-6861-AD2A-8458-6BF3427C81C2}"/>
              </a:ext>
            </a:extLst>
          </p:cNvPr>
          <p:cNvSpPr/>
          <p:nvPr/>
        </p:nvSpPr>
        <p:spPr>
          <a:xfrm>
            <a:off x="83947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EB697B-1851-79C9-B5F5-D778E129A11E}"/>
              </a:ext>
            </a:extLst>
          </p:cNvPr>
          <p:cNvSpPr txBox="1"/>
          <p:nvPr/>
        </p:nvSpPr>
        <p:spPr>
          <a:xfrm>
            <a:off x="85471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实验与代码分析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5834DE-7FC2-21E6-0EA0-0D9BB4FD73A8}"/>
              </a:ext>
            </a:extLst>
          </p:cNvPr>
          <p:cNvSpPr txBox="1"/>
          <p:nvPr/>
        </p:nvSpPr>
        <p:spPr>
          <a:xfrm>
            <a:off x="85471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实测功能与毒性，保留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、代码和效应区间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A3BF044-E4D5-BD6C-E003-B0CC2C5DA519}"/>
              </a:ext>
            </a:extLst>
          </p:cNvPr>
          <p:cNvCxnSpPr/>
          <p:nvPr/>
        </p:nvCxnSpPr>
        <p:spPr>
          <a:xfrm>
            <a:off x="3797300" y="2679700"/>
            <a:ext cx="698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D77F88B-CCF2-46B9-FF1E-DD5E8D3F0E66}"/>
              </a:ext>
            </a:extLst>
          </p:cNvPr>
          <p:cNvCxnSpPr/>
          <p:nvPr/>
        </p:nvCxnSpPr>
        <p:spPr>
          <a:xfrm>
            <a:off x="7683500" y="2679700"/>
            <a:ext cx="7112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2DD975-5B1D-8F61-92EA-072E98C7B2FA}"/>
              </a:ext>
            </a:extLst>
          </p:cNvPr>
          <p:cNvCxnSpPr/>
          <p:nvPr/>
        </p:nvCxnSpPr>
        <p:spPr>
          <a:xfrm>
            <a:off x="99822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DC1CA06-31A4-0397-B28B-6EBB10360577}"/>
              </a:ext>
            </a:extLst>
          </p:cNvPr>
          <p:cNvCxnSpPr/>
          <p:nvPr/>
        </p:nvCxnSpPr>
        <p:spPr>
          <a:xfrm flipH="1">
            <a:off x="2209800" y="3784600"/>
            <a:ext cx="77724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260E65A-743D-F1D7-8CE6-3DEF1568F750}"/>
              </a:ext>
            </a:extLst>
          </p:cNvPr>
          <p:cNvCxnSpPr/>
          <p:nvPr/>
        </p:nvCxnSpPr>
        <p:spPr>
          <a:xfrm flipV="1">
            <a:off x="22098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FCE6750-E3CF-ADE7-FA28-F95F1CD52EED}"/>
              </a:ext>
            </a:extLst>
          </p:cNvPr>
          <p:cNvSpPr txBox="1"/>
          <p:nvPr/>
        </p:nvSpPr>
        <p:spPr>
          <a:xfrm>
            <a:off x="3454400" y="3860799"/>
            <a:ext cx="5295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新观察更新机制证据、候选排序及停止条件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C299C2-68AF-52E3-9C22-467E2E094CC8}"/>
              </a:ext>
            </a:extLst>
          </p:cNvPr>
          <p:cNvSpPr txBox="1"/>
          <p:nvPr/>
        </p:nvSpPr>
        <p:spPr>
          <a:xfrm>
            <a:off x="609600" y="44068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候选记录至少包含什么？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AAC4D0-7D2B-3624-3093-8B65155BA52D}"/>
              </a:ext>
            </a:extLst>
          </p:cNvPr>
          <p:cNvSpPr txBox="1"/>
          <p:nvPr/>
        </p:nvSpPr>
        <p:spPr>
          <a:xfrm>
            <a:off x="609600" y="4876799"/>
            <a:ext cx="52070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药物与引用，预测变化与不确定性，功能读数与对照，预期效应、反证条件、采集成本和停止规则。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8D2CFE-608F-C4FF-261C-5604913B7E46}"/>
              </a:ext>
            </a:extLst>
          </p:cNvPr>
          <p:cNvSpPr txBox="1"/>
          <p:nvPr/>
        </p:nvSpPr>
        <p:spPr>
          <a:xfrm>
            <a:off x="6451600" y="44068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例：假设某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ROCK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候选增强吞噬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34E3F6-60B6-69F1-78F5-B38074ED2D97}"/>
              </a:ext>
            </a:extLst>
          </p:cNvPr>
          <p:cNvSpPr txBox="1"/>
          <p:nvPr/>
        </p:nvSpPr>
        <p:spPr>
          <a:xfrm>
            <a:off x="6451600" y="4876799"/>
            <a:ext cx="51308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先看结构与靶点证据，再测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、死细胞及荧光背景。功能命中后提出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或靶点干预，检验机制解释。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EF5C9C6-E0EB-4468-E060-2A483190D720}"/>
              </a:ext>
            </a:extLst>
          </p:cNvPr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采纳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的条件表征与方向关系，采纳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的引用、可执行分析和实验反馈。机制因果需要额外干预验证。</a:t>
            </a:r>
          </a:p>
        </p:txBody>
      </p:sp>
    </p:spTree>
    <p:extLst>
      <p:ext uri="{BB962C8B-B14F-4D97-AF65-F5344CB8AC3E}">
        <p14:creationId xmlns:p14="http://schemas.microsoft.com/office/powerpoint/2010/main" val="3440031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0F95A1-C3F6-5970-E88A-F2067F97DCEF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归因与效用评测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EAF099-1425-4752-BC71-C2CCF9B2E297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分层评测：知识归因、功能预测与实验决策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A31F96-0AE9-2B3C-52BA-B732C153D851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先固定细胞背景、剂量、时间、完整候选菜单和预算 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，再在独立实验单位上评价最终选择。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254F9F8-FC1B-7759-D94F-049C6F07660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76F3356-35A8-32B4-8126-DE5896780722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拟议评测：相同数据、权限与预算；各层的增益不能互相替代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D75B7B-D40D-2FD0-5B65-24A15D77F9DF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490AC-AA89-52AE-249A-FF64C74BADA8}"/>
              </a:ext>
            </a:extLst>
          </p:cNvPr>
          <p:cNvSpPr/>
          <p:nvPr/>
        </p:nvSpPr>
        <p:spPr>
          <a:xfrm>
            <a:off x="609600" y="19939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00CA49-D59F-2CB9-D3BB-CE4C1E96B66E}"/>
              </a:ext>
            </a:extLst>
          </p:cNvPr>
          <p:cNvSpPr txBox="1"/>
          <p:nvPr/>
        </p:nvSpPr>
        <p:spPr>
          <a:xfrm>
            <a:off x="762000" y="21208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知识贡献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951903-C02D-9F33-CC08-F2B064E0A84F}"/>
              </a:ext>
            </a:extLst>
          </p:cNvPr>
          <p:cNvSpPr txBox="1"/>
          <p:nvPr/>
        </p:nvSpPr>
        <p:spPr>
          <a:xfrm>
            <a:off x="762000" y="25653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结构表示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完整知识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打乱关系，留出药物及图谱边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F651A0-E41F-F939-59D6-41EBE1A0E824}"/>
              </a:ext>
            </a:extLst>
          </p:cNvPr>
          <p:cNvSpPr/>
          <p:nvPr/>
        </p:nvSpPr>
        <p:spPr>
          <a:xfrm>
            <a:off x="7150100" y="19939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6E043A-B316-EF19-82C0-DCAB0F258D52}"/>
              </a:ext>
            </a:extLst>
          </p:cNvPr>
          <p:cNvSpPr txBox="1"/>
          <p:nvPr/>
        </p:nvSpPr>
        <p:spPr>
          <a:xfrm>
            <a:off x="7302500" y="21208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响应与机制一致性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531025-8953-BB0E-9364-C6919699F8FC}"/>
              </a:ext>
            </a:extLst>
          </p:cNvPr>
          <p:cNvSpPr txBox="1"/>
          <p:nvPr/>
        </p:nvSpPr>
        <p:spPr>
          <a:xfrm>
            <a:off x="7302500" y="25653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Pearson Δ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、方向、候选区分度；同规模知识作为补充对照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A00037-294D-080F-3656-640B2952965E}"/>
              </a:ext>
            </a:extLst>
          </p:cNvPr>
          <p:cNvSpPr/>
          <p:nvPr/>
        </p:nvSpPr>
        <p:spPr>
          <a:xfrm>
            <a:off x="609600" y="34163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F9291B-BBAC-8176-45A4-EAC53F428A8E}"/>
              </a:ext>
            </a:extLst>
          </p:cNvPr>
          <p:cNvSpPr txBox="1"/>
          <p:nvPr/>
        </p:nvSpPr>
        <p:spPr>
          <a:xfrm>
            <a:off x="762000" y="35432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预测贡献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8F644CD-7CF1-E8A0-F274-E6F002CB50F9}"/>
              </a:ext>
            </a:extLst>
          </p:cNvPr>
          <p:cNvSpPr txBox="1"/>
          <p:nvPr/>
        </p:nvSpPr>
        <p:spPr>
          <a:xfrm>
            <a:off x="762000" y="39877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廉价先验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预测响应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实测响应上限，在匹配实验中比较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EB4CF-F5E0-047E-2BEE-DE01212D35A3}"/>
              </a:ext>
            </a:extLst>
          </p:cNvPr>
          <p:cNvSpPr/>
          <p:nvPr/>
        </p:nvSpPr>
        <p:spPr>
          <a:xfrm>
            <a:off x="7150100" y="34163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5E5B92-030D-4C55-FAE6-C9A026F86BD3}"/>
              </a:ext>
            </a:extLst>
          </p:cNvPr>
          <p:cNvSpPr txBox="1"/>
          <p:nvPr/>
        </p:nvSpPr>
        <p:spPr>
          <a:xfrm>
            <a:off x="7302500" y="35432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是否有功能信息收益？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C75746-FCBD-04F4-2FC2-6229F239D191}"/>
              </a:ext>
            </a:extLst>
          </p:cNvPr>
          <p:cNvSpPr txBox="1"/>
          <p:nvPr/>
        </p:nvSpPr>
        <p:spPr>
          <a:xfrm>
            <a:off x="7302500" y="39877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上限先超过廉价方法，再评测预测可否保留收益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DB62A6-A0E0-48EF-FF0F-29E59449E479}"/>
              </a:ext>
            </a:extLst>
          </p:cNvPr>
          <p:cNvSpPr/>
          <p:nvPr/>
        </p:nvSpPr>
        <p:spPr>
          <a:xfrm>
            <a:off x="609600" y="48387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11802E-E21D-7B22-EECB-3A63F7D1038A}"/>
              </a:ext>
            </a:extLst>
          </p:cNvPr>
          <p:cNvSpPr txBox="1"/>
          <p:nvPr/>
        </p:nvSpPr>
        <p:spPr>
          <a:xfrm>
            <a:off x="762000" y="49656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智能体策略贡献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DA93B5-BE5B-8F42-AB37-40786C1548B4}"/>
              </a:ext>
            </a:extLst>
          </p:cNvPr>
          <p:cNvSpPr txBox="1"/>
          <p:nvPr/>
        </p:nvSpPr>
        <p:spPr>
          <a:xfrm>
            <a:off x="762000" y="54101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确定性排序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LLM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策略，允许相同工具和实验反馈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D19A82-D891-D0EF-756B-ADF681CF50FE}"/>
              </a:ext>
            </a:extLst>
          </p:cNvPr>
          <p:cNvSpPr/>
          <p:nvPr/>
        </p:nvSpPr>
        <p:spPr>
          <a:xfrm>
            <a:off x="7150100" y="48387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50CE70-7EA7-F1EB-4C62-45EEBA4630F9}"/>
              </a:ext>
            </a:extLst>
          </p:cNvPr>
          <p:cNvSpPr txBox="1"/>
          <p:nvPr/>
        </p:nvSpPr>
        <p:spPr>
          <a:xfrm>
            <a:off x="7302500" y="49656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预算内的最终选择效用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ECF42D-39A3-0D76-0773-3690FE31D245}"/>
              </a:ext>
            </a:extLst>
          </p:cNvPr>
          <p:cNvSpPr txBox="1"/>
          <p:nvPr/>
        </p:nvSpPr>
        <p:spPr>
          <a:xfrm>
            <a:off x="7302500" y="54101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命中、效应、错误淘汰、总成本；包括停止与无更新策略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4C8372A-25E8-E800-3AF1-45A71EB44318}"/>
              </a:ext>
            </a:extLst>
          </p:cNvPr>
          <p:cNvCxnSpPr/>
          <p:nvPr/>
        </p:nvCxnSpPr>
        <p:spPr>
          <a:xfrm>
            <a:off x="5816600" y="25781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643BEEE-7B8D-7EA4-FB8A-8DB455DA69EE}"/>
              </a:ext>
            </a:extLst>
          </p:cNvPr>
          <p:cNvCxnSpPr/>
          <p:nvPr/>
        </p:nvCxnSpPr>
        <p:spPr>
          <a:xfrm>
            <a:off x="5816600" y="40005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A63BD4C-0C22-5689-38AA-24C3B466E7CB}"/>
              </a:ext>
            </a:extLst>
          </p:cNvPr>
          <p:cNvCxnSpPr/>
          <p:nvPr/>
        </p:nvCxnSpPr>
        <p:spPr>
          <a:xfrm>
            <a:off x="5816600" y="54229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112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52F012-B674-901D-6BEA-1244ED9FC918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最新实质进展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1EDB1F-856E-9B92-C975-D60D5D0EE8A4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基因坐标完成认证，</a:t>
            </a:r>
            <a:r>
              <a:rPr lang="en-US" altLang="zh-CN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读数出现模型信号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15B13A-E30A-AA9F-5308-AD2C109BE47D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尚未形成稳定选择优势。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10.10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的新增证据推进了数据认证与同条件读数研究。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7BEDED4-DAF0-4E34-13C3-A1BA24D2AB62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5A3BE3C-E204-81AC-A990-9B731983EF7D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P05R_EXTENSION.json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phenotype_anchor_20261010/RESULTS.json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68A067-FE7B-D3E0-93B2-F5059D375A8D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08481B-1549-0C87-9D0B-175DCAF6FFAA}"/>
              </a:ext>
            </a:extLst>
          </p:cNvPr>
          <p:cNvSpPr txBox="1"/>
          <p:nvPr/>
        </p:nvSpPr>
        <p:spPr>
          <a:xfrm>
            <a:off x="609600" y="19430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 / 39</a:t>
            </a:r>
            <a:endParaRPr lang="zh-CN" altLang="en-US" sz="3400" b="1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2EF863-0647-63CD-4A70-2D3B23878CAF}"/>
              </a:ext>
            </a:extLst>
          </p:cNvPr>
          <p:cNvSpPr txBox="1"/>
          <p:nvPr/>
        </p:nvSpPr>
        <p:spPr>
          <a:xfrm>
            <a:off x="609600" y="2755899"/>
            <a:ext cx="5283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c44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c45 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的端点坐标均唯一匹配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50B863-3931-8985-1F84-FC7B2A753344}"/>
              </a:ext>
            </a:extLst>
          </p:cNvPr>
          <p:cNvSpPr txBox="1"/>
          <p:nvPr/>
        </p:nvSpPr>
        <p:spPr>
          <a:xfrm>
            <a:off x="609600" y="3390899"/>
            <a:ext cx="52832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对照全部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62,710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个源基因。
最大差约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1.46 × 10⁻⁷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，容差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10⁻⁵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个细胞，新增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c45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个区分细胞取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133,564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字节，较旧方案少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60.7%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6BA059-0706-94D6-AC2A-83F30A2CAB7B}"/>
              </a:ext>
            </a:extLst>
          </p:cNvPr>
          <p:cNvSpPr txBox="1"/>
          <p:nvPr/>
        </p:nvSpPr>
        <p:spPr>
          <a:xfrm>
            <a:off x="6451600" y="1943099"/>
            <a:ext cx="513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+0.254 r</a:t>
            </a:r>
            <a:endParaRPr lang="zh-CN" altLang="en-US" sz="34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096DDE-0839-1699-2623-AD60ED92E175}"/>
              </a:ext>
            </a:extLst>
          </p:cNvPr>
          <p:cNvSpPr txBox="1"/>
          <p:nvPr/>
        </p:nvSpPr>
        <p:spPr>
          <a:xfrm>
            <a:off x="6451600" y="2755899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预测细胞的 </a:t>
            </a:r>
            <a:r>
              <a:rPr lang="en-US" altLang="zh-CN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组成读数出现信号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B9A4317-B0D1-750B-B16E-40858A37EF2E}"/>
              </a:ext>
            </a:extLst>
          </p:cNvPr>
          <p:cNvSpPr txBox="1"/>
          <p:nvPr/>
        </p:nvSpPr>
        <p:spPr>
          <a:xfrm>
            <a:off x="6451600" y="3390899"/>
            <a:ext cx="51308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相对基础相似性：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0.350 vs 0.096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[0.156, 0.367]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背景更好。
同一球状培养单元的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h RNA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与读数，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379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药物菜单，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留出背景。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3067496-EC33-41F8-6BA5-2C78C33D8E64}"/>
              </a:ext>
            </a:extLst>
          </p:cNvPr>
          <p:cNvCxnSpPr/>
          <p:nvPr/>
        </p:nvCxnSpPr>
        <p:spPr>
          <a:xfrm>
            <a:off x="609600" y="54229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FA25755-C5CA-4794-28E9-1AF788087060}"/>
              </a:ext>
            </a:extLst>
          </p:cNvPr>
          <p:cNvSpPr txBox="1"/>
          <p:nvPr/>
        </p:nvSpPr>
        <p:spPr>
          <a:xfrm>
            <a:off x="609600" y="56514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端点准入带来更明确的使用范围：生存选择性主分析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Δr = −0.226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，真实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上限仅 </a:t>
            </a:r>
            <a:r>
              <a:rPr lang="en-US" altLang="zh-CN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+0.003</a:t>
            </a:r>
            <a:r>
              <a:rPr lang="zh-CN" altLang="en-US" sz="15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，未准入。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B84BEC-8C95-34F5-F316-2D8DD0262CB0}"/>
              </a:ext>
            </a:extLst>
          </p:cNvPr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来自 </a:t>
            </a:r>
            <a:r>
              <a:rPr lang="en-US" altLang="zh-CN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RNA </a:t>
            </a:r>
            <a:r>
              <a:rPr lang="zh-CN" altLang="en-US" sz="14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推导；坐标认证属于文件内身份；目标背景曾暴露。当前结果尚需独立生物确认。</a:t>
            </a:r>
          </a:p>
        </p:txBody>
      </p:sp>
    </p:spTree>
    <p:extLst>
      <p:ext uri="{BB962C8B-B14F-4D97-AF65-F5344CB8AC3E}">
        <p14:creationId xmlns:p14="http://schemas.microsoft.com/office/powerpoint/2010/main" val="17523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131D1C-FE95-04A1-4F42-AD5088B86B85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效率收益与后续实验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10FB5A-5992-664D-96D4-765718395E36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后续重点：可靠观测、有效端点与可归因的反馈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AAD2F4-F232-6E7D-1F80-A2888C077A46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运行闭环已验证两轮测量反馈及持久化、预算、重试和重启。下一步将工程能力转成可检验的研究。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5CBC954-8B34-D48D-A774-72E870633DD9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CD5E2C1-0222-0B75-3039-A38F32B85210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项目证据截至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2026-10-10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；后续为拟议工作，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未放行，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仍关闭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5BD09A-5C1A-DF4C-A03E-8434873FC7CE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F895D9-6D3F-1CC6-05E9-50742FFC6245}"/>
              </a:ext>
            </a:extLst>
          </p:cNvPr>
          <p:cNvSpPr txBox="1"/>
          <p:nvPr/>
        </p:nvSpPr>
        <p:spPr>
          <a:xfrm>
            <a:off x="609600" y="2006599"/>
            <a:ext cx="53467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 </a:t>
            </a:r>
            <a:r>
              <a:rPr lang="zh-CN" altLang="en-US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 → </a:t>
            </a:r>
            <a:r>
              <a:rPr lang="en-US" altLang="zh-CN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35 </a:t>
            </a:r>
            <a:r>
              <a:rPr lang="zh-CN" altLang="en-US" sz="3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3A1692-1375-948F-974E-79D859FFE9A0}"/>
              </a:ext>
            </a:extLst>
          </p:cNvPr>
          <p:cNvSpPr txBox="1"/>
          <p:nvPr/>
        </p:nvSpPr>
        <p:spPr>
          <a:xfrm>
            <a:off x="609600" y="2768599"/>
            <a:ext cx="5346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预采购停止节省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94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次购买（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72.9%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8F9913-ED72-5BE3-AF2B-9A6455B38B3B}"/>
              </a:ext>
            </a:extLst>
          </p:cNvPr>
          <p:cNvSpPr txBox="1"/>
          <p:nvPr/>
        </p:nvSpPr>
        <p:spPr>
          <a:xfrm>
            <a:off x="609600" y="3340099"/>
            <a:ext cx="53467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匹配策略的最终动作保持一致。总模拟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profiles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774 → 680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，无更新为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645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，节省来自避免无效采集。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2B8B8E-F2EA-7A45-5336-85BC61EB0798}"/>
              </a:ext>
            </a:extLst>
          </p:cNvPr>
          <p:cNvSpPr txBox="1"/>
          <p:nvPr/>
        </p:nvSpPr>
        <p:spPr>
          <a:xfrm>
            <a:off x="6731000" y="2006599"/>
            <a:ext cx="48514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+0.558 log₂</a:t>
            </a:r>
            <a:endParaRPr lang="zh-CN" altLang="en-US" sz="3100" b="1">
              <a:solidFill>
                <a:srgbClr val="637F9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F61C42-4572-548D-9196-566C1151B361}"/>
              </a:ext>
            </a:extLst>
          </p:cNvPr>
          <p:cNvSpPr txBox="1"/>
          <p:nvPr/>
        </p:nvSpPr>
        <p:spPr>
          <a:xfrm>
            <a:off x="6731000" y="27685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基础相似性迁移的生存 </a:t>
            </a:r>
            <a:r>
              <a:rPr lang="en-US" altLang="zh-CN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top-10 </a:t>
            </a:r>
            <a:r>
              <a:rPr lang="zh-CN" altLang="en-US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3C375D-71AC-ABD0-1AC9-3DB37E42203E}"/>
              </a:ext>
            </a:extLst>
          </p:cNvPr>
          <p:cNvSpPr txBox="1"/>
          <p:nvPr/>
        </p:nvSpPr>
        <p:spPr>
          <a:xfrm>
            <a:off x="6731000" y="3340099"/>
            <a:ext cx="4851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相对通用药物强度排序，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更好。它构成后续复杂模型必须超过的廉价基线。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501E57D-438A-F1E9-10A9-76B14366E682}"/>
              </a:ext>
            </a:extLst>
          </p:cNvPr>
          <p:cNvCxnSpPr/>
          <p:nvPr/>
        </p:nvCxnSpPr>
        <p:spPr>
          <a:xfrm>
            <a:off x="609600" y="4584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9D7BAD7-167F-30E8-399C-CA300B9F260A}"/>
              </a:ext>
            </a:extLst>
          </p:cNvPr>
          <p:cNvSpPr txBox="1"/>
          <p:nvPr/>
        </p:nvSpPr>
        <p:spPr>
          <a:xfrm>
            <a:off x="609600" y="48132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 </a:t>
            </a: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P0.6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观测可靠性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3A6AB5-D569-C311-E870-FDBF35EFE2B2}"/>
              </a:ext>
            </a:extLst>
          </p:cNvPr>
          <p:cNvSpPr txBox="1"/>
          <p:nvPr/>
        </p:nvSpPr>
        <p:spPr>
          <a:xfrm>
            <a:off x="609600" y="5283199"/>
            <a:ext cx="5207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明确源版本、处理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对照、共享对照误差和采集成本。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个分层实际为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pooled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F687D6C-F404-A6A0-EE04-A4383D6FF8FA}"/>
              </a:ext>
            </a:extLst>
          </p:cNvPr>
          <p:cNvSpPr txBox="1"/>
          <p:nvPr/>
        </p:nvSpPr>
        <p:spPr>
          <a:xfrm>
            <a:off x="6731000" y="48132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按端点评测知识与反馈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AB2777-39F7-5DA3-A41D-D20E057BEB4B}"/>
              </a:ext>
            </a:extLst>
          </p:cNvPr>
          <p:cNvSpPr txBox="1"/>
          <p:nvPr/>
        </p:nvSpPr>
        <p:spPr>
          <a:xfrm>
            <a:off x="6731000" y="5283199"/>
            <a:ext cx="4851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选择方向明确的有效关系，借鉴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保留引用和代码。用同工具预算比较，记录有益与有害更新。</a:t>
            </a:r>
          </a:p>
        </p:txBody>
      </p:sp>
    </p:spTree>
    <p:extLst>
      <p:ext uri="{BB962C8B-B14F-4D97-AF65-F5344CB8AC3E}">
        <p14:creationId xmlns:p14="http://schemas.microsoft.com/office/powerpoint/2010/main" val="376680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9234</Words>
  <Application>Microsoft Office PowerPoint</Application>
  <PresentationFormat>自定义</PresentationFormat>
  <Paragraphs>250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1</cp:revision>
  <dcterms:created xsi:type="dcterms:W3CDTF">2026-10-10T07:34:00Z</dcterms:created>
  <dcterms:modified xsi:type="dcterms:W3CDTF">2026-10-10T07:34:00Z</dcterms:modified>
</cp:coreProperties>
</file>