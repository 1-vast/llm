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73" r:id="rId5"/>
    <p:sldId id="259" r:id="rId6"/>
    <p:sldId id="260" r:id="rId7"/>
    <p:sldId id="26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6271A-394A-4D21-B27B-A34B93668D65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2974F-38E2-4295-972A-0B12CEC8C5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今天讨论药物发现中的两个问题：实验覆盖不足时，如何预测新药物的细胞响应；得到实验结果后，如何让系统继续推进研究。</a:t>
            </a:r>
          </a:p>
          <a:p>
            <a:r>
              <a:t>MAP 把公共生物学知识用于表示学习和表达预测。Robin 组织文献检索、候选评估和数据分析，通过两轮实验更新假设。</a:t>
            </a:r>
          </a:p>
          <a:p>
            <a:r>
              <a:t>先解释论文方法与证据，再讨论独立的设计建议，最后介绍项目核心发现。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 由 Feng 等人发表于二〇二六年的 Nature Machine Intelligence。题目强调知识驱动与未测药物，封面保留标题、作者和期刊来源。</a:t>
            </a:r>
          </a:p>
          <a:p>
            <a:r>
              <a:t>响应主要指给药后的 RNA 表达变化。作者希望用公共药物与基因知识，弥补响应实验覆盖不足。下面解释这个问题为什么难。</a:t>
            </a:r>
          </a:p>
          <a:p/>
          <a:p>
            <a:r>
              <a:t>Feng et al. (2026). A knowledge-driven framework for predicting single-cell responses for unprofiled drugs. Nature Machine Intelligence. DOI: 10.1038/s42256-026-01286-w.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279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 的研究动机是：化学结构和细胞状态提供了预测基础，但稀疏实验不一定能让模型学全药物作用关系。</a:t>
            </a:r>
          </a:p>
          <a:p>
            <a:r>
              <a:t>同一种药物会受到细胞类型、剂量和时间的影响。单细胞测序难以测完所有组合，需要从有限实验推断其他条件。预测表达变化与最终药效还需要另行验证。</a:t>
            </a:r>
          </a:p>
          <a:p>
            <a:r>
              <a:t>其次，chemCPA 用结构表示药物，新分子没有训练编号，也能转成向量。STATE 等模型提供细胞与基因表征，使预测依赖细胞背景。表征就是模型能处理的数值向量。</a:t>
            </a:r>
          </a:p>
          <a:p>
            <a:r>
              <a:t>缺口在于，结构编码通常没有明确要求保留靶点和作用方向。结构相近的分子可能具有不同机制，同靶点药物也可能结构不同。当响应样本稀疏时，这些规律很难完整学习。</a:t>
            </a:r>
          </a:p>
          <a:p>
            <a:r>
              <a:t>因此，MAP 加入公共药物–基因和基因–基因知识，为表示提供额外监督。这是需要实验检验的研究假设。底部还提醒一个生物学区别：抑制蛋白活性不意味着对应 RNA 一定下降，细胞可能出现反馈补偿。</a:t>
            </a:r>
          </a:p>
          <a:p/>
          <a:p>
            <a:r>
              <a:t>Feng et al. (2026). A knowledge-driven framework for predicting single-cell responses for unprofiled drugs. Nature Machine Intelligence. DOI: 10.1038/s42256-026-01286-w.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理解 MAP 要把训练阶段与评测任务分开。</a:t>
            </a:r>
          </a:p>
          <a:p>
            <a:r>
              <a:t>第一阶段把药物结构、文字和蛋白序列映射到共享空间，再用已知关系约束。第二阶段使用已测的对照与处理群体，学习这些表示在具体细胞条件下对应什么表达响应。</a:t>
            </a:r>
          </a:p>
          <a:p>
            <a:r>
              <a:t>预测时只需提供对照表达、药物结构和剂量。输出是处理后的表达，再与对照比较得到变化。这里的 SMILES 是分子结构的字符串写法，它让新药物也有可编码的输入。</a:t>
            </a:r>
          </a:p>
          <a:p>
            <a:r>
              <a:t>下面两种任务难度不同。任务 A 留出目标细胞与某药物的配对，但该药物在其他细胞中可能测过。例如其他细胞测过 D，A549 没有。这检验组合与背景泛化。</a:t>
            </a:r>
          </a:p>
          <a:p>
            <a:r>
              <a:t>任务 B 移除整种药物的全部响应，并从知识图谱中移除实体、别名与关联边。模型不能提前查询该药的靶点答案，只能把其他实体学到的结构和知识规律用于新分子。</a:t>
            </a:r>
          </a:p>
          <a:p>
            <a:r>
              <a:t>最后，论文在各数据集内部训练和留出。它支持这些条件下的泛化结论，跨平台和跨数据集迁移还需要额外实验。</a:t>
            </a:r>
          </a:p>
          <a:p/>
          <a:p>
            <a:r>
              <a:t>Feng et al. (2026). A knowledge-driven framework for predicting single-cell responses for unprofiled drugs. Nature Machine Intelligence. DOI: 10.1038/s42256-026-01286-w.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304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知识预训练的核心，是同时对齐实体属性与实体之间的关系。</a:t>
            </a:r>
          </a:p>
          <a:p>
            <a:r>
              <a:t>左图中，MAP-KG 整合十四个资源，包含约十八万七千个药物和两万三千个基因。药物–基因边约四十二万八千条，基因–基因边约二十六万六千条。图谱规模不能直接保证知识正确。</a:t>
            </a:r>
          </a:p>
          <a:p>
            <a:r>
              <a:t>属性编码分别使用 BioBERT、MoleculeSTM 和 ESM-2。文字、结构与蛋白序列转成向量。后两者冻结，后接四层可训练 MLP，适配器负责把原有特征调整到共享空间。</a:t>
            </a:r>
          </a:p>
          <a:p>
            <a:r>
              <a:t>右边第一步是属性对齐。名称向量作为参照，同一实体的其他属性是正对，批次中的其他实体是负对。目标是让不同来源的信息能够互相对应。</a:t>
            </a:r>
          </a:p>
          <a:p>
            <a:r>
              <a:t>第二步处理有向关系。公式中 zᵢ 和 zⱼ 是源实体与目标实体，zᵢⱼ 是关系文字的向量。有序拼接把源实体放在关系前、目标实体放在关系后，再经 MLP 编码。这样能够区分谁施加作用、谁接受作用。关系条件化表示随后与相连实体对齐。</a:t>
            </a:r>
          </a:p>
          <a:p>
            <a:r>
              <a:t>第三步用 InfoNCE 区分正确配对与批次负对，温度控制相似度分布的集中程度。知识因此进入结构编码的训练目标，可能改善新分子的表示。它提供机制相关先验，仍不能直接证明模型识别了因果机制。</a:t>
            </a:r>
          </a:p>
          <a:p/>
          <a:p>
            <a:r>
              <a:t>Feng et al. (2026). A knowledge-driven framework for predicting single-cell responses for unprofiled drugs. Nature Machine Intelligence. DOI: 10.1038/s42256-026-01286-w.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响应预测器的作用，是把机制相关表示转成依赖细胞背景的表达预测。</a:t>
            </a:r>
          </a:p>
          <a:p>
            <a:r>
              <a:t>左图的三个输入分支，对应右边的步骤。STATE SE-600M 先编码对照细胞，产生细胞向量 h 和基因向量 T。细胞向量概括全局状态，基因向量提供局部信息。token 可以理解成模型处理的向量单元。</a:t>
            </a:r>
          </a:p>
          <a:p>
            <a:r>
              <a:t>第一步，将基因向量与知识增强蛋白表示拼接，再经 MLP 融合。这样，同一个基因既携带当前细胞中的状态，也携带来自知识预训练的功能信息。</a:t>
            </a:r>
          </a:p>
          <a:p>
            <a:r>
              <a:t>第二步，药物结构经分子编码器得到向量，再乘以对数变换后的剂量。药物、细胞和融合基因向量一起进入四层 Transformer。自注意力使这些输入能够相互影响，预测因此受到药物条件与细胞状态的共同约束。</a:t>
            </a:r>
          </a:p>
          <a:p>
            <a:r>
              <a:t>第三步，预测细胞向量经 MLP 解码成基因表达。真实处理细胞也经 STATE 编码，提供嵌入空间的参考。</a:t>
            </a:r>
          </a:p>
          <a:p>
            <a:r>
              <a:t>底部公式包含两个均方误差。一项比较预测与真实处理群体的平均嵌入，另一项比较平均表达，λ 控制两项的权重。平均嵌入约束细胞状态，平均表达约束最终输出。</a:t>
            </a:r>
          </a:p>
          <a:p>
            <a:r>
              <a:t>要强调，损失匹配的是群体均值，并未要求对照细胞与处理细胞逐个配对。左图下方展示预测可用于功能分析和虚拟筛选，但均值匹配较好，还不足以证明单细胞分布、罕见亚群或真实变化轨迹准确。</a:t>
            </a:r>
          </a:p>
          <a:p/>
          <a:p>
            <a:r>
              <a:t>Feng et al. (2026). A knowledge-driven framework for predicting single-cell responses for unprofiled drugs. Nature Machine Intelligence. DOI: 10.1038/s42256-026-01286-w.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 的证据可以分成预测结果、知识消融和应用排序三个层次。</a:t>
            </a:r>
          </a:p>
          <a:p>
            <a:r>
              <a:t>上方交代数据范围。Tahoe 评测选择六条细胞系，OP3 包含六类免疫细胞和一百四十四种化合物，SciPlex3 包含三条癌细胞系和一百八十七种化合物。</a:t>
            </a:r>
          </a:p>
          <a:p>
            <a:r>
              <a:t>左边三个条形对应整药留出的主结果。评价使用前五十个差异表达基因的 Pearson delta。先减去对照，再比较预测与实测变化，能够减少基础表达对相关性的主导。相对最强基线，Tahoe 提升百分之十一点八，OP3 提升十九点八，SciPlex3 提升十点四。这些是相对提升，并非百分点。</a:t>
            </a:r>
          </a:p>
          <a:p>
            <a:r>
              <a:t>右上消融检查知识贡献。移除药物–基因边，下降最大；MAP-KG 比 PrimeKG 的指标高百分之十一点四。这支持靶点关系的重要性，但仍需结合切分、知识覆盖和训练条件理解。</a:t>
            </a:r>
          </a:p>
          <a:p>
            <a:r>
              <a:t>右下计算筛选用 A549 的五十八个留出候选。五个已批准肺癌药物中，四个进入前十五，再结合 GSEA 检查预测的通路是否一致。这提供排序价值的线索。</a:t>
            </a:r>
          </a:p>
          <a:p>
            <a:r>
              <a:t>论文没有新增湿实验来验证这些预测候选。当前结论主要覆盖数据集内部表达外推和计算排序，不能直接延伸到临床疗效。</a:t>
            </a:r>
          </a:p>
          <a:p/>
          <a:p>
            <a:r>
              <a:t>Feng et al. (2026). A knowledge-driven framework for predicting single-cell responses for unprofiled drugs. Nature Machine Intelligence. DOI: 10.1038/s42256-026-01286-w.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Ghareeb 等人的论文发表于二〇二六年的 Nature，系统名为 Robin，封面保留论文来源。</a:t>
            </a:r>
          </a:p>
          <a:p>
            <a:r>
              <a:t>论文以干性年龄相关性黄斑变性为案例，用真实细胞实验检验文献候选，再让数据分析推动后续研究。接下来解释为什么选择吞噬作为功能目标。</a:t>
            </a:r>
          </a:p>
          <a:p/>
          <a:p>
            <a:r>
              <a:t>Ghareeb et al. (2026). A multi-agent system for automating scientific discovery. Nature. DOI: 10.1038/s41586-026-10652-y.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010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Robin 希望让候选选择接受真实实验反馈，并据此继续更新研究方向。</a:t>
            </a:r>
          </a:p>
          <a:p>
            <a:r>
              <a:t>疾病背景是干性年龄相关性黄斑变性。RPE 是视网膜色素上皮，负责清除光感受器外节并维持局部稳态。论文选择吞噬作为体外可测功能，寻找增强这一过程的再利用药物。已有药物的药理与安全性资料，可以为后续研究提供基础，但新适应证仍需验证。</a:t>
            </a:r>
          </a:p>
          <a:p>
            <a:r>
              <a:t>已有检索工具能聚合文献，代码执行智能体能分析数据。单独完成这些任务，仍不足以检验候选在具体条件下是否有效。</a:t>
            </a:r>
          </a:p>
          <a:p>
            <a:r>
              <a:t>作者把研究过程衔接起来：先确定疾病机制与实验模型，再生成和排序候选；实验后分析原始数据，形成新观察，并调整后续假设。</a:t>
            </a:r>
          </a:p>
          <a:p>
            <a:r>
              <a:t>实际研究路线先在吞噬筛选中发现 ROCK 抑制线索，再用 RNA-seq 检查相关变化，最后进行第二轮选药和原代复核。因此，值得关注的是新数据怎样改变研究方向。</a:t>
            </a:r>
          </a:p>
          <a:p>
            <a:r>
              <a:t>同时需要明确人的角色。研究者审查候选、制定并执行湿实验协议。论文完成了部分研究环节的自动化，体外功能增强与患者疗效之间仍需要进一步证据。</a:t>
            </a:r>
          </a:p>
          <a:p/>
          <a:p>
            <a:r>
              <a:t>Ghareeb et al. (2026). A multi-agent system for automating scientific discovery. Nature. DOI: 10.1038/s41586-026-10652-y.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Robin 的实现包含证据检索、偏好排序和可执行分析三个环节。</a:t>
            </a:r>
          </a:p>
          <a:p>
            <a:r>
              <a:t>左边原图从目标疾病进入假设生成，再进入实验室实验和分析。反馈箭头表示实验观察返回假设阶段。Crow 快速检索机制和模型，Falcon 深入核对每个候选的药理依据与局限，Robin 综合输出，研究者审查并执行实验。</a:t>
            </a:r>
          </a:p>
          <a:p>
            <a:r>
              <a:t>右边第一步，系统提出十种潜在机制并评估体外模型，再生成三十个治疗假设。这个顺序使候选围绕可测目标形成。</a:t>
            </a:r>
          </a:p>
          <a:p>
            <a:r>
              <a:t>第二步，评审模型做成对比较。它比较证据强度、药理和支持文献的方法学。候选超过二十五时，抽取三百对比较，再用 Bradley–Terry–Luce 模型拟合排序强度。</a:t>
            </a:r>
          </a:p>
          <a:p>
            <a:r>
              <a:t>公式中的 sᵢ 是候选 i 的拟合强度。两项指数的比例，表示偏好模型认为 i 在比较中胜出的概率。它把不完整的比较汇总成全局排序。这是评审偏好，不能解释为药物实验有效的概率。</a:t>
            </a:r>
          </a:p>
          <a:p>
            <a:r>
              <a:t>第三步，Finch 接收流式文件或 RNA-seq 计数，在 notebook 中写代码、执行并根据结果修改，再提交分析结论。八条轨迹独立分析同一数据，综合结果检查不同分析路径是否一致。</a:t>
            </a:r>
          </a:p>
          <a:p>
            <a:r>
              <a:t>八条轨迹的作用是检查分析稳定性。它们没有增加独立生物样本，不能当作八次生物学重复。保存代码与 notebook 才能让人核查结论怎样得出。</a:t>
            </a:r>
          </a:p>
          <a:p/>
          <a:p>
            <a:r>
              <a:t>Ghareeb et al. (2026). A multi-agent system for automating scientific discovery. Nature. DOI: 10.1038/s41586-026-10652-y.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第一轮实验先发现功能命中，再用转录数据寻找后续研究线索。</a:t>
            </a:r>
          </a:p>
          <a:p>
            <a:r>
              <a:t>左上是实验示意。研究者使用 ARPE-19 细胞和 pHrodo 微球。微球进入酸性环境后荧光增强，流式测量提供功能读数。方法段落写给药一小时，再加入微球孵育三小时；原示意图标四小时，两处有差异，需要注意。</a:t>
            </a:r>
          </a:p>
          <a:p>
            <a:r>
              <a:t>右边第一步是分析质量控制。门控排除碎片、双细胞和死细胞，再计算几何平均荧光，以 DMSO 归一化。这个读数涉及摄取与酸化，因此解释为吞噬功能信号时要保留测定条件。</a:t>
            </a:r>
          </a:p>
          <a:p>
            <a:r>
              <a:t>第二步，ROCK 抑制剂 Y-27632 命中，人工复分析支持。随后进行 RNA-seq，Finch 做差异分析与 GO 富集，找到肌动蛋白组织、小 GTP 酶和自噬相关变化。富集反映相关程序变化，尚未直接测量自噬通量。</a:t>
            </a:r>
          </a:p>
          <a:p>
            <a:r>
              <a:t>左下火山图横轴是表达倍数变化的对数，纵轴是校正后显著性的负对数。红色表示上调，蓝色表示下调，ABCA1 位于上调一侧。</a:t>
            </a:r>
          </a:p>
          <a:p>
            <a:r>
              <a:t>ABCA1 大约三倍上调，编码脂质外排泵，提示吞噬可能与脂质稳态相联系。这能产生后续假设。若要证明它介导吞噬增强，还需敲低或抑制、救援及功能实验，而不能只依赖上调和富集结果。</a:t>
            </a:r>
          </a:p>
          <a:p/>
          <a:p>
            <a:r>
              <a:t>Ghareeb et al. (2026). A multi-agent system for automating scientific discovery. Nature. DOI: 10.1038/s41586-026-10652-y.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第二轮的推进，是利用 ROCK 线索继续选药，并检查命中是否依赖最初的实验模型。</a:t>
            </a:r>
          </a:p>
          <a:p>
            <a:r>
              <a:t>系统生成十种新候选，ripasudil 是其中的重要命中。它是在日本获批用于青光眼的 ROCK 抑制剂。左侧柱状图纵轴是相对 DMSO 的荧光倍数，虚线表示对照水平，绿色表示显著命中。</a:t>
            </a:r>
          </a:p>
          <a:p>
            <a:r>
              <a:t>在 ARPE-19 中，Finch 的分析得到 ripasudil 为对照的一点八九倍，人工复分析为一点七五倍。两者支持相同的命中方向，效应估计仍有所差异。右侧曲线横轴是剂量，纵轴是荧光强度；粉色 ripasudil 曲线与蓝色 Y-27632 曲线比较，检查药物效力。</a:t>
            </a:r>
          </a:p>
          <a:p>
            <a:r>
              <a:t>右边第一步复核同时改变细胞与底物：使用一位六十岁以上供者的原代 RPE-SC，并把微球改为牛光感受器外节。两个 ROCK 抑制剂再次命中，每条件四孔重复。</a:t>
            </a:r>
          </a:p>
          <a:p>
            <a:r>
              <a:t>第二步，ABCA1 上调在原代细胞复现，昼夜节律候选 KL001 也命中。它通过稳定 CRY 蛋白提供另一条研究线索。</a:t>
            </a:r>
          </a:p>
          <a:p>
            <a:r>
              <a:t>跨模型与底物复核增强结果的可信度，但四孔来自同一供者，不能代表四个人。多供者、长期安全性和疾病相关研究仍需完成，也还没有建立临床疗效。</a:t>
            </a:r>
          </a:p>
          <a:p/>
          <a:p>
            <a:r>
              <a:t>Ghareeb et al. (2026). A multi-agent system for automating scientific discovery. Nature. DOI: 10.1038/s41586-026-10652-y.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Robin 的组件评价支持检索与工具执行的价值，同时说明了能力边界。</a:t>
            </a:r>
          </a:p>
          <a:p>
            <a:r>
              <a:t>左边 BixBench 有一百七十题，运行三次。Finch 正确率百分之二十二点八，标准误一点七；基线为一点六，标准误一点二。统计学分项四十七点九，生物信息学十五点三。复杂多步流程仍更困难。</a:t>
            </a:r>
          </a:p>
          <a:p>
            <a:r>
              <a:t>这项比较同时改变工具访问和代理流程，无法把收益全部归于多智能体协作。整体正确率也说明执行结果仍需核查。</a:t>
            </a:r>
          </a:p>
          <a:p>
            <a:r>
              <a:t>右上评价引用可靠性。人工核查十五份方案，o4-mini 的虚构引用率为四十四点五，Crow 在这个样本中未见虚构。检索消融还降低候选方案质量。它说明检索有帮助，小样本零错误不能保证今后所有输出无错。</a:t>
            </a:r>
          </a:p>
          <a:p>
            <a:r>
              <a:t>右中比较排序与专家偏好。前十候选平均有七点二五个重合。相同成对比较时，模型选择一致率为百分之八十八，专家为六十一。这衡量一致性与偏好接近程度，实验命中率仍需另外验证。</a:t>
            </a:r>
          </a:p>
          <a:p>
            <a:r>
              <a:t>右下说明流程边界。两轮真实实验已完成更新和复核，但湿实验由人执行，调用顺序几乎固定，作者后来简化为 notebook。现有结果支持阶段衔接的价值，还没有单独证明自由规划的优势。</a:t>
            </a:r>
          </a:p>
          <a:p/>
          <a:p>
            <a:r>
              <a:t>Ghareeb et al. (2026). A multi-agent system for automating scientific discovery. Nature. DOI: 10.1038/s41586-026-10652-y.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两篇论文可以提供独立的药物发现系统设计思路，实际收益需要重新验证。</a:t>
            </a:r>
          </a:p>
          <a:p>
            <a:r>
              <a:t>MAP 提供机制条件化预测的思路。候选记录结构、靶点和作用方向，同时保留细胞、剂量与时间。预测表达变化可以成为排序特征，但系统要说明模型在哪些条件下有效。</a:t>
            </a:r>
          </a:p>
          <a:p>
            <a:r>
              <a:t>Robin 提供证据驱动更新的思路。疾病目标要落实为功能和毒性读数，实验后保存原始数据、质量控制、代码与效应区间，再明确哪条假设得到支持、哪条需要修订。</a:t>
            </a:r>
          </a:p>
          <a:p>
            <a:r>
              <a:t>中间流程把两点结合起来：候选与机制证据进入条件预测，候选接受功能和毒性实验，可复核分析再用于更新假设。</a:t>
            </a:r>
          </a:p>
          <a:p>
            <a:r>
              <a:t>知识贡献可比较结构基线、完整知识和打乱关系，严格留药并清除对应知识。代理贡献固定检索、预测器、工具和预算，比较确定性、LLM 与无反馈策略。</a:t>
            </a:r>
          </a:p>
          <a:p>
            <a:r>
              <a:t>评价要到预算内功能命中、效应、毒性和成本。仅有机制一致的解释，尚不足以证明系统选到了更好的药物。</a:t>
            </a:r>
          </a:p>
          <a:p/>
          <a:p>
            <a:r>
              <a:t>依据上述两篇论文提出的设计建议，尚未进行验证。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项目目前最重要的确认发现，是实测转录近邻提供了跨机制的预测信息。</a:t>
            </a:r>
          </a:p>
          <a:p>
            <a:r>
              <a:t>确认集封存了四百二十一种药物，其中一百零一种满足杀伤标准。目标是在五百七十八条癌细胞系中预测选择性杀伤，并去掉通用杀伤轮廓，避免普遍毒性主导相关性。</a:t>
            </a:r>
          </a:p>
          <a:p>
            <a:r>
              <a:t>流程使用实测 L1000 签名，条件是九条参考细胞系、六或二十四小时、十微摩尔。选出五个转录最相似的参考药，按相似度加权迁移它们在 PRISM 中的二点五微摩尔杀伤谱。未见机制类别时，所有同类参考药都移除。</a:t>
            </a:r>
          </a:p>
          <a:p>
            <a:r>
              <a:t>左上确认结果中，转录迁移的选择性相关性是零点一五三，靶点近邻零点零三八，结构近邻零点零五三。超过靶点的增益为零点一一六，校正区间下界为正。补充一百六十系部分筛选仍有零点零四九增益，独立复筛八十九种药物也有零点一零三增益。统计按机制类别聚类并校正多重比较。</a:t>
            </a:r>
          </a:p>
          <a:p>
            <a:r>
              <a:t>右上四种 LLM 角色都没有确认增益，近邻审查和文献预测融合还使指标下降。这是当前任务、模型和协议下的结果。后续应保留已确认的转录信息，再验证错误淘汰和最终候选选择是否改善。</a:t>
            </a:r>
          </a:p>
          <a:p>
            <a:r>
              <a:t>当前输入是实测签名。把 MAP 或 STATE 的生成表达替代它，仍是待检验的下一步；本轮也没有新增湿实验。</a:t>
            </a:r>
          </a:p>
          <a:p/>
          <a:p>
            <a:r>
              <a:t>项目依据 D:/MAESTRO/research/astra/mechanism_routing_20261011/PROTOCOL.md、RESULTS.json、VERIFIED_SUPPLEMENT.json；资料截至 2026-10-11。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4277F-6CE5-43E5-B425-CD048DF611AD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6600" y="609599"/>
            <a:ext cx="10541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1009   </a:t>
            </a:r>
            <a:r>
              <a:rPr lang="zh-CN" altLang="en-US" sz="1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组会论文汇报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36600" y="1816099"/>
            <a:ext cx="10693400" cy="167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40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未测药物的响应预测
与实验驱动的科学发现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2000" y="3809999"/>
            <a:ext cx="10604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</a:t>
            </a:r>
            <a:r>
              <a:rPr lang="zh-CN" altLang="en-US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：研究背景、已有进展、方法与实验验证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62000" y="4813300"/>
            <a:ext cx="106680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62000" y="5143499"/>
            <a:ext cx="104140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MAP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：知识预训练与新药物响应预测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Robin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：文献假设、数据分析与两轮实验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通用方法设计与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MAESTRO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95" y="39370"/>
            <a:ext cx="7169785" cy="6680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5AA855E8-B2A4-6D37-81C9-C7C3C1E4DC30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89FA72-D567-057D-AE41-C9F9D7055C2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的研究问题与现有方法的缺口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BA5FBD-1DA3-917A-3646-B45E2C23A89F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预测对象：给定对照细胞、药物结构与剂量，推断处理后的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表达及相对对照的变化。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323FAAE-CC0F-658B-7B81-06677C167DD0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DD3B910-1D34-A32C-E4F2-F10C8BE6882A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fr-FR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Nature Machine Intelligence, 2026, Introduction / Fig. 1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020CF0-4B62-1C9F-1C92-B5CD4D659E2B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D72D5C8-D5E9-D73D-7B98-2B8401E83688}"/>
              </a:ext>
            </a:extLst>
          </p:cNvPr>
          <p:cNvSpPr txBox="1"/>
          <p:nvPr/>
        </p:nvSpPr>
        <p:spPr>
          <a:xfrm>
            <a:off x="609600" y="18922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DDAB63-4F33-B12E-1A01-BB02C9BEF59A}"/>
              </a:ext>
            </a:extLst>
          </p:cNvPr>
          <p:cNvSpPr txBox="1"/>
          <p:nvPr/>
        </p:nvSpPr>
        <p:spPr>
          <a:xfrm>
            <a:off x="1282700" y="18922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实验为什么
覆盖不足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18094C9-4984-12C6-8570-9CCC1869D296}"/>
              </a:ext>
            </a:extLst>
          </p:cNvPr>
          <p:cNvSpPr txBox="1"/>
          <p:nvPr/>
        </p:nvSpPr>
        <p:spPr>
          <a:xfrm>
            <a:off x="3225800" y="18922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同一药物在不同细胞、剂量和时间下可能产生不同响应。单细胞实验难以穷举所有条件，已有图谱也只覆盖部分药物与细胞组合；候选筛选需要从已测数据外推。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7EC42B4-5101-A6A6-2B2A-BA7913B9A752}"/>
              </a:ext>
            </a:extLst>
          </p:cNvPr>
          <p:cNvCxnSpPr/>
          <p:nvPr/>
        </p:nvCxnSpPr>
        <p:spPr>
          <a:xfrm>
            <a:off x="3225800" y="2755900"/>
            <a:ext cx="83566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CD3810E-0AE2-17BF-98F1-9B65AD18C8EC}"/>
              </a:ext>
            </a:extLst>
          </p:cNvPr>
          <p:cNvSpPr txBox="1"/>
          <p:nvPr/>
        </p:nvSpPr>
        <p:spPr>
          <a:xfrm>
            <a:off x="609600" y="28955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8CB6FE9-CD5B-426D-A930-6CA3F18728EA}"/>
              </a:ext>
            </a:extLst>
          </p:cNvPr>
          <p:cNvSpPr txBox="1"/>
          <p:nvPr/>
        </p:nvSpPr>
        <p:spPr>
          <a:xfrm>
            <a:off x="1282700" y="28955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已有方法
学到了什么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BB28DE-60A7-009B-909F-F18757C6715A}"/>
              </a:ext>
            </a:extLst>
          </p:cNvPr>
          <p:cNvSpPr txBox="1"/>
          <p:nvPr/>
        </p:nvSpPr>
        <p:spPr>
          <a:xfrm>
            <a:off x="3225800" y="28955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chemCPA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用分子结构替代药物编号，使新分子可被编码；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等学习细胞和基因表征，使预测依赖细胞背景。已有模型能够学习化学特征与响应的统计关联。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2AC5007-40F1-4899-06F1-EF5F7380C267}"/>
              </a:ext>
            </a:extLst>
          </p:cNvPr>
          <p:cNvCxnSpPr/>
          <p:nvPr/>
        </p:nvCxnSpPr>
        <p:spPr>
          <a:xfrm>
            <a:off x="3225800" y="3759200"/>
            <a:ext cx="83566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00BBC09E-20E9-E3B0-ED03-FFD6825A213D}"/>
              </a:ext>
            </a:extLst>
          </p:cNvPr>
          <p:cNvSpPr txBox="1"/>
          <p:nvPr/>
        </p:nvSpPr>
        <p:spPr>
          <a:xfrm>
            <a:off x="609600" y="38988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DD738E-D499-74F8-6493-1BDE6C54294D}"/>
              </a:ext>
            </a:extLst>
          </p:cNvPr>
          <p:cNvSpPr txBox="1"/>
          <p:nvPr/>
        </p:nvSpPr>
        <p:spPr>
          <a:xfrm>
            <a:off x="1282700" y="38988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外推还缺少
什么信息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A510157-D60D-B80F-5D88-1F8EF323F026}"/>
              </a:ext>
            </a:extLst>
          </p:cNvPr>
          <p:cNvSpPr txBox="1"/>
          <p:nvPr/>
        </p:nvSpPr>
        <p:spPr>
          <a:xfrm>
            <a:off x="3225800" y="38988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结构编码没有显式要求保留靶点、抑制／激活方向与基因功能。响应数据稀疏时，这些作用关系不易完整学到。例如，同靶点药物结构可能差异较大，结构相似也不保证机制相同。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F182B732-B511-F8F1-3082-BE984DC2C759}"/>
              </a:ext>
            </a:extLst>
          </p:cNvPr>
          <p:cNvCxnSpPr/>
          <p:nvPr/>
        </p:nvCxnSpPr>
        <p:spPr>
          <a:xfrm>
            <a:off x="3225800" y="4762500"/>
            <a:ext cx="83566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15A02C0-5009-E9D3-DB2F-55593B4573D9}"/>
              </a:ext>
            </a:extLst>
          </p:cNvPr>
          <p:cNvSpPr txBox="1"/>
          <p:nvPr/>
        </p:nvSpPr>
        <p:spPr>
          <a:xfrm>
            <a:off x="609600" y="49021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737ED1-BEDA-B8BF-2877-807492E549C1}"/>
              </a:ext>
            </a:extLst>
          </p:cNvPr>
          <p:cNvSpPr txBox="1"/>
          <p:nvPr/>
        </p:nvSpPr>
        <p:spPr>
          <a:xfrm>
            <a:off x="1282700" y="49021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作者提出的
研究假设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7396683-16F0-BE1C-3D11-AA4EDAE193EE}"/>
              </a:ext>
            </a:extLst>
          </p:cNvPr>
          <p:cNvSpPr txBox="1"/>
          <p:nvPr/>
        </p:nvSpPr>
        <p:spPr>
          <a:xfrm>
            <a:off x="3225800" y="49021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把公共药物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基因与基因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基因知识用于表示预训练，再学习细胞条件下的表达响应。检验的是机制知识能否改善未测药物外推；预测表达变化还需要功能实验来连接药效。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BF9515F-43CF-EB33-6B25-780DC82FCF12}"/>
              </a:ext>
            </a:extLst>
          </p:cNvPr>
          <p:cNvSpPr txBox="1"/>
          <p:nvPr/>
        </p:nvSpPr>
        <p:spPr>
          <a:xfrm>
            <a:off x="609600" y="60197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“抑制靶点”描述蛋白功能作用；靶点对应基因的 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不一定下调，细胞可能产生反馈补偿。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8BB21AEE-24B6-5514-5B2B-7B3E7411DF5A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任务与总体框架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D98F95-8015-E141-A51E-D11CBB3383A0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两阶段训练，以及两种难度不同的泛化任务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07C515-FB42-06A9-2DC4-DA121CF3056E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预训练学习机制相关表示；响应训练学习药物条件与细胞状态怎样共同影响表达。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4E92E30-4034-B97C-1580-15FC30D88B3A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A97EC7D-434E-BF65-CB82-C388D2F64951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nb-NO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 / Methods / Dataset splitting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A3F3F7-FF33-8B71-FE69-A1B35A622563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377A2F9-9E55-CF43-F37E-3D964D62068C}"/>
              </a:ext>
            </a:extLst>
          </p:cNvPr>
          <p:cNvSpPr txBox="1"/>
          <p:nvPr/>
        </p:nvSpPr>
        <p:spPr>
          <a:xfrm>
            <a:off x="609600" y="18922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阶段一  公共知识预训练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68DB5B4-F245-ED26-843E-B173E04230C4}"/>
              </a:ext>
            </a:extLst>
          </p:cNvPr>
          <p:cNvSpPr txBox="1"/>
          <p:nvPr/>
        </p:nvSpPr>
        <p:spPr>
          <a:xfrm>
            <a:off x="609600" y="2298699"/>
            <a:ext cx="5105400" cy="107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的实体属性和有向关系参与对比学习。结构、文字与蛋白序列映射到共享空间，得到知识增强的药物与基因表示。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5A5C2B-16EA-7C73-2214-975F338DEB34}"/>
              </a:ext>
            </a:extLst>
          </p:cNvPr>
          <p:cNvSpPr txBox="1"/>
          <p:nvPr/>
        </p:nvSpPr>
        <p:spPr>
          <a:xfrm>
            <a:off x="6477000" y="18922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阶段二  扰动响应训练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A9CFA3-ECF1-28D6-7405-367A196BA5C2}"/>
              </a:ext>
            </a:extLst>
          </p:cNvPr>
          <p:cNvSpPr txBox="1"/>
          <p:nvPr/>
        </p:nvSpPr>
        <p:spPr>
          <a:xfrm>
            <a:off x="6477000" y="2298699"/>
            <a:ext cx="5105400" cy="107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已测对照群体与处理群体提供监督。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编码细胞背景，知识增强药物与基因表示进入预测器，输出处理后的基因表达。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A6A65EB-CFD8-BF50-8D99-BA4723032F35}"/>
              </a:ext>
            </a:extLst>
          </p:cNvPr>
          <p:cNvCxnSpPr/>
          <p:nvPr/>
        </p:nvCxnSpPr>
        <p:spPr>
          <a:xfrm>
            <a:off x="609600" y="3568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200B106-E50A-DA46-0656-898F6C79D332}"/>
              </a:ext>
            </a:extLst>
          </p:cNvPr>
          <p:cNvSpPr txBox="1"/>
          <p:nvPr/>
        </p:nvSpPr>
        <p:spPr>
          <a:xfrm>
            <a:off x="609600" y="3809999"/>
            <a:ext cx="5334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预测输入：对照表达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、药物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SMILES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、剂量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339D3B9-FBAE-5F8B-54C5-E4D929E32380}"/>
              </a:ext>
            </a:extLst>
          </p:cNvPr>
          <p:cNvSpPr txBox="1"/>
          <p:nvPr/>
        </p:nvSpPr>
        <p:spPr>
          <a:xfrm>
            <a:off x="6477000" y="3809999"/>
            <a:ext cx="51054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预测输出：处理后表达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x̂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，以及变化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Δx̂ = x̂ − x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46A9E24-A843-0085-3B1F-27CEE404DBA5}"/>
              </a:ext>
            </a:extLst>
          </p:cNvPr>
          <p:cNvSpPr txBox="1"/>
          <p:nvPr/>
        </p:nvSpPr>
        <p:spPr>
          <a:xfrm>
            <a:off x="609600" y="45973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未见细胞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药物组合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B3A04A0-E12B-C849-1011-27E827052E41}"/>
              </a:ext>
            </a:extLst>
          </p:cNvPr>
          <p:cNvSpPr txBox="1"/>
          <p:nvPr/>
        </p:nvSpPr>
        <p:spPr>
          <a:xfrm>
            <a:off x="609600" y="5003799"/>
            <a:ext cx="51054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按每个细胞背景留出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5%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药物配对，药物在其他背景仍可出现。例如：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，但其他细胞测过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。主要检验组合与背景泛化。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417A67-B3BD-EE7A-7802-C11A4F43B9B6}"/>
              </a:ext>
            </a:extLst>
          </p:cNvPr>
          <p:cNvSpPr txBox="1"/>
          <p:nvPr/>
        </p:nvSpPr>
        <p:spPr>
          <a:xfrm>
            <a:off x="6477000" y="45973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整种药物未测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42BA467-5868-2898-C06F-40439A101780}"/>
              </a:ext>
            </a:extLst>
          </p:cNvPr>
          <p:cNvSpPr txBox="1"/>
          <p:nvPr/>
        </p:nvSpPr>
        <p:spPr>
          <a:xfrm>
            <a:off x="6477000" y="5003799"/>
            <a:ext cx="51054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移除留出药物的全部响应，同时移除知识图谱中的实体、别名与关联边。模型只能把其他实体学到的规律外推到新结构，避免直接利用该药的靶点答案。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46F40E-B2ED-5CC9-24C7-ED8F30D8EB0B}"/>
              </a:ext>
            </a:extLst>
          </p:cNvPr>
          <p:cNvSpPr txBox="1"/>
          <p:nvPr/>
        </p:nvSpPr>
        <p:spPr>
          <a:xfrm>
            <a:off x="609600" y="60197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基准各自在数据集内部训练与留出评测；上述实验不等同于跨数据集、跨平台迁移。</a:t>
            </a:r>
          </a:p>
        </p:txBody>
      </p:sp>
    </p:spTree>
    <p:extLst>
      <p:ext uri="{BB962C8B-B14F-4D97-AF65-F5344CB8AC3E}">
        <p14:creationId xmlns:p14="http://schemas.microsoft.com/office/powerpoint/2010/main" val="337402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67D9730-2C39-4697-49F5-322DAABFF612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知识预训练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635AAE-04D9-84CF-C4AE-226747E557B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实体属性对齐与有向关系对齐怎样实现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78EA84-155F-8386-9D8C-691DE66C5341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个资源；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187,089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个药物、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22,924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个基因；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428,192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条药物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基因边、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266,054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条基因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基因边。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149439F-0B22-3BDA-E68E-31B780BBFFDC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AA0D15D-EEAA-42B8-6BF0-08DD8DEEBB1A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1a–b / Methods equations 2–5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CC8E42-514F-C6AC-9B90-A1FBFCD99D50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6E4467-3177-2C20-FEA3-4A99222889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25076"/>
            <a:ext cx="5143500" cy="27919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1449102-3C4D-4CE0-0045-F15A2195D995}"/>
              </a:ext>
            </a:extLst>
          </p:cNvPr>
          <p:cNvSpPr txBox="1"/>
          <p:nvPr/>
        </p:nvSpPr>
        <p:spPr>
          <a:xfrm>
            <a:off x="609600" y="4940299"/>
            <a:ext cx="5143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属性编码：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BioBERT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处理名称／描述；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MoleculeSTM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处理结构；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ESM-2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处理蛋白序列。后两者冻结，接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层可训练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适配器。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97A9CC-68A5-57B5-A823-CBDB778B887E}"/>
              </a:ext>
            </a:extLst>
          </p:cNvPr>
          <p:cNvSpPr txBox="1"/>
          <p:nvPr/>
        </p:nvSpPr>
        <p:spPr>
          <a:xfrm>
            <a:off x="609600" y="5841999"/>
            <a:ext cx="5143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输出是机制相关的共享表示。已知关系提供先验，不能据此声称已识别因果机制。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0001EC-F572-58C3-3F61-01D586882924}"/>
              </a:ext>
            </a:extLst>
          </p:cNvPr>
          <p:cNvSpPr txBox="1"/>
          <p:nvPr/>
        </p:nvSpPr>
        <p:spPr>
          <a:xfrm>
            <a:off x="6337300" y="1892299"/>
            <a:ext cx="5245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属性对齐  同一实体的多种证据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F03586-74F5-1725-58A2-ADB9CA803591}"/>
              </a:ext>
            </a:extLst>
          </p:cNvPr>
          <p:cNvSpPr txBox="1"/>
          <p:nvPr/>
        </p:nvSpPr>
        <p:spPr>
          <a:xfrm>
            <a:off x="6337300" y="2298699"/>
            <a:ext cx="52451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实体名称向量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zᵢ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作为共同参照。把同一药物的结构、同一蛋白的序列及功能描述作为正对；批次中的其他实体作为负对。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731719-697E-E25B-D72F-98654C1C2647}"/>
              </a:ext>
            </a:extLst>
          </p:cNvPr>
          <p:cNvSpPr txBox="1"/>
          <p:nvPr/>
        </p:nvSpPr>
        <p:spPr>
          <a:xfrm>
            <a:off x="6337300" y="3301999"/>
            <a:ext cx="5245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关系对齐  区分源实体与目标实体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D707EE-83E6-0072-9B9C-F3EF9D824D97}"/>
              </a:ext>
            </a:extLst>
          </p:cNvPr>
          <p:cNvSpPr txBox="1"/>
          <p:nvPr/>
        </p:nvSpPr>
        <p:spPr>
          <a:xfrm>
            <a:off x="6337300" y="3708399"/>
            <a:ext cx="5245100" cy="1358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关系文本编码为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zᵢⱼ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有序拼接：
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zᵢ→ⱼ = MLP([zᵢ, zᵢⱼ])
zⱼ←ᵢ = MLP([zᵢⱼ, zⱼ])
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将关系条件化表示与相连实体对齐，保留方向与作用语义。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73C88F-BD24-8017-15E4-72129A0E6307}"/>
              </a:ext>
            </a:extLst>
          </p:cNvPr>
          <p:cNvSpPr txBox="1"/>
          <p:nvPr/>
        </p:nvSpPr>
        <p:spPr>
          <a:xfrm>
            <a:off x="6337300" y="5181599"/>
            <a:ext cx="5245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InfoNCE 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拉近正对、区分负对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8DFEE2-69C2-4B43-CE1F-675AD5E0F7FD}"/>
              </a:ext>
            </a:extLst>
          </p:cNvPr>
          <p:cNvSpPr txBox="1"/>
          <p:nvPr/>
        </p:nvSpPr>
        <p:spPr>
          <a:xfrm>
            <a:off x="6337300" y="5587999"/>
            <a:ext cx="52451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属性与关系两类监督共同训练。相似度越高，正确配对的概率越大；温度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τ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控制区分强度，让结构编码继承公共机制知识。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3AE0B6-1D14-B671-0140-B1321B0E3E0B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响应预测器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BDC8E8-E572-B1E3-A10D-676BDD448CA8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药物、剂量和细胞背景怎样进入预测器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67CB62-E71A-AD70-5812-42E93261E7A6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输入信息分为细胞状态、基因知识和药物条件；它们在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中共同决定处理后表达。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2F8AF3A-5AF7-CB67-5229-990E7E9ABF7D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6CBBF9B-31B9-F012-D366-F5043D09B13C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1c / Methods equations 6–12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DA19BA-C95E-1DFB-31F9-CE741829A325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AE9E12B-F51F-B90F-FE6D-C09481732C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35387"/>
            <a:ext cx="3340100" cy="311742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20A79E2-D501-F048-6F66-CCF038573587}"/>
              </a:ext>
            </a:extLst>
          </p:cNvPr>
          <p:cNvSpPr txBox="1"/>
          <p:nvPr/>
        </p:nvSpPr>
        <p:spPr>
          <a:xfrm>
            <a:off x="609600" y="5460999"/>
            <a:ext cx="33401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是供模型处理的向量单元。
细胞 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概括全局状态；
基因 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保留基因级信息。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C224B9-DD08-4652-036F-697DBCA98A54}"/>
              </a:ext>
            </a:extLst>
          </p:cNvPr>
          <p:cNvSpPr txBox="1"/>
          <p:nvPr/>
        </p:nvSpPr>
        <p:spPr>
          <a:xfrm>
            <a:off x="4495800" y="1892299"/>
            <a:ext cx="7086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细胞与基因分支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9E326F-ECEE-A78D-2C9A-0207D8005B50}"/>
              </a:ext>
            </a:extLst>
          </p:cNvPr>
          <p:cNvSpPr txBox="1"/>
          <p:nvPr/>
        </p:nvSpPr>
        <p:spPr>
          <a:xfrm>
            <a:off x="4495800" y="2298699"/>
            <a:ext cx="70866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SE-600M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从对照表达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得到细胞向量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与基因向量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。蛋白知识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Zseq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拼接，经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得到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Tfuse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，补充基因功能先验。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F9C281-781F-AB81-440F-E6B69ED9CBD5}"/>
              </a:ext>
            </a:extLst>
          </p:cNvPr>
          <p:cNvSpPr txBox="1"/>
          <p:nvPr/>
        </p:nvSpPr>
        <p:spPr>
          <a:xfrm>
            <a:off x="4495800" y="3124199"/>
            <a:ext cx="7086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药物与剂量分支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7E6279-D2B0-0081-7EDA-EC785E7BB314}"/>
              </a:ext>
            </a:extLst>
          </p:cNvPr>
          <p:cNvSpPr txBox="1"/>
          <p:nvPr/>
        </p:nvSpPr>
        <p:spPr>
          <a:xfrm>
            <a:off x="4495800" y="3530599"/>
            <a:ext cx="7086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知识增强的分子向量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zmol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按对数剂量缩放：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z̃ = δ · zmol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。序列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[z̃, h, Tfuse]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，自注意力建模扰动与细胞条件的关联。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9873C4-BC21-0BFE-38B7-CCCF94FF72BD}"/>
              </a:ext>
            </a:extLst>
          </p:cNvPr>
          <p:cNvSpPr txBox="1"/>
          <p:nvPr/>
        </p:nvSpPr>
        <p:spPr>
          <a:xfrm>
            <a:off x="4495800" y="4368799"/>
            <a:ext cx="7086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输出与双空间监督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65122E9-B8A8-ECD7-C811-B7717ADB510D}"/>
              </a:ext>
            </a:extLst>
          </p:cNvPr>
          <p:cNvSpPr txBox="1"/>
          <p:nvPr/>
        </p:nvSpPr>
        <p:spPr>
          <a:xfrm>
            <a:off x="4495800" y="4775199"/>
            <a:ext cx="70866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输出细胞向量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ĥ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解码为表达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x̂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。真实处理细胞另经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编码为参考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；损失同时匹配处理群体平均嵌入和平均表达。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FE6AC4-FB2C-66E3-0EF3-0FE81659933D}"/>
              </a:ext>
            </a:extLst>
          </p:cNvPr>
          <p:cNvSpPr txBox="1"/>
          <p:nvPr/>
        </p:nvSpPr>
        <p:spPr>
          <a:xfrm>
            <a:off x="4495800" y="5638799"/>
            <a:ext cx="7086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Lpert = MSE(</a:t>
            </a:r>
            <a:r>
              <a:rPr lang="zh-CN" altLang="en-US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 </a:t>
            </a: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ĥ, </a:t>
            </a:r>
            <a:r>
              <a:rPr lang="zh-CN" altLang="en-US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 </a:t>
            </a: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h) + </a:t>
            </a:r>
            <a:r>
              <a:rPr lang="el-GR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λ · </a:t>
            </a: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MSE(</a:t>
            </a:r>
            <a:r>
              <a:rPr lang="zh-CN" altLang="en-US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 </a:t>
            </a: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x̂, </a:t>
            </a:r>
            <a:r>
              <a:rPr lang="zh-CN" altLang="en-US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 </a:t>
            </a: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x)</a:t>
            </a:r>
            <a:endParaRPr lang="zh-CN" altLang="en-US" sz="16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67C745-657E-8A8A-4D35-109AA82B152E}"/>
              </a:ext>
            </a:extLst>
          </p:cNvPr>
          <p:cNvSpPr txBox="1"/>
          <p:nvPr/>
        </p:nvSpPr>
        <p:spPr>
          <a:xfrm>
            <a:off x="4495800" y="5968999"/>
            <a:ext cx="7086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损失没有要求对照与处理细胞逐一配对。群体均值准确仍不足以证明每个单细胞的分布与轨迹准确。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225F77-6FE1-7A41-DC4A-0844652536EA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结果与证据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93681A-7B87-B93E-4131-828FA69966E7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未测药物预测的收益来自哪里？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6B0154-A75B-8729-11AD-583BB54447D4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基准、消融与计算筛选分别回答预测是否改善、知识是否有贡献、结果是否有排序价值。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7BB2470-0A15-1C48-4B8A-8C3A1FFFBD14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B310B6D-4948-38C8-8533-B94329E45AF5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2–5 / Methods</a:t>
            </a: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；主结果依论文数字重绘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929FB6-34E8-FD83-ED38-2E5DE0846679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30A6E9-578C-9C36-4A1B-7237B1D8566F}"/>
              </a:ext>
            </a:extLst>
          </p:cNvPr>
          <p:cNvSpPr txBox="1"/>
          <p:nvPr/>
        </p:nvSpPr>
        <p:spPr>
          <a:xfrm>
            <a:off x="609600" y="1828799"/>
            <a:ext cx="5143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Tahoe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：评测选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条细胞系
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OP3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类免疫细胞，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144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种化合物
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SciPlex3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条癌细胞系，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187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种化合物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50C499-3BD4-FA50-23D9-EB0FB423BC18}"/>
              </a:ext>
            </a:extLst>
          </p:cNvPr>
          <p:cNvSpPr txBox="1"/>
          <p:nvPr/>
        </p:nvSpPr>
        <p:spPr>
          <a:xfrm>
            <a:off x="6477000" y="1828799"/>
            <a:ext cx="51054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指标：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top-50 DEG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Δ
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比较预测与实测的“处理减对照”变化。
以下为相对最强基线提升，不是百分点。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204BC65-677A-8142-BEE6-834E58F7F571}"/>
              </a:ext>
            </a:extLst>
          </p:cNvPr>
          <p:cNvCxnSpPr/>
          <p:nvPr/>
        </p:nvCxnSpPr>
        <p:spPr>
          <a:xfrm>
            <a:off x="609600" y="2806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EF2AF5A-67BA-5350-8766-1A7375FE930D}"/>
              </a:ext>
            </a:extLst>
          </p:cNvPr>
          <p:cNvSpPr txBox="1"/>
          <p:nvPr/>
        </p:nvSpPr>
        <p:spPr>
          <a:xfrm>
            <a:off x="609600" y="3035299"/>
            <a:ext cx="51435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整药留出：响应预测提升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C80FDB-A6E5-F9E6-1E56-C46956526AA5}"/>
              </a:ext>
            </a:extLst>
          </p:cNvPr>
          <p:cNvSpPr txBox="1"/>
          <p:nvPr/>
        </p:nvSpPr>
        <p:spPr>
          <a:xfrm>
            <a:off x="609600" y="3670299"/>
            <a:ext cx="1206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Tahoe</a:t>
            </a:r>
            <a:endParaRPr lang="zh-CN" altLang="en-US" sz="155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D865D6-E47A-986E-F129-206CE249DC64}"/>
              </a:ext>
            </a:extLst>
          </p:cNvPr>
          <p:cNvSpPr/>
          <p:nvPr/>
        </p:nvSpPr>
        <p:spPr>
          <a:xfrm>
            <a:off x="1905000" y="3683000"/>
            <a:ext cx="149860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B3914B-AAA0-79E1-F0FF-8624359FF456}"/>
              </a:ext>
            </a:extLst>
          </p:cNvPr>
          <p:cNvSpPr txBox="1"/>
          <p:nvPr/>
        </p:nvSpPr>
        <p:spPr>
          <a:xfrm>
            <a:off x="3530600" y="3670299"/>
            <a:ext cx="1206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+11.8%</a:t>
            </a:r>
            <a:endParaRPr lang="zh-CN" altLang="en-US" sz="16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3F1E8D-1D89-EBB5-42D8-6A7697A66B8F}"/>
              </a:ext>
            </a:extLst>
          </p:cNvPr>
          <p:cNvSpPr txBox="1"/>
          <p:nvPr/>
        </p:nvSpPr>
        <p:spPr>
          <a:xfrm>
            <a:off x="609600" y="4292599"/>
            <a:ext cx="1206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OP3</a:t>
            </a:r>
            <a:endParaRPr lang="zh-CN" altLang="en-US" sz="155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0C8133-A999-A65B-2133-E9FFFD1C6363}"/>
              </a:ext>
            </a:extLst>
          </p:cNvPr>
          <p:cNvSpPr/>
          <p:nvPr/>
        </p:nvSpPr>
        <p:spPr>
          <a:xfrm>
            <a:off x="1905000" y="4305300"/>
            <a:ext cx="251460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BFD6F3-684C-9CC6-9A14-EC7A7E2FC892}"/>
              </a:ext>
            </a:extLst>
          </p:cNvPr>
          <p:cNvSpPr txBox="1"/>
          <p:nvPr/>
        </p:nvSpPr>
        <p:spPr>
          <a:xfrm>
            <a:off x="4546600" y="4292599"/>
            <a:ext cx="1206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+19.8%</a:t>
            </a:r>
            <a:endParaRPr lang="zh-CN" altLang="en-US" sz="16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574658-70CD-7CA4-3A25-7C1CD26B3EA5}"/>
              </a:ext>
            </a:extLst>
          </p:cNvPr>
          <p:cNvSpPr txBox="1"/>
          <p:nvPr/>
        </p:nvSpPr>
        <p:spPr>
          <a:xfrm>
            <a:off x="609600" y="4914899"/>
            <a:ext cx="1206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SciPlex3</a:t>
            </a:r>
            <a:endParaRPr lang="zh-CN" altLang="en-US" sz="155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070DC0-E50C-CA78-74E2-06783DC55A8C}"/>
              </a:ext>
            </a:extLst>
          </p:cNvPr>
          <p:cNvSpPr/>
          <p:nvPr/>
        </p:nvSpPr>
        <p:spPr>
          <a:xfrm>
            <a:off x="1905000" y="4927600"/>
            <a:ext cx="132080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095462-AC53-C67A-CF58-9AC708F1D5E4}"/>
              </a:ext>
            </a:extLst>
          </p:cNvPr>
          <p:cNvSpPr txBox="1"/>
          <p:nvPr/>
        </p:nvSpPr>
        <p:spPr>
          <a:xfrm>
            <a:off x="3352800" y="4914899"/>
            <a:ext cx="1206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6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+10.4%</a:t>
            </a:r>
            <a:endParaRPr lang="zh-CN" altLang="en-US" sz="16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051544-C57A-48FB-3A4C-C3A39B7BEDD7}"/>
              </a:ext>
            </a:extLst>
          </p:cNvPr>
          <p:cNvSpPr txBox="1"/>
          <p:nvPr/>
        </p:nvSpPr>
        <p:spPr>
          <a:xfrm>
            <a:off x="6477000" y="30352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知识消融  靶点关系贡献最突出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C6AC7E-1110-E5BF-7164-2477C51CF979}"/>
              </a:ext>
            </a:extLst>
          </p:cNvPr>
          <p:cNvSpPr txBox="1"/>
          <p:nvPr/>
        </p:nvSpPr>
        <p:spPr>
          <a:xfrm>
            <a:off x="6477000" y="3441699"/>
            <a:ext cx="51054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去掉药物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基因边，性能下降最大；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PrimeKG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</a:t>
            </a:r>
            <a:r>
              <a:rPr lang="el-GR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11.4%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。更丰富机制知识与响应数据提供互补收益。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FCE87B-5347-37BC-C04D-04D7BEAF22FE}"/>
              </a:ext>
            </a:extLst>
          </p:cNvPr>
          <p:cNvSpPr txBox="1"/>
          <p:nvPr/>
        </p:nvSpPr>
        <p:spPr>
          <a:xfrm>
            <a:off x="6477000" y="44576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计算筛选  检查应用价值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3C659E-5A7D-870F-40E3-35231A4BB7DE}"/>
              </a:ext>
            </a:extLst>
          </p:cNvPr>
          <p:cNvSpPr txBox="1"/>
          <p:nvPr/>
        </p:nvSpPr>
        <p:spPr>
          <a:xfrm>
            <a:off x="6477000" y="4864099"/>
            <a:ext cx="51054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58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个留出候选中，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个已批准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NSCLC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药物有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个进入前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。结合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GSEA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检查通路一致性，为实验优先级提供线索。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5A7214-B286-3BBB-D6EC-D3D3A970C40D}"/>
              </a:ext>
            </a:extLst>
          </p:cNvPr>
          <p:cNvSpPr txBox="1"/>
          <p:nvPr/>
        </p:nvSpPr>
        <p:spPr>
          <a:xfrm>
            <a:off x="609600" y="5854699"/>
            <a:ext cx="109728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证据范围：数据集内部外推与计算排序。尚无新的湿实验药效验证，也未直接证明临床疗效或单细胞异质性恢复。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790" y="229870"/>
            <a:ext cx="5179695" cy="6398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7EA745-738A-D579-633C-D584B9BCEA5C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7C6C06-71D0-2A2D-54DD-1C23B1499245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的问题：怎样让文献假设接受实验反馈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E22CFC-A764-E74B-4639-0E970DBF0F41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案例：面向干性年龄相关性黄斑变性（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dAMD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），寻找增强视网膜色素上皮（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）吞噬功能的再利用药物。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17456CF-FBDA-33AF-AE41-8F5500D034FB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38D432D-1D60-AD58-733E-D15D0135B2E1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Nature, 2026, Introduction / Fig. 1–2 / Discussion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1A219-A5BD-058C-8ADE-38C310BADDB4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4E62FC-FE64-82E6-FD45-8CFB36F95180}"/>
              </a:ext>
            </a:extLst>
          </p:cNvPr>
          <p:cNvSpPr txBox="1"/>
          <p:nvPr/>
        </p:nvSpPr>
        <p:spPr>
          <a:xfrm>
            <a:off x="609600" y="18922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1D8CBC-9663-98C9-419A-327998E03FCA}"/>
              </a:ext>
            </a:extLst>
          </p:cNvPr>
          <p:cNvSpPr txBox="1"/>
          <p:nvPr/>
        </p:nvSpPr>
        <p:spPr>
          <a:xfrm>
            <a:off x="1282700" y="18922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疾病与
可测目标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AE05EC-67EE-8670-8BB8-2B8261B4AD59}"/>
              </a:ext>
            </a:extLst>
          </p:cNvPr>
          <p:cNvSpPr txBox="1"/>
          <p:nvPr/>
        </p:nvSpPr>
        <p:spPr>
          <a:xfrm>
            <a:off x="3225800" y="18922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清除光感受器外节并维持视网膜稳态。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dAMD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功能下降相关；论文把吞噬作为体外功能读数，筛选可能改善该过程的已有药物。体外读数与患者疗效仍有距离。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C8B3FE8-0FE5-3F87-5071-003F3242BE41}"/>
              </a:ext>
            </a:extLst>
          </p:cNvPr>
          <p:cNvCxnSpPr/>
          <p:nvPr/>
        </p:nvCxnSpPr>
        <p:spPr>
          <a:xfrm>
            <a:off x="3225800" y="2755900"/>
            <a:ext cx="83566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46D1B1B-3675-7676-9FB4-23F07B1BF45C}"/>
              </a:ext>
            </a:extLst>
          </p:cNvPr>
          <p:cNvSpPr txBox="1"/>
          <p:nvPr/>
        </p:nvSpPr>
        <p:spPr>
          <a:xfrm>
            <a:off x="609600" y="28955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EC852B-FE10-EFA7-E083-C6B966C903BA}"/>
              </a:ext>
            </a:extLst>
          </p:cNvPr>
          <p:cNvSpPr txBox="1"/>
          <p:nvPr/>
        </p:nvSpPr>
        <p:spPr>
          <a:xfrm>
            <a:off x="1282700" y="28955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已有工具
能完成什么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89ECFA-FAB9-EB1B-EF28-D94FF32A2A8B}"/>
              </a:ext>
            </a:extLst>
          </p:cNvPr>
          <p:cNvSpPr txBox="1"/>
          <p:nvPr/>
        </p:nvSpPr>
        <p:spPr>
          <a:xfrm>
            <a:off x="3225800" y="28955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PaperQA2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等检索系统可聚合文献、提供带来源的证据；代码执行智能体能分析实验数据。已有能力分别覆盖假设生成与计算分析，但需要研究流程把它们衔接。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7996DB6-7B9E-29AD-5366-069B793BE061}"/>
              </a:ext>
            </a:extLst>
          </p:cNvPr>
          <p:cNvCxnSpPr/>
          <p:nvPr/>
        </p:nvCxnSpPr>
        <p:spPr>
          <a:xfrm>
            <a:off x="3225800" y="3759200"/>
            <a:ext cx="83566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C588A14-27E6-582E-7221-8060D980D1DB}"/>
              </a:ext>
            </a:extLst>
          </p:cNvPr>
          <p:cNvSpPr txBox="1"/>
          <p:nvPr/>
        </p:nvSpPr>
        <p:spPr>
          <a:xfrm>
            <a:off x="609600" y="38988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C5B86DD-49DC-38B7-3752-1B21ED200503}"/>
              </a:ext>
            </a:extLst>
          </p:cNvPr>
          <p:cNvSpPr txBox="1"/>
          <p:nvPr/>
        </p:nvSpPr>
        <p:spPr>
          <a:xfrm>
            <a:off x="1282700" y="38988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作者要补上
什么环节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5E3382F-B034-33BD-CA30-7C1CFC9656B0}"/>
              </a:ext>
            </a:extLst>
          </p:cNvPr>
          <p:cNvSpPr txBox="1"/>
          <p:nvPr/>
        </p:nvSpPr>
        <p:spPr>
          <a:xfrm>
            <a:off x="3225800" y="38988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候选有文献依据仍可能实验无效。需要把疾病机制转成可测实验，分析原始数据，再用新观察改变候选和后续研究方向；这样才能检查假设是否得到实验证据支持。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F0A6F2A-9F34-DC52-E0AC-AFF0BDEC0978}"/>
              </a:ext>
            </a:extLst>
          </p:cNvPr>
          <p:cNvCxnSpPr/>
          <p:nvPr/>
        </p:nvCxnSpPr>
        <p:spPr>
          <a:xfrm>
            <a:off x="3225800" y="4762500"/>
            <a:ext cx="83566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9B64529-B353-A1AD-7F1A-56DE9611818D}"/>
              </a:ext>
            </a:extLst>
          </p:cNvPr>
          <p:cNvSpPr txBox="1"/>
          <p:nvPr/>
        </p:nvSpPr>
        <p:spPr>
          <a:xfrm>
            <a:off x="609600" y="4902199"/>
            <a:ext cx="4572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2E5B397-721E-D402-A868-FC24979F2210}"/>
              </a:ext>
            </a:extLst>
          </p:cNvPr>
          <p:cNvSpPr txBox="1"/>
          <p:nvPr/>
        </p:nvSpPr>
        <p:spPr>
          <a:xfrm>
            <a:off x="1282700" y="4902199"/>
            <a:ext cx="17780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
研究贡献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729CB1A-5F6A-39A7-183A-EACB59060560}"/>
              </a:ext>
            </a:extLst>
          </p:cNvPr>
          <p:cNvSpPr txBox="1"/>
          <p:nvPr/>
        </p:nvSpPr>
        <p:spPr>
          <a:xfrm>
            <a:off x="3225800" y="4902199"/>
            <a:ext cx="83566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协调检索、候选排序和可执行分析，完成两轮真实实验反馈。研究者审查候选、制定并执行湿实验协议；系统贡献主要体现在阶段衔接与新证据驱动的更新。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973B70-E911-C254-9EEF-092A4100935F}"/>
              </a:ext>
            </a:extLst>
          </p:cNvPr>
          <p:cNvSpPr txBox="1"/>
          <p:nvPr/>
        </p:nvSpPr>
        <p:spPr>
          <a:xfrm>
            <a:off x="609600" y="60197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研究路线：吞噬初筛发现 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线索，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RNA-seq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提供机制关联，第二轮选药与原代细胞复核检验可重复性。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B2202D-B508-C1AD-E3CB-679E3CC61064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955A0F-E868-DBFC-2465-3370B1A949D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候选如何排序，原始实验如何变成新证据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1A1FFE-CE53-A69E-1E54-E47F1C714136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综合研究上下文；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PaperQA2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Jupyter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中生成并执行分析代码。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AC632C0-9A2A-8FD6-F178-7EA9E0BF1873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AC3E02B-95B1-F783-1ECD-CBBFC7AF3353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1 / Methods: Robin and Finch implementation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5E4F3C-8260-2264-56B2-48963D55A4BF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B7918F-377A-CBC3-65DE-15378CF3D48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66934"/>
            <a:ext cx="4610100" cy="14065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E24F7E2-9B51-42D3-0111-4312463B1155}"/>
              </a:ext>
            </a:extLst>
          </p:cNvPr>
          <p:cNvSpPr txBox="1"/>
          <p:nvPr/>
        </p:nvSpPr>
        <p:spPr>
          <a:xfrm>
            <a:off x="609600" y="4165599"/>
            <a:ext cx="46101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</a:t>
            </a:r>
            <a:r>
              <a:rPr lang="zh-CN" altLang="en-US" sz="15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：快速检索疾病、机制与检测模型。
</a:t>
            </a:r>
            <a:r>
              <a:rPr lang="en-US" altLang="zh-CN" sz="15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</a:t>
            </a:r>
            <a:r>
              <a:rPr lang="zh-CN" altLang="en-US" sz="15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：深入核对药理证据与局限。
</a:t>
            </a:r>
            <a:r>
              <a:rPr lang="en-US" altLang="zh-CN" sz="15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15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：综合报告、候选与实验观察。
研究者：审查候选、制定并执行协议。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276E32-B8FD-0B0E-5F39-157E4A3E25D8}"/>
              </a:ext>
            </a:extLst>
          </p:cNvPr>
          <p:cNvSpPr txBox="1"/>
          <p:nvPr/>
        </p:nvSpPr>
        <p:spPr>
          <a:xfrm>
            <a:off x="609600" y="5727699"/>
            <a:ext cx="46101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分析输入：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.FCS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流式文件或 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RNA-seq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计数。图中反馈箭头表示用实验新观察更新假设。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A7B5B9-71E9-CD8C-4E4D-041CDFBC49E2}"/>
              </a:ext>
            </a:extLst>
          </p:cNvPr>
          <p:cNvSpPr txBox="1"/>
          <p:nvPr/>
        </p:nvSpPr>
        <p:spPr>
          <a:xfrm>
            <a:off x="5829300" y="1879599"/>
            <a:ext cx="5753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机制报告与候选生成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B1D0E5-74D4-07F2-F639-25C61029B07E}"/>
              </a:ext>
            </a:extLst>
          </p:cNvPr>
          <p:cNvSpPr txBox="1"/>
          <p:nvPr/>
        </p:nvSpPr>
        <p:spPr>
          <a:xfrm>
            <a:off x="5829300" y="2285999"/>
            <a:ext cx="57531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先提出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种潜在机制并评估体外模型，再提出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个治疗假设。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为每个候选形成详细报告，供评审比较。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9A8618-9F3A-B04D-6B4F-E33B3B826776}"/>
              </a:ext>
            </a:extLst>
          </p:cNvPr>
          <p:cNvSpPr txBox="1"/>
          <p:nvPr/>
        </p:nvSpPr>
        <p:spPr>
          <a:xfrm>
            <a:off x="5829300" y="3263899"/>
            <a:ext cx="5753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成对比较与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BTL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89F49F4-7E4F-CCF1-56A3-E3DE9014D6AB}"/>
              </a:ext>
            </a:extLst>
          </p:cNvPr>
          <p:cNvSpPr txBox="1"/>
          <p:nvPr/>
        </p:nvSpPr>
        <p:spPr>
          <a:xfrm>
            <a:off x="5829300" y="3670299"/>
            <a:ext cx="57531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比较两候选的证据强度、药理与方法学。候选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&gt;25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时抽取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300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对，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BTL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汇总偏好：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P(i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胜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j) = exp(sᵢ) / [exp(sᵢ)+exp(sⱼ)]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为拟合强度，排序不是药效概率。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39CCDA-3F85-C377-4E96-B4523E30DD0C}"/>
              </a:ext>
            </a:extLst>
          </p:cNvPr>
          <p:cNvSpPr txBox="1"/>
          <p:nvPr/>
        </p:nvSpPr>
        <p:spPr>
          <a:xfrm>
            <a:off x="5829300" y="4965699"/>
            <a:ext cx="5753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多轨迹执行与共识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3F36CB-C390-BA5B-5F9C-3E183CDDA0CE}"/>
              </a:ext>
            </a:extLst>
          </p:cNvPr>
          <p:cNvSpPr txBox="1"/>
          <p:nvPr/>
        </p:nvSpPr>
        <p:spPr>
          <a:xfrm>
            <a:off x="5829300" y="5372099"/>
            <a:ext cx="57531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edit_cell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编写、修改和执行代码，再提交结论。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条独立轨迹分析同一数据，综合结果并保存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notebook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。分析路径的一致性不能替代独立生物样本。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C8625F-26D2-4633-2D9F-65F117C083CD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139323-D919-D73C-4CB6-A7170C5DF7BF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功能命中怎样推动后续的 </a:t>
            </a:r>
            <a:r>
              <a:rPr lang="en-US" altLang="zh-CN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RNA-seq </a:t>
            </a: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509825-5B7C-4480-FA60-4D7DA1FF9E95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第一轮筛选连接“可测功能”与“机制线索”：先检查吞噬，再分析命中药物伴随的转录变化。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C1BEC7E-7FBF-D1F4-85A5-BA7CC8D4A761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672DEDE-26EB-9FC1-C408-D45FD5086CF7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2–3 / Methods: flow cytometry / RNA-seq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833805-BB34-8954-8DA3-FBB1AD78A0B8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D2B0D7A-6171-5D52-9DDE-C9894D4E721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18669"/>
            <a:ext cx="4699000" cy="130616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01460B2-A088-DEF8-8062-12384ED9B564}"/>
              </a:ext>
            </a:extLst>
          </p:cNvPr>
          <p:cNvSpPr txBox="1"/>
          <p:nvPr/>
        </p:nvSpPr>
        <p:spPr>
          <a:xfrm>
            <a:off x="609600" y="3416299"/>
            <a:ext cx="46990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方法文字：给药 </a:t>
            </a:r>
            <a:r>
              <a:rPr lang="en-US" altLang="zh-CN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h </a:t>
            </a: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后加微球，孵育 </a:t>
            </a:r>
            <a:r>
              <a:rPr lang="en-US" altLang="zh-CN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h</a:t>
            </a: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。原示意图标 </a:t>
            </a:r>
            <a:r>
              <a:rPr lang="en-US" altLang="zh-CN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h</a:t>
            </a: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，两处标注存在差异。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BD7DAD7-68A9-C088-6CF7-4D3525BCF1CA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22" y="4013200"/>
            <a:ext cx="2328956" cy="18415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2E202DA-780E-E221-877D-9DB716EBFCD9}"/>
              </a:ext>
            </a:extLst>
          </p:cNvPr>
          <p:cNvSpPr txBox="1"/>
          <p:nvPr/>
        </p:nvSpPr>
        <p:spPr>
          <a:xfrm>
            <a:off x="3937000" y="4089399"/>
            <a:ext cx="1371600" cy="167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火山图：横轴 </a:t>
            </a:r>
            <a:r>
              <a:rPr lang="en-US" altLang="zh-CN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log₂ </a:t>
            </a:r>
            <a:r>
              <a:rPr lang="zh-CN" altLang="en-US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倍数变化，纵轴 −</a:t>
            </a:r>
            <a:r>
              <a:rPr lang="en-US" altLang="zh-CN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log₁₀ </a:t>
            </a:r>
            <a:r>
              <a:rPr lang="zh-CN" altLang="en-US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校正 </a:t>
            </a:r>
            <a:r>
              <a:rPr lang="en-US" altLang="zh-CN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</a:t>
            </a:r>
            <a:r>
              <a:rPr lang="zh-CN" altLang="en-US" sz="12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值；红色上调、蓝色下调。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78F82F-55EB-32BD-E05D-6D48743D8F9B}"/>
              </a:ext>
            </a:extLst>
          </p:cNvPr>
          <p:cNvSpPr txBox="1"/>
          <p:nvPr/>
        </p:nvSpPr>
        <p:spPr>
          <a:xfrm>
            <a:off x="5867400" y="1841499"/>
            <a:ext cx="5715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定义读数并控制分析质量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7D3CB00-5E2C-1057-83E0-609001269DA7}"/>
              </a:ext>
            </a:extLst>
          </p:cNvPr>
          <p:cNvSpPr txBox="1"/>
          <p:nvPr/>
        </p:nvSpPr>
        <p:spPr>
          <a:xfrm>
            <a:off x="5867400" y="2247899"/>
            <a:ext cx="5715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ARPE-19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细胞。流式门控去除碎片、双细胞与死细胞，吞噬信号用几何平均荧光强度衡量，并以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对照归一化。该读数同时涉及摄取与酸化。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2C19A3-B2A6-51DF-3E1D-6C10D965EE30}"/>
              </a:ext>
            </a:extLst>
          </p:cNvPr>
          <p:cNvSpPr txBox="1"/>
          <p:nvPr/>
        </p:nvSpPr>
        <p:spPr>
          <a:xfrm>
            <a:off x="5867400" y="3428999"/>
            <a:ext cx="5715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Y-27632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线索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E3024AF-EC2F-83C0-7E8B-3C2E18C67384}"/>
              </a:ext>
            </a:extLst>
          </p:cNvPr>
          <p:cNvSpPr txBox="1"/>
          <p:nvPr/>
        </p:nvSpPr>
        <p:spPr>
          <a:xfrm>
            <a:off x="5867400" y="3835399"/>
            <a:ext cx="5715000" cy="927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抑制剂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命中，人工复分析支持。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RNA-seq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做差异分析与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富集，得到肌动蛋白组织、小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GTP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酶和自噬相关变化。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C1BBF24-EBC7-F664-4FC7-97594293C36A}"/>
              </a:ext>
            </a:extLst>
          </p:cNvPr>
          <p:cNvSpPr txBox="1"/>
          <p:nvPr/>
        </p:nvSpPr>
        <p:spPr>
          <a:xfrm>
            <a:off x="5867400" y="4902199"/>
            <a:ext cx="5715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成为新机制假设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3F1D923-DEA6-F505-5F8A-A2CD9F24AADA}"/>
              </a:ext>
            </a:extLst>
          </p:cNvPr>
          <p:cNvSpPr txBox="1"/>
          <p:nvPr/>
        </p:nvSpPr>
        <p:spPr>
          <a:xfrm>
            <a:off x="5867400" y="5308599"/>
            <a:ext cx="57150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倍上调，编码脂质外排泵，提示吞噬与脂质稳态可能相关。该结果提供关联证据；还需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干预、救援及功能实验检验其必要性。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5A82D59-D3C6-CD48-7A50-41D773DEB9FF}"/>
              </a:ext>
            </a:extLst>
          </p:cNvPr>
          <p:cNvSpPr txBox="1"/>
          <p:nvPr/>
        </p:nvSpPr>
        <p:spPr>
          <a:xfrm>
            <a:off x="609600" y="60324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抑制与 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上调之间的观察关系，为下一轮选药提供线索，尚不足以建立完整因果链。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4738F2A-FD03-9370-C4C0-7636EFFF7AE5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第二轮与原代复核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C88645-0795-435C-E3E4-7AC374613DA1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命中，并在不同模型与底物中复核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BCD1AD-8159-B9F3-A2EE-257C8D5F7A91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线索推动第二轮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种候选测试；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是在日本获批用于青光眼的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抑制剂。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332F8ED-A7A8-48AA-CED4-3020E1DE3207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17A84E8-E328-CC91-7A9A-25DC19C62AB9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4 / Methods: ARPE-19 and RPE-SC validation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8FA72B-4E66-FE57-5393-2D6C576C68EA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A651F7-7C67-257D-CD8C-4988106A133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21" y="1917700"/>
            <a:ext cx="6357458" cy="23241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D8C90A3-16A4-0609-3938-AD96B6E1889E}"/>
              </a:ext>
            </a:extLst>
          </p:cNvPr>
          <p:cNvSpPr txBox="1"/>
          <p:nvPr/>
        </p:nvSpPr>
        <p:spPr>
          <a:xfrm>
            <a:off x="609600" y="4444999"/>
            <a:ext cx="63627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左图：相对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的荧光倍数，绿色标出显著命中。
右图：剂量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响应曲线，比较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的效力。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373D19-98D8-1A1A-D3F6-67A20E8F071A}"/>
              </a:ext>
            </a:extLst>
          </p:cNvPr>
          <p:cNvSpPr txBox="1"/>
          <p:nvPr/>
        </p:nvSpPr>
        <p:spPr>
          <a:xfrm>
            <a:off x="609600" y="5257799"/>
            <a:ext cx="63627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ARPE-19</a:t>
            </a: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为对照的 </a:t>
            </a:r>
            <a:r>
              <a:rPr lang="en-US" altLang="zh-CN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1.89 </a:t>
            </a: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3EC3AF-8CB4-59C9-9382-E0523EF8E5E8}"/>
              </a:ext>
            </a:extLst>
          </p:cNvPr>
          <p:cNvSpPr txBox="1"/>
          <p:nvPr/>
        </p:nvSpPr>
        <p:spPr>
          <a:xfrm>
            <a:off x="609600" y="5778499"/>
            <a:ext cx="63627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人工复分析为 </a:t>
            </a:r>
            <a:r>
              <a:rPr lang="en-US" altLang="zh-CN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1.75 </a:t>
            </a: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倍。差异说明分析路径会影响效应估计，需保留可复核代码。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A3DAFF-E19D-8406-301F-CA0931B3E9A7}"/>
              </a:ext>
            </a:extLst>
          </p:cNvPr>
          <p:cNvSpPr txBox="1"/>
          <p:nvPr/>
        </p:nvSpPr>
        <p:spPr>
          <a:xfrm>
            <a:off x="7556500" y="1917699"/>
            <a:ext cx="40259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复核细胞与功能底物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2D6012-D240-DA3F-AFC6-8528D09BBFBB}"/>
              </a:ext>
            </a:extLst>
          </p:cNvPr>
          <p:cNvSpPr txBox="1"/>
          <p:nvPr/>
        </p:nvSpPr>
        <p:spPr>
          <a:xfrm>
            <a:off x="7556500" y="2324099"/>
            <a:ext cx="40259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&gt;60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岁供者的原代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RPE-SC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，底物改为牛光感受器外节。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再次命中；每条件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孔重复。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DE9D84-BE32-D1CE-39B2-829B8D8782C5}"/>
              </a:ext>
            </a:extLst>
          </p:cNvPr>
          <p:cNvSpPr txBox="1"/>
          <p:nvPr/>
        </p:nvSpPr>
        <p:spPr>
          <a:xfrm>
            <a:off x="7556500" y="3619499"/>
            <a:ext cx="40259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复核线索并拓展候选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7A8C92-F396-13E0-DADB-D7366F2C8D27}"/>
              </a:ext>
            </a:extLst>
          </p:cNvPr>
          <p:cNvSpPr txBox="1"/>
          <p:nvPr/>
        </p:nvSpPr>
        <p:spPr>
          <a:xfrm>
            <a:off x="7556500" y="4025899"/>
            <a:ext cx="4025900" cy="107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上调在原代细胞复现。稳定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CRY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蛋白的昼夜节律候选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KL001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也命中，提示可继续研究吞噬与节律的联系。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7BC6A13-0C3C-91BC-D30D-57FCAE4F161E}"/>
              </a:ext>
            </a:extLst>
          </p:cNvPr>
          <p:cNvSpPr txBox="1"/>
          <p:nvPr/>
        </p:nvSpPr>
        <p:spPr>
          <a:xfrm>
            <a:off x="7556500" y="5219699"/>
            <a:ext cx="40259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证据的适用范围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A700A0D-A590-5547-545A-C488A8837F50}"/>
              </a:ext>
            </a:extLst>
          </p:cNvPr>
          <p:cNvSpPr txBox="1"/>
          <p:nvPr/>
        </p:nvSpPr>
        <p:spPr>
          <a:xfrm>
            <a:off x="7556500" y="5626099"/>
            <a:ext cx="40259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跨模型与底物复核增强可信度；单供者孔重复不足以代表人群差异。仍需多供者、长期安全性与疾病相关验证。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F5955-F716-1CC5-5601-BD6AD588F2BB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系统评价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66AAAB-0594-A113-4FC6-78504B3C66D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检索与执行有收益，流程自主性如何理解？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8F12D3-4AF7-7A6F-AE23-7C14DA4FCC09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工具能力、候选质量和研究流程分别评价；这些比较仍不能单独识别多智能体数量的贡献。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8F788F7-E2CD-D0A2-1C69-B83001B4CFF4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0FD25FE-817A-5216-B8E6-E50B83E1B454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Extended Data Fig. 4–6 / Methods / Discussion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E7B70F-918B-5997-4A11-F179009724DE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7C4970-D5C3-7049-72F3-B903AF4730BC}"/>
              </a:ext>
            </a:extLst>
          </p:cNvPr>
          <p:cNvSpPr txBox="1"/>
          <p:nvPr/>
        </p:nvSpPr>
        <p:spPr>
          <a:xfrm>
            <a:off x="609600" y="1892299"/>
            <a:ext cx="55245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BixBench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170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题，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次运行，均值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±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1A241B-55DA-E7E1-3FD9-92C5B25203AF}"/>
              </a:ext>
            </a:extLst>
          </p:cNvPr>
          <p:cNvSpPr txBox="1"/>
          <p:nvPr/>
        </p:nvSpPr>
        <p:spPr>
          <a:xfrm>
            <a:off x="609600" y="2768599"/>
            <a:ext cx="1397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6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endParaRPr lang="zh-CN" altLang="en-US" sz="160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25C1C9-D0C1-D6EE-6207-2A591F019B13}"/>
              </a:ext>
            </a:extLst>
          </p:cNvPr>
          <p:cNvSpPr/>
          <p:nvPr/>
        </p:nvSpPr>
        <p:spPr>
          <a:xfrm>
            <a:off x="2222500" y="2755900"/>
            <a:ext cx="2895600" cy="3429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604500-8DB1-10EC-68B0-837C85A5B81A}"/>
              </a:ext>
            </a:extLst>
          </p:cNvPr>
          <p:cNvSpPr txBox="1"/>
          <p:nvPr/>
        </p:nvSpPr>
        <p:spPr>
          <a:xfrm>
            <a:off x="2921000" y="2768599"/>
            <a:ext cx="21844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22.8 ± 1.7%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7244E8-6789-E8CB-19CA-319AF1EBA617}"/>
              </a:ext>
            </a:extLst>
          </p:cNvPr>
          <p:cNvSpPr txBox="1"/>
          <p:nvPr/>
        </p:nvSpPr>
        <p:spPr>
          <a:xfrm>
            <a:off x="609600" y="3479799"/>
            <a:ext cx="14986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Sonnet 3.7
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无代理框架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B3EE57-8D6E-480F-6F8E-58D6A75C7163}"/>
              </a:ext>
            </a:extLst>
          </p:cNvPr>
          <p:cNvSpPr/>
          <p:nvPr/>
        </p:nvSpPr>
        <p:spPr>
          <a:xfrm>
            <a:off x="2222500" y="3644900"/>
            <a:ext cx="203200" cy="342900"/>
          </a:xfrm>
          <a:prstGeom prst="rect">
            <a:avLst/>
          </a:prstGeom>
          <a:solidFill>
            <a:srgbClr val="637F9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3F0F8C-E78F-6E97-E75B-D7032EF61196}"/>
              </a:ext>
            </a:extLst>
          </p:cNvPr>
          <p:cNvSpPr txBox="1"/>
          <p:nvPr/>
        </p:nvSpPr>
        <p:spPr>
          <a:xfrm>
            <a:off x="2679700" y="3632199"/>
            <a:ext cx="2540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6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1.6 ± 1.2%</a:t>
            </a:r>
            <a:endParaRPr lang="zh-CN" altLang="en-US" sz="16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E503DB-40AC-B30E-12A1-6551DE0CF9DB}"/>
              </a:ext>
            </a:extLst>
          </p:cNvPr>
          <p:cNvSpPr txBox="1"/>
          <p:nvPr/>
        </p:nvSpPr>
        <p:spPr>
          <a:xfrm>
            <a:off x="609600" y="4394199"/>
            <a:ext cx="55245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分项：统计学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47.9 ± 1.5%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，生物信息学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15.3 ± 2.0%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。复杂多步分析仍更困难，整体正确率需要继续提高。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54E591-5F68-71E4-1FA8-8C88DB1B410F}"/>
              </a:ext>
            </a:extLst>
          </p:cNvPr>
          <p:cNvSpPr txBox="1"/>
          <p:nvPr/>
        </p:nvSpPr>
        <p:spPr>
          <a:xfrm>
            <a:off x="609600" y="5638799"/>
            <a:ext cx="55245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与基线同时改变了工具访问及代理流程，因此收益不能全部归于多智能体协作。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2255B0-D2DB-2BAB-45A5-8A1B02E667D2}"/>
              </a:ext>
            </a:extLst>
          </p:cNvPr>
          <p:cNvSpPr txBox="1"/>
          <p:nvPr/>
        </p:nvSpPr>
        <p:spPr>
          <a:xfrm>
            <a:off x="6743700" y="1892299"/>
            <a:ext cx="48387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检索可靠性  可核查引用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E19B6C-C4B1-CCFC-6C21-EEC1EC1C292C}"/>
              </a:ext>
            </a:extLst>
          </p:cNvPr>
          <p:cNvSpPr txBox="1"/>
          <p:nvPr/>
        </p:nvSpPr>
        <p:spPr>
          <a:xfrm>
            <a:off x="6743700" y="2298699"/>
            <a:ext cx="48387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份检测方案人工核查：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o4-mini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虚构引用率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44.5 ± 6.37%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未见虚构。检索组件消融也降低候选方案质量；小样本结果不保证所有输出无错。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EC10654-781E-4891-FE86-D6C276B090F7}"/>
              </a:ext>
            </a:extLst>
          </p:cNvPr>
          <p:cNvSpPr txBox="1"/>
          <p:nvPr/>
        </p:nvSpPr>
        <p:spPr>
          <a:xfrm>
            <a:off x="6743700" y="3594099"/>
            <a:ext cx="48387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排序质量  与专家偏好比较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286FAB-E1FF-C4E4-98A8-836807F2DC6C}"/>
              </a:ext>
            </a:extLst>
          </p:cNvPr>
          <p:cNvSpPr txBox="1"/>
          <p:nvPr/>
        </p:nvSpPr>
        <p:spPr>
          <a:xfrm>
            <a:off x="6743700" y="4000499"/>
            <a:ext cx="48387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候选平均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7.25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个与专家前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重合。相同成对比较的选择一致率：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88%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，专家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61%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；一致性不等同于实验命中率。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26902A-89F0-4790-C738-97871C4197B8}"/>
              </a:ext>
            </a:extLst>
          </p:cNvPr>
          <p:cNvSpPr txBox="1"/>
          <p:nvPr/>
        </p:nvSpPr>
        <p:spPr>
          <a:xfrm>
            <a:off x="6743700" y="5219699"/>
            <a:ext cx="48387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流程贡献  真实实验反馈已衔接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A510557-E576-CFFE-91B3-0484091226CA}"/>
              </a:ext>
            </a:extLst>
          </p:cNvPr>
          <p:cNvSpPr txBox="1"/>
          <p:nvPr/>
        </p:nvSpPr>
        <p:spPr>
          <a:xfrm>
            <a:off x="6743700" y="5626099"/>
            <a:ext cx="48387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两轮实验完成假设更新和功能复核。湿实验由研究者执行；工具调用几乎固定，后续简化为 </a:t>
            </a:r>
            <a:r>
              <a:rPr lang="en-US" altLang="zh-CN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notebook</a:t>
            </a:r>
            <a:r>
              <a:rPr lang="zh-CN" altLang="en-US" sz="14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，尚不能证明自由规划更优。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B428EBD-FC74-DC13-43E9-0DD016A65C4A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方法应用   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独立设计建议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DFD43AA-45B6-F595-2BB3-4204E59385C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机制条件化预测与实验反馈怎样迁移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8B36F9-1A97-40DD-D305-DA436501E5AF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以下为根据两篇论文提出的系统设计建议；各环节的收益需要独立验证。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7BB4DBF-D2AF-A221-FDBD-F1CDB1ABB0F9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BE07DEC-B3D2-3674-693B-ACCC02CB0228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设计建议依据 </a:t>
            </a: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；知识、模型预测及 </a:t>
            </a: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排序均需接受功能实验检验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696818-36A1-9426-368B-B88814B5D0BE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F9C2176-B267-8D4E-2C62-4C65A174FB42}"/>
              </a:ext>
            </a:extLst>
          </p:cNvPr>
          <p:cNvSpPr txBox="1"/>
          <p:nvPr/>
        </p:nvSpPr>
        <p:spPr>
          <a:xfrm>
            <a:off x="609600" y="19049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借鉴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候选携带机制与条件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E64FE4A-29CB-52B2-D298-6825A56A0558}"/>
              </a:ext>
            </a:extLst>
          </p:cNvPr>
          <p:cNvSpPr txBox="1"/>
          <p:nvPr/>
        </p:nvSpPr>
        <p:spPr>
          <a:xfrm>
            <a:off x="609600" y="2311399"/>
            <a:ext cx="51054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组织结构、靶点与抑制／激活关系，记录细胞、剂量和时间。知识增强的表达预测为候选排序提供特征，并输出预测范围与适用条件。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4D178B-079B-270C-E4A4-B86F15649F2A}"/>
              </a:ext>
            </a:extLst>
          </p:cNvPr>
          <p:cNvSpPr txBox="1"/>
          <p:nvPr/>
        </p:nvSpPr>
        <p:spPr>
          <a:xfrm>
            <a:off x="6477000" y="19049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借鉴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更新依据新观察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6D735FB-DBA5-75E4-05BF-7822DC0BFC24}"/>
              </a:ext>
            </a:extLst>
          </p:cNvPr>
          <p:cNvSpPr txBox="1"/>
          <p:nvPr/>
        </p:nvSpPr>
        <p:spPr>
          <a:xfrm>
            <a:off x="6477000" y="2311399"/>
            <a:ext cx="51054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把疾病目标转为功能与毒性读数。保存原始数据、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QC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、分析代码和效应区间；说明实验支持或否定了哪条假设，再更新候选与实验。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0CCA11-A625-E408-4C6E-9007A835CC0E}"/>
              </a:ext>
            </a:extLst>
          </p:cNvPr>
          <p:cNvCxnSpPr/>
          <p:nvPr/>
        </p:nvCxnSpPr>
        <p:spPr>
          <a:xfrm>
            <a:off x="609600" y="35560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91721C89-1ADA-5439-B8D3-E9B31E037072}"/>
              </a:ext>
            </a:extLst>
          </p:cNvPr>
          <p:cNvSpPr txBox="1"/>
          <p:nvPr/>
        </p:nvSpPr>
        <p:spPr>
          <a:xfrm>
            <a:off x="609600" y="3809999"/>
            <a:ext cx="109728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候选与机制证据 → 条件响应预测 → 功能／毒性实验 → 可复核分析 → 更新假设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5AB2758-08B5-1AD8-F9E3-34A6A6302CC3}"/>
              </a:ext>
            </a:extLst>
          </p:cNvPr>
          <p:cNvSpPr txBox="1"/>
          <p:nvPr/>
        </p:nvSpPr>
        <p:spPr>
          <a:xfrm>
            <a:off x="609600" y="48132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验证知识的贡献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ADBD55B-772F-9794-17F5-47EE2648D246}"/>
              </a:ext>
            </a:extLst>
          </p:cNvPr>
          <p:cNvSpPr txBox="1"/>
          <p:nvPr/>
        </p:nvSpPr>
        <p:spPr>
          <a:xfrm>
            <a:off x="609600" y="5219699"/>
            <a:ext cx="51054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结构基线、完整知识、打乱关系在相同切分下比较。严格留药并清除该药知识，分别检查表达变化、通路恢复和最终功能命中。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5C9310-1289-1730-1A49-85D7CCE0694D}"/>
              </a:ext>
            </a:extLst>
          </p:cNvPr>
          <p:cNvSpPr txBox="1"/>
          <p:nvPr/>
        </p:nvSpPr>
        <p:spPr>
          <a:xfrm>
            <a:off x="6477000" y="48132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验证代理策略的贡献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1C7DC2-2D05-EF16-7E4A-159178510A77}"/>
              </a:ext>
            </a:extLst>
          </p:cNvPr>
          <p:cNvSpPr txBox="1"/>
          <p:nvPr/>
        </p:nvSpPr>
        <p:spPr>
          <a:xfrm>
            <a:off x="6477000" y="5219699"/>
            <a:ext cx="51054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固定检索、预测器、工具与实验预算，比较确定性策略、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策略和无反馈策略。指标包括预算内命中、效应大小、毒性与成本。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D6B8F2F-4016-C293-CDF5-598128F11792}"/>
              </a:ext>
            </a:extLst>
          </p:cNvPr>
          <p:cNvSpPr txBox="1"/>
          <p:nvPr/>
        </p:nvSpPr>
        <p:spPr>
          <a:xfrm>
            <a:off x="609600" y="60451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机制一致性有助于提出假设；是否改善实验选择，必须由最终功能结果与受控比较回答。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746AB2C-029E-1529-EC3F-B07CA5177C57}"/>
              </a:ext>
            </a:extLst>
          </p:cNvPr>
          <p:cNvSpPr txBox="1"/>
          <p:nvPr/>
        </p:nvSpPr>
        <p:spPr>
          <a:xfrm>
            <a:off x="609600" y="292100"/>
            <a:ext cx="10972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核心发现，更新至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2026.10.11</a:t>
            </a:r>
            <a:endParaRPr lang="zh-CN" altLang="en-US" sz="11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8123AB-5F93-D492-C3C5-C2862C360DAB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2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实测转录近邻迁移已有确认收益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7461B9-4F3D-9E38-28F4-B400359F9D9A}"/>
              </a:ext>
            </a:extLst>
          </p:cNvPr>
          <p:cNvSpPr txBox="1"/>
          <p:nvPr/>
        </p:nvSpPr>
        <p:spPr>
          <a:xfrm>
            <a:off x="609600" y="1346199"/>
            <a:ext cx="10972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421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种封存确认药物，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101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种满足杀伤标准；预测对 </a:t>
            </a:r>
            <a:r>
              <a:rPr lang="en-US" altLang="zh-CN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578 </a:t>
            </a:r>
            <a:r>
              <a:rPr lang="zh-CN" altLang="en-US" sz="14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条癌细胞系的选择性杀伤，去除通用杀伤轮廓。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79B3A0D-0752-57D1-52B7-821CA0F9E315}"/>
              </a:ext>
            </a:extLst>
          </p:cNvPr>
          <p:cNvCxnSpPr/>
          <p:nvPr/>
        </p:nvCxnSpPr>
        <p:spPr>
          <a:xfrm>
            <a:off x="609600" y="6362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58107BA-9075-5FBC-90D2-414B3C3999A6}"/>
              </a:ext>
            </a:extLst>
          </p:cNvPr>
          <p:cNvSpPr txBox="1"/>
          <p:nvPr/>
        </p:nvSpPr>
        <p:spPr>
          <a:xfrm>
            <a:off x="609600" y="6527800"/>
            <a:ext cx="103378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项目来源：</a:t>
            </a: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mechanism_routing_20261011 / PROTOCOL</a:t>
            </a: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RESULTS</a:t>
            </a:r>
            <a:r>
              <a:rPr lang="zh-CN" altLang="en-US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VERIFIED_SUPPLEMENT</a:t>
            </a:r>
            <a:endParaRPr lang="zh-CN" altLang="en-US" sz="9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5150B3-1C3E-DC4F-B320-7D0BD7E64443}"/>
              </a:ext>
            </a:extLst>
          </p:cNvPr>
          <p:cNvSpPr txBox="1"/>
          <p:nvPr/>
        </p:nvSpPr>
        <p:spPr>
          <a:xfrm>
            <a:off x="11277600" y="65024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93DD3D-C303-9203-5350-37B5146679C0}"/>
              </a:ext>
            </a:extLst>
          </p:cNvPr>
          <p:cNvSpPr txBox="1"/>
          <p:nvPr/>
        </p:nvSpPr>
        <p:spPr>
          <a:xfrm>
            <a:off x="609600" y="1866899"/>
            <a:ext cx="10972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L1000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系，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／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h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μM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）→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个转录近邻 → 迁移 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PRISM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2.5 μM</a:t>
            </a: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）杀伤谱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AF4152-DC20-E88F-80C9-A8BFDBE9A7A5}"/>
              </a:ext>
            </a:extLst>
          </p:cNvPr>
          <p:cNvSpPr txBox="1"/>
          <p:nvPr/>
        </p:nvSpPr>
        <p:spPr>
          <a:xfrm>
            <a:off x="609600" y="2654299"/>
            <a:ext cx="109728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未见机制类别：移除所有同类参考药。当前使用实测签名，尚未验证 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／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生成表达可替代该输入。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B1736FE-FD10-113A-4688-259FF0129235}"/>
              </a:ext>
            </a:extLst>
          </p:cNvPr>
          <p:cNvCxnSpPr/>
          <p:nvPr/>
        </p:nvCxnSpPr>
        <p:spPr>
          <a:xfrm>
            <a:off x="609600" y="32258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D294B670-6CF9-3DFE-9CD7-5BE645AFA689}"/>
              </a:ext>
            </a:extLst>
          </p:cNvPr>
          <p:cNvSpPr txBox="1"/>
          <p:nvPr/>
        </p:nvSpPr>
        <p:spPr>
          <a:xfrm>
            <a:off x="609600" y="34924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确认收益  超过机制与结构近邻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BDC560-5720-D551-5955-04F373604FEF}"/>
              </a:ext>
            </a:extLst>
          </p:cNvPr>
          <p:cNvSpPr txBox="1"/>
          <p:nvPr/>
        </p:nvSpPr>
        <p:spPr>
          <a:xfrm>
            <a:off x="609600" y="3898899"/>
            <a:ext cx="51054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选择性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：转录迁移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0.153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，靶点近邻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0.038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，结构近邻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0.053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。超过靶点的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Δr = +0.116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，校正区间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[0.053, 0.181]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；超过结构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+0.100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1F2C72-DC69-F013-AC4B-FB0F79132470}"/>
              </a:ext>
            </a:extLst>
          </p:cNvPr>
          <p:cNvSpPr txBox="1"/>
          <p:nvPr/>
        </p:nvSpPr>
        <p:spPr>
          <a:xfrm>
            <a:off x="609600" y="48767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适用边界  有增量，仍需筛选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BCFF031-2D00-D98A-C953-75DB8EBDD991}"/>
              </a:ext>
            </a:extLst>
          </p:cNvPr>
          <p:cNvSpPr txBox="1"/>
          <p:nvPr/>
        </p:nvSpPr>
        <p:spPr>
          <a:xfrm>
            <a:off x="609600" y="5283199"/>
            <a:ext cx="51054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补充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160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系部分筛选：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+0.049 r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；独立复筛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n=89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+0.103 r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。未证明可替代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 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系部分筛选。统计按机制类别聚类 </a:t>
            </a:r>
            <a:r>
              <a:rPr lang="en-US" altLang="zh-CN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bootstrap</a:t>
            </a: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，校正多重比较。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1CE9658-4EBF-BE13-6D52-835B5460856E}"/>
              </a:ext>
            </a:extLst>
          </p:cNvPr>
          <p:cNvSpPr txBox="1"/>
          <p:nvPr/>
        </p:nvSpPr>
        <p:spPr>
          <a:xfrm>
            <a:off x="6477000" y="34924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代理评估  四种角色均无确认增益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E9D6E6A-C0F2-FD53-108A-1D854C4F3DD0}"/>
              </a:ext>
            </a:extLst>
          </p:cNvPr>
          <p:cNvSpPr txBox="1"/>
          <p:nvPr/>
        </p:nvSpPr>
        <p:spPr>
          <a:xfrm>
            <a:off x="6477000" y="3898899"/>
            <a:ext cx="51054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文献预测、近邻审查、筛后解释与信任判断均未通过。近邻审查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Δr = −0.052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；文献预测与转录迁移融合 </a:t>
            </a:r>
            <a:r>
              <a:rPr lang="en-US" altLang="zh-CN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Δr = −0.025</a:t>
            </a:r>
            <a:r>
              <a:rPr lang="zh-CN" altLang="en-US" sz="15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。收益依赖具体任务、模型和协议。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C87431-F39B-9497-F3BB-C66A1791E347}"/>
              </a:ext>
            </a:extLst>
          </p:cNvPr>
          <p:cNvSpPr txBox="1"/>
          <p:nvPr/>
        </p:nvSpPr>
        <p:spPr>
          <a:xfrm>
            <a:off x="6477000" y="48767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后续重点  预测收益接到实验选择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A1C6E86-B0EB-A063-9B91-C6F4481F6076}"/>
              </a:ext>
            </a:extLst>
          </p:cNvPr>
          <p:cNvSpPr txBox="1"/>
          <p:nvPr/>
        </p:nvSpPr>
        <p:spPr>
          <a:xfrm>
            <a:off x="6477000" y="5283199"/>
            <a:ext cx="51054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45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保留已确认的跨机制转录迁移，围绕错误淘汰与最终候选选择设计比较，再验证知识增强表示及实验反馈是否带来额外收益。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D9A64B-AB81-42D6-31B8-154550CA693E}"/>
              </a:ext>
            </a:extLst>
          </p:cNvPr>
          <p:cNvSpPr txBox="1"/>
          <p:nvPr/>
        </p:nvSpPr>
        <p:spPr>
          <a:xfrm>
            <a:off x="609600" y="60578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zh-CN" altLang="en-US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确认的是公开数据中的预测增益。当前没有新增湿实验，也未确认 </a:t>
            </a:r>
            <a:r>
              <a:rPr lang="en-US" altLang="zh-CN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 </a:t>
            </a:r>
            <a:r>
              <a:rPr lang="zh-CN" altLang="en-US" sz="13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对最终发现的独立贡献。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11757</Words>
  <Application>Microsoft Office PowerPoint</Application>
  <PresentationFormat>宽屏</PresentationFormat>
  <Paragraphs>244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淼 郑</dc:creator>
  <cp:lastModifiedBy>淼 郑</cp:lastModifiedBy>
  <cp:revision>6</cp:revision>
  <dcterms:created xsi:type="dcterms:W3CDTF">2026-10-10T07:34:00Z</dcterms:created>
  <dcterms:modified xsi:type="dcterms:W3CDTF">2026-10-11T03:09:36Z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33EAE1EBE06842EBB19A37DF315FAD49_12</vt:lpwstr>
  </property>
</Properties>
</file>